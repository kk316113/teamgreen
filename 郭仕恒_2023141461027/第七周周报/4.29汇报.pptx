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61" r:id="rId2"/>
    <p:sldId id="296" r:id="rId3"/>
    <p:sldId id="262" r:id="rId4"/>
    <p:sldId id="272" r:id="rId5"/>
    <p:sldId id="267" r:id="rId6"/>
    <p:sldId id="306" r:id="rId7"/>
    <p:sldId id="268" r:id="rId8"/>
    <p:sldId id="307" r:id="rId9"/>
    <p:sldId id="324" r:id="rId10"/>
    <p:sldId id="325" r:id="rId11"/>
    <p:sldId id="326" r:id="rId12"/>
    <p:sldId id="327" r:id="rId13"/>
    <p:sldId id="328" r:id="rId14"/>
    <p:sldId id="269" r:id="rId15"/>
    <p:sldId id="310" r:id="rId16"/>
    <p:sldId id="329" r:id="rId17"/>
    <p:sldId id="330" r:id="rId18"/>
    <p:sldId id="331" r:id="rId19"/>
    <p:sldId id="311" r:id="rId20"/>
    <p:sldId id="312" r:id="rId21"/>
    <p:sldId id="305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000B"/>
    <a:srgbClr val="A400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5" d="100"/>
          <a:sy n="85" d="100"/>
        </p:scale>
        <p:origin x="696" y="78"/>
      </p:cViewPr>
      <p:guideLst>
        <p:guide orient="horz" pos="2160"/>
        <p:guide pos="71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38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D0EDE-5CD8-4F31-91EB-3B111BCCBAFC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16EFCC-068A-4282-AB7E-4199CD5D58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68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8476D-4C34-7352-4B29-26E54323B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1A83CF-E669-30E9-5FD7-14954DEFF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44F4E8-FEF9-C35A-C8B7-E0C097B56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9A757D-E929-8DAF-C718-5C2F3B408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78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D9185-21AE-76CE-8029-91A6DA7B3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ACE49D-542D-163A-D96B-A65EF6F2F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FDE166-679E-3123-417B-0C38023E5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C37C5A-8822-AD4B-A3EF-715AB9898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548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BE305-0AAA-A42F-2E84-97D4B8304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DB2AE4-BD41-AF3D-AA04-180610364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B76E3E-F742-C0A9-DC58-935F60065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7B0506-CF8E-7893-D421-099F903FC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677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4C88B-581B-B22C-FCB0-E0637240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4D94F3-6B6E-13EE-AC9B-1CE8C16A4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4E638A-6499-8C5D-08BA-BCE3E7CEE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57E694-C757-2BB7-6E45-6E2707A1B3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564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544006"/>
            <a:ext cx="9144000" cy="81355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0741C5-8F5C-4213-BB69-8C2D02590C1C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893EA9-123D-489F-8313-43A8A4AC4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0" y="1943100"/>
            <a:ext cx="12192000" cy="32076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1076214" y="7342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1335294" y="734226"/>
            <a:ext cx="174172" cy="1741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1591395" y="7342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435600" y="1124090"/>
            <a:ext cx="1320800" cy="1320800"/>
          </a:xfrm>
          <a:prstGeom prst="ellipse">
            <a:avLst/>
          </a:prstGeom>
          <a:solidFill>
            <a:schemeClr val="bg1"/>
          </a:solidFill>
          <a:ln w="412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47320" y="1485869"/>
            <a:ext cx="1094780" cy="632378"/>
          </a:xfrm>
          <a:prstGeom prst="rect">
            <a:avLst/>
          </a:prstGeom>
        </p:spPr>
      </p:pic>
      <p:sp>
        <p:nvSpPr>
          <p:cNvPr id="20" name="椭圆 19"/>
          <p:cNvSpPr/>
          <p:nvPr/>
        </p:nvSpPr>
        <p:spPr>
          <a:xfrm>
            <a:off x="484414" y="62460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43494" y="6246026"/>
            <a:ext cx="174172" cy="1741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999595" y="62460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967B8B-844C-24AA-E12A-14D3C2EDD476}"/>
              </a:ext>
            </a:extLst>
          </p:cNvPr>
          <p:cNvSpPr/>
          <p:nvPr/>
        </p:nvSpPr>
        <p:spPr>
          <a:xfrm>
            <a:off x="514090" y="2444890"/>
            <a:ext cx="11161240" cy="1716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AutoGrader</a:t>
            </a:r>
            <a:r>
              <a:rPr lang="zh-CN" alt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作业代码自动评分系统</a:t>
            </a:r>
            <a:endParaRPr lang="en-US" altLang="zh-CN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en-US" altLang="zh-CN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Green</a:t>
            </a:r>
            <a:r>
              <a:rPr lang="zh-CN" alt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组</a:t>
            </a:r>
            <a:endParaRPr lang="en-US" altLang="zh-CN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8D7CF0-49EA-8AC9-3044-699BD249E094}"/>
              </a:ext>
            </a:extLst>
          </p:cNvPr>
          <p:cNvSpPr txBox="1"/>
          <p:nvPr/>
        </p:nvSpPr>
        <p:spPr bwMode="auto">
          <a:xfrm>
            <a:off x="3232392" y="4357303"/>
            <a:ext cx="5724636" cy="52322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汇报人：郭仕恒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DF1BE5-7FF1-8FCB-7B5A-2C431DD88267}"/>
              </a:ext>
            </a:extLst>
          </p:cNvPr>
          <p:cNvSpPr txBox="1"/>
          <p:nvPr/>
        </p:nvSpPr>
        <p:spPr bwMode="auto">
          <a:xfrm>
            <a:off x="8164268" y="6045971"/>
            <a:ext cx="4680520" cy="40011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日期：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2026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年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月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29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日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33" name="等腰三角形 32"/>
          <p:cNvSpPr/>
          <p:nvPr/>
        </p:nvSpPr>
        <p:spPr>
          <a:xfrm rot="5400000" flipH="1">
            <a:off x="3093983" y="2944554"/>
            <a:ext cx="2085970" cy="96889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581593" y="1205352"/>
            <a:ext cx="514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项目背景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581593" y="2179841"/>
            <a:ext cx="4535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总体架构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581593" y="4071385"/>
            <a:ext cx="4450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需求覆盖关系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5581593" y="3157282"/>
            <a:ext cx="3636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功能模块</a:t>
            </a:r>
          </a:p>
        </p:txBody>
      </p:sp>
      <p:sp>
        <p:nvSpPr>
          <p:cNvPr id="152" name="Freeform 9"/>
          <p:cNvSpPr/>
          <p:nvPr/>
        </p:nvSpPr>
        <p:spPr bwMode="auto">
          <a:xfrm>
            <a:off x="5234354" y="1331513"/>
            <a:ext cx="410740" cy="39298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53" name="Freeform 9"/>
          <p:cNvSpPr/>
          <p:nvPr/>
        </p:nvSpPr>
        <p:spPr bwMode="auto">
          <a:xfrm>
            <a:off x="5234354" y="2309467"/>
            <a:ext cx="410740" cy="39298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54" name="Freeform 9"/>
          <p:cNvSpPr/>
          <p:nvPr/>
        </p:nvSpPr>
        <p:spPr bwMode="auto">
          <a:xfrm>
            <a:off x="5234354" y="3283956"/>
            <a:ext cx="410740" cy="39298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56" name="Freeform 9"/>
          <p:cNvSpPr/>
          <p:nvPr/>
        </p:nvSpPr>
        <p:spPr bwMode="auto">
          <a:xfrm>
            <a:off x="5234354" y="4198059"/>
            <a:ext cx="410740" cy="39298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42024" y="784135"/>
            <a:ext cx="861774" cy="336292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CONTENTS</a:t>
            </a:r>
            <a:endParaRPr lang="zh-CN" altLang="en-US" sz="44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152536" y="665163"/>
            <a:ext cx="1292662" cy="253809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72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目录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674" y="4267201"/>
            <a:ext cx="2441726" cy="2441724"/>
          </a:xfrm>
          <a:prstGeom prst="rect">
            <a:avLst/>
          </a:prstGeom>
        </p:spPr>
      </p:pic>
      <p:sp>
        <p:nvSpPr>
          <p:cNvPr id="23" name="椭圆 22"/>
          <p:cNvSpPr/>
          <p:nvPr/>
        </p:nvSpPr>
        <p:spPr>
          <a:xfrm>
            <a:off x="11076214" y="62587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11335294" y="6258726"/>
            <a:ext cx="174172" cy="1741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1591395" y="62587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DDBE3B-AD25-7AB5-537A-203F5592A391}"/>
              </a:ext>
            </a:extLst>
          </p:cNvPr>
          <p:cNvSpPr txBox="1"/>
          <p:nvPr/>
        </p:nvSpPr>
        <p:spPr>
          <a:xfrm>
            <a:off x="5581593" y="4922153"/>
            <a:ext cx="4450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进度与计划</a:t>
            </a: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75140E89-733C-B7C4-DC6E-83D3586B5872}"/>
              </a:ext>
            </a:extLst>
          </p:cNvPr>
          <p:cNvSpPr/>
          <p:nvPr/>
        </p:nvSpPr>
        <p:spPr bwMode="auto">
          <a:xfrm>
            <a:off x="5234354" y="5048827"/>
            <a:ext cx="410740" cy="39298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3003610"/>
            <a:ext cx="9144000" cy="813556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项目背景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100" y="1801877"/>
            <a:ext cx="1193800" cy="1193794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495300" y="-130685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PART  </a:t>
            </a:r>
            <a:endParaRPr lang="zh-CN" altLang="en-US" sz="138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4057650" y="296751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39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01</a:t>
            </a:r>
            <a:endParaRPr lang="zh-CN" altLang="en-US" sz="239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项目背景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/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/>
          <p:cNvSpPr/>
          <p:nvPr/>
        </p:nvSpPr>
        <p:spPr>
          <a:xfrm rot="16200000">
            <a:off x="10400553" y="1614844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cxnSp>
        <p:nvCxnSpPr>
          <p:cNvPr id="42" name="Straight Connector 23"/>
          <p:cNvCxnSpPr/>
          <p:nvPr/>
        </p:nvCxnSpPr>
        <p:spPr bwMode="auto">
          <a:xfrm>
            <a:off x="6182209" y="1831057"/>
            <a:ext cx="0" cy="399669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grpSp>
        <p:nvGrpSpPr>
          <p:cNvPr id="47" name="组合 46"/>
          <p:cNvGrpSpPr/>
          <p:nvPr/>
        </p:nvGrpSpPr>
        <p:grpSpPr>
          <a:xfrm>
            <a:off x="7555541" y="2106135"/>
            <a:ext cx="1369704" cy="1358265"/>
            <a:chOff x="5462967" y="2123030"/>
            <a:chExt cx="1369704" cy="1358265"/>
          </a:xfrm>
        </p:grpSpPr>
        <p:sp>
          <p:nvSpPr>
            <p:cNvPr id="48" name="Oval 26"/>
            <p:cNvSpPr/>
            <p:nvPr/>
          </p:nvSpPr>
          <p:spPr bwMode="auto">
            <a:xfrm>
              <a:off x="5462967" y="2123030"/>
              <a:ext cx="1369704" cy="1358265"/>
            </a:xfrm>
            <a:prstGeom prst="ellipse">
              <a:avLst/>
            </a:prstGeom>
            <a:solidFill>
              <a:schemeClr val="accent1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49" name="Shape 2551"/>
            <p:cNvSpPr/>
            <p:nvPr/>
          </p:nvSpPr>
          <p:spPr>
            <a:xfrm>
              <a:off x="5821898" y="2485831"/>
              <a:ext cx="651841" cy="651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55" y="6010"/>
                  </a:moveTo>
                  <a:lnTo>
                    <a:pt x="18630" y="7136"/>
                  </a:lnTo>
                  <a:lnTo>
                    <a:pt x="14465" y="2970"/>
                  </a:lnTo>
                  <a:lnTo>
                    <a:pt x="15590" y="1845"/>
                  </a:lnTo>
                  <a:cubicBezTo>
                    <a:pt x="15590" y="1845"/>
                    <a:pt x="16391" y="982"/>
                    <a:pt x="17673" y="982"/>
                  </a:cubicBezTo>
                  <a:cubicBezTo>
                    <a:pt x="19300" y="982"/>
                    <a:pt x="20618" y="2300"/>
                    <a:pt x="20618" y="3927"/>
                  </a:cubicBezTo>
                  <a:cubicBezTo>
                    <a:pt x="20618" y="4741"/>
                    <a:pt x="20288" y="5477"/>
                    <a:pt x="19755" y="6010"/>
                  </a:cubicBezTo>
                  <a:moveTo>
                    <a:pt x="7364" y="18402"/>
                  </a:moveTo>
                  <a:lnTo>
                    <a:pt x="7364" y="14727"/>
                  </a:lnTo>
                  <a:cubicBezTo>
                    <a:pt x="7364" y="14456"/>
                    <a:pt x="7144" y="14236"/>
                    <a:pt x="6873" y="14236"/>
                  </a:cubicBezTo>
                  <a:lnTo>
                    <a:pt x="3198" y="14236"/>
                  </a:lnTo>
                  <a:lnTo>
                    <a:pt x="13770" y="3665"/>
                  </a:lnTo>
                  <a:lnTo>
                    <a:pt x="17935" y="7830"/>
                  </a:lnTo>
                  <a:cubicBezTo>
                    <a:pt x="17935" y="7830"/>
                    <a:pt x="7364" y="18402"/>
                    <a:pt x="7364" y="18402"/>
                  </a:cubicBezTo>
                  <a:close/>
                  <a:moveTo>
                    <a:pt x="6382" y="19042"/>
                  </a:moveTo>
                  <a:lnTo>
                    <a:pt x="2945" y="19845"/>
                  </a:lnTo>
                  <a:lnTo>
                    <a:pt x="2945" y="18655"/>
                  </a:lnTo>
                  <a:lnTo>
                    <a:pt x="1755" y="18655"/>
                  </a:lnTo>
                  <a:lnTo>
                    <a:pt x="2558" y="15218"/>
                  </a:lnTo>
                  <a:lnTo>
                    <a:pt x="6382" y="15218"/>
                  </a:lnTo>
                  <a:cubicBezTo>
                    <a:pt x="6382" y="15218"/>
                    <a:pt x="6382" y="19042"/>
                    <a:pt x="6382" y="19042"/>
                  </a:cubicBezTo>
                  <a:close/>
                  <a:moveTo>
                    <a:pt x="17673" y="0"/>
                  </a:moveTo>
                  <a:cubicBezTo>
                    <a:pt x="16588" y="0"/>
                    <a:pt x="15606" y="439"/>
                    <a:pt x="14896" y="1151"/>
                  </a:cubicBezTo>
                  <a:lnTo>
                    <a:pt x="1641" y="14405"/>
                  </a:lnTo>
                  <a:lnTo>
                    <a:pt x="0" y="21600"/>
                  </a:lnTo>
                  <a:lnTo>
                    <a:pt x="7195" y="19959"/>
                  </a:lnTo>
                  <a:lnTo>
                    <a:pt x="20449" y="6704"/>
                  </a:lnTo>
                  <a:cubicBezTo>
                    <a:pt x="21160" y="5994"/>
                    <a:pt x="21600" y="5012"/>
                    <a:pt x="21600" y="3927"/>
                  </a:cubicBezTo>
                  <a:cubicBezTo>
                    <a:pt x="21600" y="1758"/>
                    <a:pt x="19842" y="0"/>
                    <a:pt x="17673" y="0"/>
                  </a:cubicBezTo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419111" y="2106135"/>
            <a:ext cx="1369704" cy="1358265"/>
            <a:chOff x="9015925" y="2123030"/>
            <a:chExt cx="1369704" cy="1358265"/>
          </a:xfrm>
        </p:grpSpPr>
        <p:sp>
          <p:nvSpPr>
            <p:cNvPr id="51" name="Oval 36"/>
            <p:cNvSpPr/>
            <p:nvPr/>
          </p:nvSpPr>
          <p:spPr bwMode="auto">
            <a:xfrm>
              <a:off x="9015925" y="2123030"/>
              <a:ext cx="1369704" cy="1358265"/>
            </a:xfrm>
            <a:prstGeom prst="ellipse">
              <a:avLst/>
            </a:prstGeom>
            <a:solidFill>
              <a:schemeClr val="accent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52" name="Shape 2562"/>
            <p:cNvSpPr/>
            <p:nvPr/>
          </p:nvSpPr>
          <p:spPr>
            <a:xfrm>
              <a:off x="9380786" y="2485831"/>
              <a:ext cx="651841" cy="651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sp>
        <p:nvSpPr>
          <p:cNvPr id="53" name="Text Placeholder 8"/>
          <p:cNvSpPr txBox="1"/>
          <p:nvPr/>
        </p:nvSpPr>
        <p:spPr>
          <a:xfrm>
            <a:off x="2178565" y="3787728"/>
            <a:ext cx="1846136" cy="38505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项目背景</a:t>
            </a:r>
          </a:p>
        </p:txBody>
      </p:sp>
      <p:sp>
        <p:nvSpPr>
          <p:cNvPr id="54" name="Text Placeholder 9"/>
          <p:cNvSpPr txBox="1"/>
          <p:nvPr/>
        </p:nvSpPr>
        <p:spPr>
          <a:xfrm>
            <a:off x="479338" y="4513005"/>
            <a:ext cx="2519396" cy="564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传统编程作业批改严重依赖人工，教师工作量大，评价标准难以保持一致。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endParaRPr lang="zh-CN" altLang="en-US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6" name="Text Placeholder 9"/>
          <p:cNvSpPr txBox="1"/>
          <p:nvPr/>
        </p:nvSpPr>
        <p:spPr>
          <a:xfrm>
            <a:off x="7077690" y="4496110"/>
            <a:ext cx="2519396" cy="564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18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我们的目标是围绕教学过程打通学生导入、作业发布、代码提交、自动评测和成绩展示。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500DB96-5B02-16FE-00C1-839C22066090}"/>
              </a:ext>
            </a:extLst>
          </p:cNvPr>
          <p:cNvSpPr txBox="1"/>
          <p:nvPr/>
        </p:nvSpPr>
        <p:spPr>
          <a:xfrm>
            <a:off x="7315201" y="3785064"/>
            <a:ext cx="1846136" cy="38505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建设目标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268807E-02BB-FB11-EBD2-3E65F2A75BEE}"/>
              </a:ext>
            </a:extLst>
          </p:cNvPr>
          <p:cNvSpPr txBox="1"/>
          <p:nvPr/>
        </p:nvSpPr>
        <p:spPr>
          <a:xfrm>
            <a:off x="3043351" y="4499586"/>
            <a:ext cx="2519396" cy="564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18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学生提交作业后难以快速获得反馈，无法及时修改代码中的问题。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A7330E-7630-91B9-5165-30DD20702D01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进度与计划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1"/>
          </p:cNvSpPr>
          <p:nvPr>
            <p:ph type="ctrTitle"/>
          </p:nvPr>
        </p:nvSpPr>
        <p:spPr>
          <a:xfrm>
            <a:off x="1524000" y="3003610"/>
            <a:ext cx="9144000" cy="813556"/>
          </a:xfrm>
        </p:spPr>
        <p:txBody>
          <a:bodyPr>
            <a:normAutofit fontScale="90000"/>
          </a:bodyPr>
          <a:lstStyle/>
          <a:p>
            <a:r>
              <a:rPr lang="zh-CN" altLang="en-US" sz="5400" b="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总体架构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100" y="1801877"/>
            <a:ext cx="1193800" cy="1193794"/>
          </a:xfrm>
          <a:prstGeom prst="rect">
            <a:avLst/>
          </a:prstGeom>
        </p:spPr>
      </p:pic>
      <p:sp>
        <p:nvSpPr>
          <p:cNvPr id="20" name="标题 1"/>
          <p:cNvSpPr txBox="1"/>
          <p:nvPr/>
        </p:nvSpPr>
        <p:spPr>
          <a:xfrm>
            <a:off x="495300" y="-130685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PART  </a:t>
            </a:r>
            <a:endParaRPr lang="zh-CN" altLang="en-US" sz="138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4057650" y="296751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39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02</a:t>
            </a:r>
            <a:endParaRPr lang="zh-CN" altLang="en-US" sz="239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20035-3BD4-7F24-AEB7-0016870B3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14DAE3-1FF2-0994-C23A-C09CF00AEAF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总体架构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3DBC6A0-57CF-03E7-5F1D-463584493C4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8129F1EA-473A-5179-E730-F04D522A5F76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BC2FA584-A745-6249-B2C0-87D15BB0977F}"/>
              </a:ext>
            </a:extLst>
          </p:cNvPr>
          <p:cNvSpPr/>
          <p:nvPr/>
        </p:nvSpPr>
        <p:spPr>
          <a:xfrm rot="16200000">
            <a:off x="10400553" y="2432989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D13A7E9-0675-BDB7-853A-9380C6CE8A68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BBC5BDD-2E5A-3718-D06E-FB4AD5984A32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D8F460A-ED96-C6F5-904B-EF0A2E61B31C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2A5B1F0-11EF-F04C-9F27-7846F6F264F3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55BA5E-11B7-ED8D-089A-29002AEC44C8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进度与计划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135C84-39CE-F718-1AC8-DEC356BB1BE3}"/>
              </a:ext>
            </a:extLst>
          </p:cNvPr>
          <p:cNvSpPr txBox="1"/>
          <p:nvPr/>
        </p:nvSpPr>
        <p:spPr>
          <a:xfrm>
            <a:off x="2975811" y="1882566"/>
            <a:ext cx="6144126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前端采用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Node.js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静态页面方式，实现门户、教师端、学生端页面。</a:t>
            </a: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endParaRPr lang="zh-CN" altLang="en-US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后端采用 </a:t>
            </a: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FastAPI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，负责接口提供、业务逻辑处理、身份鉴权和数据管理。</a:t>
            </a: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endParaRPr lang="zh-CN" altLang="en-US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数据库采用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PostgreSQL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，用于持久化存储用户、学生、题库、作业、提交、评测、成绩等数据。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14E041-1AD0-7EF5-FDAD-4511DE1D0F8A}"/>
              </a:ext>
            </a:extLst>
          </p:cNvPr>
          <p:cNvSpPr txBox="1"/>
          <p:nvPr/>
        </p:nvSpPr>
        <p:spPr>
          <a:xfrm>
            <a:off x="827314" y="1778394"/>
            <a:ext cx="553998" cy="4147884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4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前后端分离的 </a:t>
            </a:r>
            <a:r>
              <a:rPr lang="en-US" altLang="zh-CN" sz="24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B/S </a:t>
            </a:r>
            <a:r>
              <a:rPr lang="zh-CN" altLang="en-US" sz="24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架构</a:t>
            </a:r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979D9CB5-28E3-839B-59A1-0C4529C6B98B}"/>
              </a:ext>
            </a:extLst>
          </p:cNvPr>
          <p:cNvSpPr/>
          <p:nvPr/>
        </p:nvSpPr>
        <p:spPr>
          <a:xfrm>
            <a:off x="1868360" y="2069432"/>
            <a:ext cx="553998" cy="3593431"/>
          </a:xfrm>
          <a:prstGeom prst="leftBrace">
            <a:avLst>
              <a:gd name="adj1" fmla="val 22811"/>
              <a:gd name="adj2" fmla="val 4877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581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ctrTitle"/>
          </p:nvPr>
        </p:nvSpPr>
        <p:spPr>
          <a:xfrm>
            <a:off x="1524000" y="3003610"/>
            <a:ext cx="9144000" cy="813556"/>
          </a:xfrm>
        </p:spPr>
        <p:txBody>
          <a:bodyPr>
            <a:normAutofit fontScale="90000"/>
          </a:bodyPr>
          <a:lstStyle/>
          <a:p>
            <a:r>
              <a:rPr lang="zh-CN" altLang="en-US" sz="5400" b="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功能模块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100" y="1801877"/>
            <a:ext cx="1193800" cy="1193794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495300" y="-130685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PART  </a:t>
            </a:r>
            <a:endParaRPr lang="zh-CN" altLang="en-US" sz="138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4057650" y="296751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39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03</a:t>
            </a:r>
            <a:endParaRPr lang="zh-CN" altLang="en-US" sz="239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2B1CD-99C9-8287-D92C-057823627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18F99-E348-6B6F-FABF-773B2DBDEE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功能模块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04505E5-28CE-B984-E0E9-9313C9345DE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CD508A82-19F2-118C-0E77-B48FE3C59BE7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72982E04-8A04-EED6-92E1-63A7303A1B65}"/>
              </a:ext>
            </a:extLst>
          </p:cNvPr>
          <p:cNvSpPr/>
          <p:nvPr/>
        </p:nvSpPr>
        <p:spPr>
          <a:xfrm rot="16200000">
            <a:off x="10400553" y="3219051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7FE69C-F0A1-BFCF-2FDC-3A21E3506CBD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1F0229F-2EAC-D618-BC52-EF6643ED3308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E48A03A-B071-6773-9FEA-35C4F252A341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D869769-AE04-AD49-9705-4BE9B22BBE81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431295-3924-436B-677C-070C923BB7F2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进度与计划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E02C04EB-9C26-DCCA-E621-47E955A4E517}"/>
              </a:ext>
            </a:extLst>
          </p:cNvPr>
          <p:cNvSpPr txBox="1"/>
          <p:nvPr/>
        </p:nvSpPr>
        <p:spPr>
          <a:xfrm>
            <a:off x="494009" y="1888308"/>
            <a:ext cx="9284065" cy="26673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en-US" altLang="zh-CN" sz="2000" b="1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B-1 </a:t>
            </a:r>
            <a:r>
              <a:rPr lang="zh-CN" altLang="en-US" sz="2000" b="1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前端与交互模块</a:t>
            </a:r>
            <a:endParaRPr lang="en-US" altLang="zh-CN" sz="2000" b="1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学生端：学号登录、首次登录强制修改默认密码、查看题目、在线代码编辑、提交代码、查看成绩与提交记录</a:t>
            </a: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endParaRPr lang="zh-CN" altLang="en-US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教师端：题目管理、测试用例维护、题库批量导入、分页、详情、删除、成绩与提交记录查看</a:t>
            </a:r>
          </a:p>
        </p:txBody>
      </p:sp>
    </p:spTree>
    <p:extLst>
      <p:ext uri="{BB962C8B-B14F-4D97-AF65-F5344CB8AC3E}">
        <p14:creationId xmlns:p14="http://schemas.microsoft.com/office/powerpoint/2010/main" val="1256943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087F7-CAF8-BB3D-5ED0-0CC9FC324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076769-B955-1B39-ED45-80E24050B6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功能模块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919FC49-D6C8-7C54-1EA3-A11FA2F9779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A200764D-BCB0-8784-89A5-05414480295D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C27DD76A-79EA-1A6D-8406-8BB2D9AC1769}"/>
              </a:ext>
            </a:extLst>
          </p:cNvPr>
          <p:cNvSpPr/>
          <p:nvPr/>
        </p:nvSpPr>
        <p:spPr>
          <a:xfrm rot="16200000">
            <a:off x="10400553" y="3219051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4D97C58-582D-5888-2615-697A011DBDD2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DA0A087-D15C-9044-8C0A-E1129D353C93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7967AAE-7AD6-903B-EDD3-A2C64523D728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0DA9B93-E8F6-DED5-FEFF-6CDE5A45F2EA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D57D8D-00CE-41A0-72E6-6A5E53FF483C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进度与计划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94621FC5-B53D-D7BB-7985-D0FC5B387D80}"/>
              </a:ext>
            </a:extLst>
          </p:cNvPr>
          <p:cNvSpPr txBox="1"/>
          <p:nvPr/>
        </p:nvSpPr>
        <p:spPr>
          <a:xfrm>
            <a:off x="494009" y="1888308"/>
            <a:ext cx="9284065" cy="36676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B-2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代码测评模块</a:t>
            </a:r>
            <a:b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负责接收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B-1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提交的待测代码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执行基础静态安全检查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调用测试用例进行动态运行测试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生成评测结果：是否通过、得分、错误信息、用例详情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将评测任务、结果、成绩写入数据库</a:t>
            </a: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endParaRPr lang="zh-CN" altLang="en-US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后续扩展：多语言支持、更严格沙箱隔离、队列化异步评测、结果导出与统计分析</a:t>
            </a:r>
          </a:p>
        </p:txBody>
      </p:sp>
    </p:spTree>
    <p:extLst>
      <p:ext uri="{BB962C8B-B14F-4D97-AF65-F5344CB8AC3E}">
        <p14:creationId xmlns:p14="http://schemas.microsoft.com/office/powerpoint/2010/main" val="1249456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E4587-7DF7-D6AE-7D99-CBB7B136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C3476-3980-F653-6E0D-F2D1AECE36C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功能模块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3FE87F50-66EE-C467-8486-CCB0D7CC180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281C54D1-7CBF-0100-46F6-20B3AF9CF072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A3A2EF03-AB19-2982-1386-AED8E91B9847}"/>
              </a:ext>
            </a:extLst>
          </p:cNvPr>
          <p:cNvSpPr/>
          <p:nvPr/>
        </p:nvSpPr>
        <p:spPr>
          <a:xfrm rot="16200000">
            <a:off x="10400553" y="3219051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7A69EE4-0802-353C-D1C5-88F06F1282AB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2B22968-86CF-413C-A5A4-FBF509210AEE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0D50856-4C14-3413-3F89-384DBC2490DD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5CD2CAD-241C-B8EB-A7D7-6623938AA93D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451EBB-4224-9D7C-2A26-FC77487EBE13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进度与计划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AE013233-BA76-F40A-5665-CF56B6355427}"/>
              </a:ext>
            </a:extLst>
          </p:cNvPr>
          <p:cNvSpPr txBox="1"/>
          <p:nvPr/>
        </p:nvSpPr>
        <p:spPr>
          <a:xfrm>
            <a:off x="494009" y="1595164"/>
            <a:ext cx="9284065" cy="36676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en-US" altLang="zh-CN" sz="2000" b="1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B-3 </a:t>
            </a:r>
            <a:r>
              <a:rPr lang="zh-CN" altLang="en-US" sz="2000" b="1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题库管理与测试框架</a:t>
            </a:r>
            <a:b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endParaRPr lang="zh-CN" altLang="en-US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目前已覆盖三类主要题型：</a:t>
            </a:r>
          </a:p>
          <a:p>
            <a:pPr marL="3429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命令行输入题：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stdin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输入，</a:t>
            </a: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stdout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比对</a:t>
            </a:r>
          </a:p>
          <a:p>
            <a:pPr marL="3429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文件读写题：生成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input.txt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，读取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output.txt</a:t>
            </a:r>
          </a:p>
          <a:p>
            <a:pPr marL="3429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函数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接口调用题：动态导入用户代码并调用指定函数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支持测试用例维护与题库管理接口设计</a:t>
            </a: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endParaRPr lang="zh-CN" altLang="en-US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待完善：与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B-2 / B-4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深度联调、测试套件持久化、权限校验、高并发任务队列</a:t>
            </a:r>
          </a:p>
        </p:txBody>
      </p:sp>
    </p:spTree>
    <p:extLst>
      <p:ext uri="{BB962C8B-B14F-4D97-AF65-F5344CB8AC3E}">
        <p14:creationId xmlns:p14="http://schemas.microsoft.com/office/powerpoint/2010/main" val="1347351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E5887-CC92-9072-C854-A7C61E442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CDFF03-A2BB-04A4-8C22-71A7305D6B4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功能模块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141E2963-2727-E202-5FB8-236AC358FE0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CC5D4F51-1984-89B1-3549-DF98C278F855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36722546-8CA6-6329-4283-75D9CF101114}"/>
              </a:ext>
            </a:extLst>
          </p:cNvPr>
          <p:cNvSpPr/>
          <p:nvPr/>
        </p:nvSpPr>
        <p:spPr>
          <a:xfrm rot="16200000">
            <a:off x="10400553" y="3219051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1A157C1-B014-72E5-2095-0CCD1B36C6C8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C2FDE9E-61BC-CC87-FD09-FCBD3890241B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D5FF879-3E74-AD91-71A6-78186B04424F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2ECA063-66B0-1443-FB51-DF6118682807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17DAFE5-0D44-CB5C-FEDE-9C624DDEDF48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进度与计划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00C0D263-077B-B71D-1DC8-902FEAD0F50D}"/>
              </a:ext>
            </a:extLst>
          </p:cNvPr>
          <p:cNvSpPr txBox="1"/>
          <p:nvPr/>
        </p:nvSpPr>
        <p:spPr>
          <a:xfrm>
            <a:off x="494009" y="1595164"/>
            <a:ext cx="9284065" cy="49757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en-US" altLang="zh-CN" sz="2000" b="1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B-4 </a:t>
            </a:r>
            <a:r>
              <a:rPr lang="zh-CN" altLang="en-US" sz="2000" b="1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数据库模块设计</a:t>
            </a:r>
            <a:b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endParaRPr lang="zh-CN" altLang="en-US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数据库采用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PostgreSQL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当前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已完成数据库连接与核心表结构支撑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核心数据表分组：</a:t>
            </a:r>
          </a:p>
          <a:p>
            <a:pPr marL="3429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用户与身份：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users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students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classes</a:t>
            </a:r>
          </a:p>
          <a:p>
            <a:pPr marL="3429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题库与用例：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problems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problem_testcases</a:t>
            </a: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作业与提交：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assignments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submissions</a:t>
            </a:r>
          </a:p>
          <a:p>
            <a:pPr marL="3429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评测过程：</a:t>
            </a: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judge_tasks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judge_results</a:t>
            </a: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成绩结果：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scores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已支持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SQLite / PostgreSQL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兼容初始化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.env 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本地保存数据库密码，不提交仓库</a:t>
            </a:r>
          </a:p>
        </p:txBody>
      </p:sp>
    </p:spTree>
    <p:extLst>
      <p:ext uri="{BB962C8B-B14F-4D97-AF65-F5344CB8AC3E}">
        <p14:creationId xmlns:p14="http://schemas.microsoft.com/office/powerpoint/2010/main" val="2004749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90A56-2603-74F6-8F8E-85EF408F6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9E76A-4403-9D03-6C8A-B8AD85DF758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功能模块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0994440-97ED-FBCD-3A60-90505414A63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5CA90895-EC78-46E3-A9FE-6A3F04058422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A3587CA4-9897-E778-9B00-5CBEC6F9057D}"/>
              </a:ext>
            </a:extLst>
          </p:cNvPr>
          <p:cNvSpPr/>
          <p:nvPr/>
        </p:nvSpPr>
        <p:spPr>
          <a:xfrm rot="16200000">
            <a:off x="10400553" y="3219051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221D8A5-856B-85D7-7E69-756E45C20F4E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22BED25-014A-9037-FC91-4E17B7A5027B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A89D71F-A622-A237-C47E-9FF6120587AB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5DD8475-9FCB-84CE-EE38-96960C9003B3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C23A6F-9159-139E-ABBC-FDEEBC24ECEA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进度与计划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A2BA2C5A-7008-7297-E90C-43CA5549EA1B}"/>
              </a:ext>
            </a:extLst>
          </p:cNvPr>
          <p:cNvSpPr txBox="1"/>
          <p:nvPr/>
        </p:nvSpPr>
        <p:spPr>
          <a:xfrm>
            <a:off x="494009" y="1595164"/>
            <a:ext cx="9284065" cy="49757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b="1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模块间接口关系</a:t>
            </a:r>
            <a:b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endParaRPr lang="zh-CN" altLang="en-US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B-1 → B-4 /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后端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API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</a:p>
          <a:p>
            <a:pPr marL="0" lvl="1"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登录、改密、获取题目、提交代码、查看成绩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B-1 → B-3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</a:p>
          <a:p>
            <a:pPr marL="0" lvl="1"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教师维护题目与测试用例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B-2 → B-3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</a:p>
          <a:p>
            <a:pPr marL="0" lvl="1"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获取题目测试用例与题型配置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B-2 → B-4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</a:p>
          <a:p>
            <a:pPr marL="0" lvl="1"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写入提交记录、评测任务、评测结果和成绩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B-4 →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全模块：</a:t>
            </a:r>
          </a:p>
          <a:p>
            <a:pPr marL="0" lvl="1"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提供统一数据库表结构和接口支撑</a:t>
            </a:r>
          </a:p>
        </p:txBody>
      </p:sp>
    </p:spTree>
    <p:extLst>
      <p:ext uri="{BB962C8B-B14F-4D97-AF65-F5344CB8AC3E}">
        <p14:creationId xmlns:p14="http://schemas.microsoft.com/office/powerpoint/2010/main" val="1652398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4ECF3-A621-BD2B-5F77-EC751B7D2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79965-DB32-B641-E363-3AC5BC8A824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功能模块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9159740-CB82-AE46-8C10-EDB775EB927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D564E3A7-F672-D7EF-BA1D-F39E2169E76D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DB6CD070-2D3A-0272-0DAB-2302C987D31B}"/>
              </a:ext>
            </a:extLst>
          </p:cNvPr>
          <p:cNvSpPr/>
          <p:nvPr/>
        </p:nvSpPr>
        <p:spPr>
          <a:xfrm rot="16200000">
            <a:off x="10400553" y="3219051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A9FF09A-685F-0028-F298-17F941C384B4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7BF767F-5C11-6724-958D-0C375233D030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8B970D6-8CD6-EE94-094E-89362CFEECB5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B4DA903-786F-4DA7-86A2-A91D36E05DBC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E87D02-42AE-CEE9-43DF-735AE93947C4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进度与计划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5583A4CB-DC42-A51E-F784-17A642428D9F}"/>
              </a:ext>
            </a:extLst>
          </p:cNvPr>
          <p:cNvSpPr txBox="1"/>
          <p:nvPr/>
        </p:nvSpPr>
        <p:spPr>
          <a:xfrm>
            <a:off x="494009" y="1595164"/>
            <a:ext cx="9284065" cy="39754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b="1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中间件与安全机制</a:t>
            </a:r>
            <a:b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endParaRPr lang="zh-CN" altLang="en-US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Web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服务：</a:t>
            </a: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FastAPI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+ </a:t>
            </a: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Uvicorn</a:t>
            </a: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前端服务：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Node.js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静态服务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数据访问：</a:t>
            </a: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SQLAlchemy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+ PostgreSQL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配置管理：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.env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 环境变量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代码执行安全：当前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已有基础静态安全检查、已预留 </a:t>
            </a: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Firejail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沙箱配置</a:t>
            </a: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后续扩展：后续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Linux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环境启用 </a:t>
            </a: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Firejail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限制网络、进程、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CPU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、内存和文件访问、后续可结合 </a:t>
            </a: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Firejail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完成正式隔离方案</a:t>
            </a:r>
          </a:p>
        </p:txBody>
      </p:sp>
    </p:spTree>
    <p:extLst>
      <p:ext uri="{BB962C8B-B14F-4D97-AF65-F5344CB8AC3E}">
        <p14:creationId xmlns:p14="http://schemas.microsoft.com/office/powerpoint/2010/main" val="2584897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ctrTitle"/>
          </p:nvPr>
        </p:nvSpPr>
        <p:spPr>
          <a:xfrm>
            <a:off x="1524000" y="3003610"/>
            <a:ext cx="9144000" cy="813556"/>
          </a:xfrm>
        </p:spPr>
        <p:txBody>
          <a:bodyPr>
            <a:normAutofit fontScale="90000"/>
          </a:bodyPr>
          <a:lstStyle/>
          <a:p>
            <a:r>
              <a:rPr lang="zh-CN" altLang="en-US" sz="5400" b="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需求覆盖点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100" y="1801877"/>
            <a:ext cx="1193800" cy="1193794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495300" y="-130685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PART  </a:t>
            </a:r>
            <a:endParaRPr lang="zh-CN" altLang="en-US" sz="138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4057650" y="296751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39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04</a:t>
            </a:r>
            <a:endParaRPr lang="zh-CN" altLang="en-US" sz="239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05010-37B1-B2EB-3618-84588F236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94D991-71AF-F984-A5D2-1FE30C39654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56BA0B5-0350-613D-06AA-77B804BDF50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DA557AF1-732C-3C11-A9D4-A0480EC85060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0DE31852-77A6-5F3F-360C-7B9F4D923FE0}"/>
              </a:ext>
            </a:extLst>
          </p:cNvPr>
          <p:cNvSpPr/>
          <p:nvPr/>
        </p:nvSpPr>
        <p:spPr>
          <a:xfrm rot="16200000">
            <a:off x="10400553" y="3989070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DB900F7-B1D3-5677-DA8D-6F207962D353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CE46A2-924A-D1E3-1696-17F835B6473C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DFAE05A-7FDC-B69F-0A9D-150A4B6E732F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FFE6FA4-7123-1FFC-F7A1-F6FA1405F465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5E969B-6262-7406-EA81-EA30D681D51D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进度与计划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B5640B-ACCD-994F-1039-4670ACB14F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220" b="5796"/>
          <a:stretch>
            <a:fillRect/>
          </a:stretch>
        </p:blipFill>
        <p:spPr>
          <a:xfrm>
            <a:off x="304800" y="1060392"/>
            <a:ext cx="9095874" cy="575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366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1469D-DE74-4983-E9DB-62D806DB5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7F882-145A-E403-4C8C-351F45BC8C6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9354E4C-2A9D-D534-0642-63D1BADCB82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8F90F76A-E609-E5EF-ED26-A77F671482C3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C65A67E4-D4DC-EF65-FCCF-FA99CEC321C9}"/>
              </a:ext>
            </a:extLst>
          </p:cNvPr>
          <p:cNvSpPr/>
          <p:nvPr/>
        </p:nvSpPr>
        <p:spPr>
          <a:xfrm rot="16200000">
            <a:off x="10400553" y="3989070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6D42F3B-B11E-AE99-7AFF-E0D6A622BE8B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0C826BD-C721-AC8C-60AF-BB4B74BE6445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B5F18C6-9550-632E-EFC3-320CBF563A2D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0D30D6F-85F4-4266-BBA4-4A53A3D60F8A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89661C-117D-6A68-39E1-216B9BFED551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进度与计划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9CD482-CD0B-C6F0-ECBE-9A05855677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59" t="20805" r="3731" b="11821"/>
          <a:stretch>
            <a:fillRect/>
          </a:stretch>
        </p:blipFill>
        <p:spPr>
          <a:xfrm>
            <a:off x="94287" y="2426112"/>
            <a:ext cx="10262982" cy="296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847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07B46-444C-AE44-7E07-D22888455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D1B7FF-855E-5B90-BA65-D4E09EE19D5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7AAF7CB-185B-B22D-C3C2-D20CF24AE7B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AE05ADF1-39CB-C2BA-5147-61DD77AF4BD6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20769EF6-849B-3681-C2B5-5B1F8E648CCD}"/>
              </a:ext>
            </a:extLst>
          </p:cNvPr>
          <p:cNvSpPr/>
          <p:nvPr/>
        </p:nvSpPr>
        <p:spPr>
          <a:xfrm rot="16200000">
            <a:off x="10400553" y="3989070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405B4F8-2A52-033A-0667-36645E57A04E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F69A7B0-71E2-FC69-E6FF-DCC662CF1C39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DF9126A-3AB1-62F5-F9E9-0FEA2D5B3126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7797C5A-E465-693B-FAFA-252A604F1986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F37030-BB32-5376-83A9-464ED086C98C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进度与计划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61BA74-C2AA-B646-F5C7-4F7207A391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83" t="13946" r="3817" b="9044"/>
          <a:stretch>
            <a:fillRect/>
          </a:stretch>
        </p:blipFill>
        <p:spPr>
          <a:xfrm>
            <a:off x="160704" y="1518253"/>
            <a:ext cx="10218518" cy="462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84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51F20-5AA0-D138-11B4-33BB4572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EDD77D-B260-E03C-BF63-FA5F1D64221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81C0DB1-0AD0-ADC5-7BEB-B3C6B63018A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5AEA6A55-B7CC-5A4D-ACA2-49EBE6BD7B69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8BD63FF8-8C72-B90B-F138-1AFC9D4DBBC9}"/>
              </a:ext>
            </a:extLst>
          </p:cNvPr>
          <p:cNvSpPr/>
          <p:nvPr/>
        </p:nvSpPr>
        <p:spPr>
          <a:xfrm rot="16200000">
            <a:off x="10400553" y="3989070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8A4BF0E-9F88-DD8A-32EB-128770B29D86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A18548E-279D-6929-CE4C-5010A65B5670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7552432-58F9-43E6-357F-A2B323FCDA8C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772B9B6-864B-9109-960D-D4CCED02C871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E9690F-3CE9-2C5C-D646-0CB41D70C85D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进度与计划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11DDBA-8F80-818B-C649-781FA0DC72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72" t="12978" r="4027" b="7362"/>
          <a:stretch>
            <a:fillRect/>
          </a:stretch>
        </p:blipFill>
        <p:spPr>
          <a:xfrm>
            <a:off x="0" y="1224640"/>
            <a:ext cx="10287058" cy="54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26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20441-BCF2-FE53-A3DF-4EAC31828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6D4AA73-9E7C-21BB-0657-EDE5721BA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03610"/>
            <a:ext cx="9144000" cy="813556"/>
          </a:xfrm>
        </p:spPr>
        <p:txBody>
          <a:bodyPr>
            <a:normAutofit fontScale="90000"/>
          </a:bodyPr>
          <a:lstStyle/>
          <a:p>
            <a:r>
              <a:rPr lang="zh-CN" altLang="en-US" sz="5400" b="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进度与计划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DD3CC84-135B-8611-52F4-79B4F16FB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100" y="1801877"/>
            <a:ext cx="1193800" cy="1193794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121B5DD2-4249-9B5A-4077-22D364C84615}"/>
              </a:ext>
            </a:extLst>
          </p:cNvPr>
          <p:cNvSpPr txBox="1"/>
          <p:nvPr/>
        </p:nvSpPr>
        <p:spPr>
          <a:xfrm>
            <a:off x="495300" y="-130685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PART  </a:t>
            </a:r>
            <a:endParaRPr lang="zh-CN" altLang="en-US" sz="138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D8562A67-43C8-28F4-2CDF-9ADAEE142938}"/>
              </a:ext>
            </a:extLst>
          </p:cNvPr>
          <p:cNvSpPr txBox="1"/>
          <p:nvPr/>
        </p:nvSpPr>
        <p:spPr>
          <a:xfrm>
            <a:off x="4057650" y="296751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39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05</a:t>
            </a:r>
            <a:endParaRPr lang="zh-CN" altLang="en-US" sz="239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4123892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CC9D-6186-D214-38CF-0BF37920E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46C585-C78B-1EEE-3972-8DA60B35F73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进度与计划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B470DDE-53E2-B3F6-FB38-B7654B77240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0B86CD8A-3A7C-DD29-E4C1-2F8D4667B8BB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77CE9846-25D8-96EA-2E98-274CDBEF4386}"/>
              </a:ext>
            </a:extLst>
          </p:cNvPr>
          <p:cNvSpPr/>
          <p:nvPr/>
        </p:nvSpPr>
        <p:spPr>
          <a:xfrm rot="16200000">
            <a:off x="10400553" y="4775133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18F2FD4-4FFB-B2DA-CE65-3D6891D36393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需求覆盖关系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0BF6105-555A-E86B-D5D7-D95F833A8853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D278E93-D96D-FB41-D3D4-D56FD1A8C374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1C8A963-6A2E-4D43-9D05-755930D739C8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36051A-BD45-8440-837D-87A042BA137D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进度与计划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06ACA3-07EC-080E-EB48-077C3524F40E}"/>
              </a:ext>
            </a:extLst>
          </p:cNvPr>
          <p:cNvSpPr txBox="1"/>
          <p:nvPr/>
        </p:nvSpPr>
        <p:spPr>
          <a:xfrm>
            <a:off x="160704" y="1382460"/>
            <a:ext cx="4668253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b="1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当前阶段成果与进度：</a:t>
            </a:r>
            <a:endParaRPr lang="en-US" altLang="zh-CN" sz="2000" b="1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endParaRPr lang="en-US" altLang="zh-CN" sz="2000" b="1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已完成可运行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原型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已完成前后端分离基本架构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已融合前端组页面风格，并适配现有后端接口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已完成学生端与教师端核心流程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已完成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PostgreSQL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数据库配置与连接验证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已完成基础评测链路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已补充 </a:t>
            </a: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Firejail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沙箱配置说明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已推送到 </a:t>
            </a: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Gitee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 dev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 分支，最新提交：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b678da2</a:t>
            </a:r>
            <a:endParaRPr lang="zh-CN" altLang="en-US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AF77E3-74B9-9F95-FC53-F19AB5542643}"/>
              </a:ext>
            </a:extLst>
          </p:cNvPr>
          <p:cNvSpPr txBox="1"/>
          <p:nvPr/>
        </p:nvSpPr>
        <p:spPr>
          <a:xfrm>
            <a:off x="5189620" y="1382460"/>
            <a:ext cx="4668253" cy="319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b="1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后续工作计划：</a:t>
            </a:r>
            <a:b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endParaRPr lang="zh-CN" altLang="en-US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将测试数据、题库和评测结果完整迁移到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PostgreSQL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完善题库批量导入和测试用例管理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强化 </a:t>
            </a: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Firejail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沙箱隔离与异常处理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增加成绩统计、导出和分析功能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持续根据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完善正式系统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4B7855B-58F8-6ADF-5D00-CC71D6DEEBA2}"/>
              </a:ext>
            </a:extLst>
          </p:cNvPr>
          <p:cNvCxnSpPr/>
          <p:nvPr/>
        </p:nvCxnSpPr>
        <p:spPr>
          <a:xfrm>
            <a:off x="4828957" y="1235242"/>
            <a:ext cx="0" cy="5266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4B0B5002-040B-CC78-3A2B-97B1E9450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875" y="4696070"/>
            <a:ext cx="3705742" cy="181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62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05CDB-0C5F-F01D-7027-4617DB862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C5D53B-5641-48A1-70C9-7918B7CF3F78}"/>
              </a:ext>
            </a:extLst>
          </p:cNvPr>
          <p:cNvSpPr/>
          <p:nvPr/>
        </p:nvSpPr>
        <p:spPr>
          <a:xfrm>
            <a:off x="0" y="1943100"/>
            <a:ext cx="12192000" cy="32076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2530DD7-D82D-2226-4481-75E1D642FAB0}"/>
              </a:ext>
            </a:extLst>
          </p:cNvPr>
          <p:cNvSpPr/>
          <p:nvPr/>
        </p:nvSpPr>
        <p:spPr>
          <a:xfrm>
            <a:off x="11076214" y="7342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A0A0681-CF59-5A8A-2708-1D7589B7108D}"/>
              </a:ext>
            </a:extLst>
          </p:cNvPr>
          <p:cNvSpPr/>
          <p:nvPr/>
        </p:nvSpPr>
        <p:spPr>
          <a:xfrm>
            <a:off x="11335294" y="734226"/>
            <a:ext cx="174172" cy="1741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780780C-561C-4192-EC12-AA741E23B727}"/>
              </a:ext>
            </a:extLst>
          </p:cNvPr>
          <p:cNvSpPr/>
          <p:nvPr/>
        </p:nvSpPr>
        <p:spPr>
          <a:xfrm>
            <a:off x="11591395" y="7342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65C6DF2-685F-10A3-EE1B-98701F8AED54}"/>
              </a:ext>
            </a:extLst>
          </p:cNvPr>
          <p:cNvSpPr/>
          <p:nvPr/>
        </p:nvSpPr>
        <p:spPr>
          <a:xfrm>
            <a:off x="5435600" y="1124090"/>
            <a:ext cx="1320800" cy="1320800"/>
          </a:xfrm>
          <a:prstGeom prst="ellipse">
            <a:avLst/>
          </a:prstGeom>
          <a:solidFill>
            <a:schemeClr val="bg1"/>
          </a:solidFill>
          <a:ln w="412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45A87FC-6681-D3FC-67DC-A01DE259E41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47320" y="1485869"/>
            <a:ext cx="1094780" cy="632378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A51FAF50-02D4-3D8B-9B75-B3CA2B9683F5}"/>
              </a:ext>
            </a:extLst>
          </p:cNvPr>
          <p:cNvSpPr/>
          <p:nvPr/>
        </p:nvSpPr>
        <p:spPr>
          <a:xfrm>
            <a:off x="484414" y="62460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6C6C8C7-8D68-8F85-1DCE-C82A3D590B9D}"/>
              </a:ext>
            </a:extLst>
          </p:cNvPr>
          <p:cNvSpPr/>
          <p:nvPr/>
        </p:nvSpPr>
        <p:spPr>
          <a:xfrm>
            <a:off x="743494" y="6246026"/>
            <a:ext cx="174172" cy="1741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FEC6D6EB-DB71-D0EE-87F7-A12C08110D94}"/>
              </a:ext>
            </a:extLst>
          </p:cNvPr>
          <p:cNvSpPr/>
          <p:nvPr/>
        </p:nvSpPr>
        <p:spPr>
          <a:xfrm>
            <a:off x="999595" y="62460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868841-1B26-7E7C-F57C-E1A02E8978C2}"/>
              </a:ext>
            </a:extLst>
          </p:cNvPr>
          <p:cNvSpPr/>
          <p:nvPr/>
        </p:nvSpPr>
        <p:spPr>
          <a:xfrm>
            <a:off x="514090" y="2444890"/>
            <a:ext cx="11161240" cy="1716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谢谢大家</a:t>
            </a:r>
            <a:r>
              <a:rPr lang="en-US" altLang="zh-CN" sz="7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!</a:t>
            </a:r>
            <a:endParaRPr lang="zh-CN" altLang="en-US" sz="72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F6AEF9-AEB7-CB23-EA6C-833C978AD0A1}"/>
              </a:ext>
            </a:extLst>
          </p:cNvPr>
          <p:cNvSpPr txBox="1"/>
          <p:nvPr/>
        </p:nvSpPr>
        <p:spPr bwMode="auto">
          <a:xfrm>
            <a:off x="8164268" y="6045971"/>
            <a:ext cx="4680520" cy="40011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日期：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2026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年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月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29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日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949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NkNDYxMmIwNmM5NTY2OTdkODYxNGM2OGY2YmI2O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76956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76956;"/>
</p:tagLst>
</file>

<file path=ppt/theme/theme1.xml><?xml version="1.0" encoding="utf-8"?>
<a:theme xmlns:a="http://schemas.openxmlformats.org/drawingml/2006/main" name="Office 主题​​">
  <a:themeElements>
    <a:clrScheme name="自定义 185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F000B"/>
      </a:accent1>
      <a:accent2>
        <a:srgbClr val="70000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946</Words>
  <Application>Microsoft Office PowerPoint</Application>
  <PresentationFormat>宽屏</PresentationFormat>
  <Paragraphs>191</Paragraphs>
  <Slides>21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阿里巴巴普惠体</vt:lpstr>
      <vt:lpstr>等线</vt:lpstr>
      <vt:lpstr>华文中宋</vt:lpstr>
      <vt:lpstr>思源黑体</vt:lpstr>
      <vt:lpstr>微软雅黑</vt:lpstr>
      <vt:lpstr>Arial</vt:lpstr>
      <vt:lpstr>Office 主题​​</vt:lpstr>
      <vt:lpstr>PowerPoint 演示文稿</vt:lpstr>
      <vt:lpstr>PowerPoint 演示文稿</vt:lpstr>
      <vt:lpstr>项目背景</vt:lpstr>
      <vt:lpstr>项目背景</vt:lpstr>
      <vt:lpstr>总体架构</vt:lpstr>
      <vt:lpstr>总体架构</vt:lpstr>
      <vt:lpstr>功能模块</vt:lpstr>
      <vt:lpstr>功能模块</vt:lpstr>
      <vt:lpstr>功能模块</vt:lpstr>
      <vt:lpstr>功能模块</vt:lpstr>
      <vt:lpstr>功能模块</vt:lpstr>
      <vt:lpstr>功能模块</vt:lpstr>
      <vt:lpstr>功能模块</vt:lpstr>
      <vt:lpstr>需求覆盖点</vt:lpstr>
      <vt:lpstr>需求覆盖关系</vt:lpstr>
      <vt:lpstr>需求覆盖关系</vt:lpstr>
      <vt:lpstr>需求覆盖关系</vt:lpstr>
      <vt:lpstr>需求覆盖关系</vt:lpstr>
      <vt:lpstr>进度与计划</vt:lpstr>
      <vt:lpstr>进度与计划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Mikasa Ackerman</dc:creator>
  <cp:lastModifiedBy>Mikasa Ackerman</cp:lastModifiedBy>
  <cp:revision>16</cp:revision>
  <dcterms:created xsi:type="dcterms:W3CDTF">2022-04-20T02:45:00Z</dcterms:created>
  <dcterms:modified xsi:type="dcterms:W3CDTF">2026-04-28T12:42:18Z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011D725C3BD54AD098784F7470BBF9CD_12</vt:lpwstr>
  </property>
  <property fmtid="{D5CDD505-2E9C-101B-9397-08002B2CF9AE}" pid="3" name="KSOProductBuildVer">
    <vt:lpwstr>2052-12.1.0.16417</vt:lpwstr>
  </property>
</Properties>
</file>