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1" r:id="rId2"/>
    <p:sldId id="296" r:id="rId3"/>
    <p:sldId id="262" r:id="rId4"/>
    <p:sldId id="272" r:id="rId5"/>
    <p:sldId id="267" r:id="rId6"/>
    <p:sldId id="302" r:id="rId7"/>
    <p:sldId id="268" r:id="rId8"/>
    <p:sldId id="303" r:id="rId9"/>
    <p:sldId id="269" r:id="rId10"/>
    <p:sldId id="304" r:id="rId11"/>
    <p:sldId id="305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000B"/>
    <a:srgbClr val="A40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7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3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D0EDE-5CD8-4F31-91EB-3B111BCCBAF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6EFCC-068A-4282-AB7E-4199CD5D58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0741C5-8F5C-4213-BB69-8C2D02590C1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967B8B-844C-24AA-E12A-14D3C2EDD476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AutoGrader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作业代码自动评分系统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B4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模块实施方案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8D7CF0-49EA-8AC9-3044-699BD249E094}"/>
              </a:ext>
            </a:extLst>
          </p:cNvPr>
          <p:cNvSpPr txBox="1"/>
          <p:nvPr/>
        </p:nvSpPr>
        <p:spPr bwMode="auto">
          <a:xfrm>
            <a:off x="3232392" y="4357303"/>
            <a:ext cx="5724636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第七组：郭仕恒、许泽文、孙振阳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DF1BE5-7FF1-8FCB-7B5A-2C431DD88267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18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5400000" flipH="1">
            <a:off x="3093983" y="2944554"/>
            <a:ext cx="2085970" cy="96889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727699" y="1660290"/>
            <a:ext cx="51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项目背景、目标、范围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727699" y="2731103"/>
            <a:ext cx="4535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项目总体计划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727699" y="4588910"/>
            <a:ext cx="44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项目风险点与对策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727699" y="3709915"/>
            <a:ext cx="363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项目组织架构</a:t>
            </a:r>
          </a:p>
        </p:txBody>
      </p:sp>
      <p:sp>
        <p:nvSpPr>
          <p:cNvPr id="152" name="Freeform 9"/>
          <p:cNvSpPr/>
          <p:nvPr/>
        </p:nvSpPr>
        <p:spPr bwMode="auto">
          <a:xfrm>
            <a:off x="5380460" y="1786451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3" name="Freeform 9"/>
          <p:cNvSpPr/>
          <p:nvPr/>
        </p:nvSpPr>
        <p:spPr bwMode="auto">
          <a:xfrm>
            <a:off x="5380460" y="2860729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4" name="Freeform 9"/>
          <p:cNvSpPr/>
          <p:nvPr/>
        </p:nvSpPr>
        <p:spPr bwMode="auto">
          <a:xfrm>
            <a:off x="5380460" y="3836589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6" name="Freeform 9"/>
          <p:cNvSpPr/>
          <p:nvPr/>
        </p:nvSpPr>
        <p:spPr bwMode="auto">
          <a:xfrm>
            <a:off x="5380460" y="4715584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2024" y="784135"/>
            <a:ext cx="861774" cy="33629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52536" y="665163"/>
            <a:ext cx="1292662" cy="25380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目录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74" y="4267201"/>
            <a:ext cx="2441726" cy="2441724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11076214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335294" y="62587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1591395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项目背景、目标、范围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01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项目背景、目标、范围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16200000">
            <a:off x="10400553" y="161484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总体计划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组织架构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711051" y="3852336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风险对策</a:t>
            </a:r>
          </a:p>
        </p:txBody>
      </p:sp>
      <p:cxnSp>
        <p:nvCxnSpPr>
          <p:cNvPr id="42" name="Straight Connector 23"/>
          <p:cNvCxnSpPr/>
          <p:nvPr/>
        </p:nvCxnSpPr>
        <p:spPr bwMode="auto">
          <a:xfrm>
            <a:off x="3390883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43" name="Straight Connector 24"/>
          <p:cNvCxnSpPr/>
          <p:nvPr/>
        </p:nvCxnSpPr>
        <p:spPr bwMode="auto">
          <a:xfrm>
            <a:off x="6941725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grpSp>
        <p:nvGrpSpPr>
          <p:cNvPr id="44" name="组合 43"/>
          <p:cNvGrpSpPr/>
          <p:nvPr/>
        </p:nvGrpSpPr>
        <p:grpSpPr>
          <a:xfrm>
            <a:off x="8172845" y="2133571"/>
            <a:ext cx="1369704" cy="1356360"/>
            <a:chOff x="1943868" y="2123981"/>
            <a:chExt cx="1369704" cy="1356360"/>
          </a:xfrm>
        </p:grpSpPr>
        <p:sp>
          <p:nvSpPr>
            <p:cNvPr id="45" name="Oval 25"/>
            <p:cNvSpPr/>
            <p:nvPr/>
          </p:nvSpPr>
          <p:spPr bwMode="auto">
            <a:xfrm>
              <a:off x="1943868" y="2123981"/>
              <a:ext cx="1369704" cy="1356360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46" name="Shape 2605"/>
            <p:cNvSpPr/>
            <p:nvPr/>
          </p:nvSpPr>
          <p:spPr>
            <a:xfrm>
              <a:off x="2338212" y="2487086"/>
              <a:ext cx="652149" cy="652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0" h="21410" extrusionOk="0">
                  <a:moveTo>
                    <a:pt x="20437" y="20437"/>
                  </a:moveTo>
                  <a:lnTo>
                    <a:pt x="17519" y="20437"/>
                  </a:lnTo>
                  <a:lnTo>
                    <a:pt x="17519" y="18978"/>
                  </a:lnTo>
                  <a:cubicBezTo>
                    <a:pt x="17519" y="18710"/>
                    <a:pt x="17301" y="18492"/>
                    <a:pt x="17033" y="18492"/>
                  </a:cubicBezTo>
                  <a:lnTo>
                    <a:pt x="15574" y="18492"/>
                  </a:lnTo>
                  <a:lnTo>
                    <a:pt x="15574" y="17033"/>
                  </a:lnTo>
                  <a:cubicBezTo>
                    <a:pt x="15574" y="16764"/>
                    <a:pt x="15356" y="16546"/>
                    <a:pt x="15087" y="16546"/>
                  </a:cubicBezTo>
                  <a:lnTo>
                    <a:pt x="13344" y="16546"/>
                  </a:lnTo>
                  <a:lnTo>
                    <a:pt x="10309" y="13497"/>
                  </a:lnTo>
                  <a:cubicBezTo>
                    <a:pt x="10221" y="13409"/>
                    <a:pt x="10100" y="13354"/>
                    <a:pt x="9965" y="13354"/>
                  </a:cubicBezTo>
                  <a:cubicBezTo>
                    <a:pt x="9819" y="13354"/>
                    <a:pt x="9693" y="13422"/>
                    <a:pt x="9604" y="13524"/>
                  </a:cubicBezTo>
                  <a:lnTo>
                    <a:pt x="8815" y="14312"/>
                  </a:lnTo>
                  <a:cubicBezTo>
                    <a:pt x="8435" y="14692"/>
                    <a:pt x="7820" y="14692"/>
                    <a:pt x="7441" y="14312"/>
                  </a:cubicBezTo>
                  <a:lnTo>
                    <a:pt x="1256" y="8128"/>
                  </a:lnTo>
                  <a:cubicBezTo>
                    <a:pt x="877" y="7748"/>
                    <a:pt x="877" y="7133"/>
                    <a:pt x="1256" y="6753"/>
                  </a:cubicBezTo>
                  <a:lnTo>
                    <a:pt x="6754" y="1255"/>
                  </a:lnTo>
                  <a:cubicBezTo>
                    <a:pt x="7133" y="876"/>
                    <a:pt x="7749" y="876"/>
                    <a:pt x="8128" y="1255"/>
                  </a:cubicBezTo>
                  <a:lnTo>
                    <a:pt x="14312" y="7440"/>
                  </a:lnTo>
                  <a:cubicBezTo>
                    <a:pt x="14691" y="7820"/>
                    <a:pt x="14691" y="8435"/>
                    <a:pt x="14312" y="8815"/>
                  </a:cubicBezTo>
                  <a:lnTo>
                    <a:pt x="13539" y="9588"/>
                  </a:lnTo>
                  <a:cubicBezTo>
                    <a:pt x="13437" y="9677"/>
                    <a:pt x="13370" y="9804"/>
                    <a:pt x="13370" y="9950"/>
                  </a:cubicBezTo>
                  <a:cubicBezTo>
                    <a:pt x="13370" y="10084"/>
                    <a:pt x="13424" y="10206"/>
                    <a:pt x="13513" y="10294"/>
                  </a:cubicBezTo>
                  <a:lnTo>
                    <a:pt x="20437" y="17234"/>
                  </a:lnTo>
                  <a:cubicBezTo>
                    <a:pt x="20437" y="17234"/>
                    <a:pt x="20437" y="20437"/>
                    <a:pt x="20437" y="20437"/>
                  </a:cubicBezTo>
                  <a:close/>
                  <a:moveTo>
                    <a:pt x="21268" y="16689"/>
                  </a:moveTo>
                  <a:lnTo>
                    <a:pt x="14547" y="9954"/>
                  </a:lnTo>
                  <a:lnTo>
                    <a:pt x="14999" y="9502"/>
                  </a:lnTo>
                  <a:cubicBezTo>
                    <a:pt x="15758" y="8743"/>
                    <a:pt x="15758" y="7512"/>
                    <a:pt x="14999" y="6753"/>
                  </a:cubicBezTo>
                  <a:lnTo>
                    <a:pt x="8815" y="569"/>
                  </a:lnTo>
                  <a:cubicBezTo>
                    <a:pt x="8056" y="-190"/>
                    <a:pt x="6825" y="-190"/>
                    <a:pt x="6066" y="569"/>
                  </a:cubicBezTo>
                  <a:lnTo>
                    <a:pt x="569" y="6066"/>
                  </a:lnTo>
                  <a:cubicBezTo>
                    <a:pt x="-190" y="6825"/>
                    <a:pt x="-190" y="8056"/>
                    <a:pt x="569" y="8815"/>
                  </a:cubicBezTo>
                  <a:lnTo>
                    <a:pt x="6754" y="14999"/>
                  </a:lnTo>
                  <a:cubicBezTo>
                    <a:pt x="7513" y="15758"/>
                    <a:pt x="8743" y="15758"/>
                    <a:pt x="9502" y="14999"/>
                  </a:cubicBezTo>
                  <a:lnTo>
                    <a:pt x="9968" y="14533"/>
                  </a:lnTo>
                  <a:lnTo>
                    <a:pt x="12798" y="17376"/>
                  </a:lnTo>
                  <a:cubicBezTo>
                    <a:pt x="12886" y="17465"/>
                    <a:pt x="13008" y="17519"/>
                    <a:pt x="13142" y="17519"/>
                  </a:cubicBezTo>
                  <a:lnTo>
                    <a:pt x="14601" y="17519"/>
                  </a:lnTo>
                  <a:lnTo>
                    <a:pt x="14601" y="18978"/>
                  </a:lnTo>
                  <a:cubicBezTo>
                    <a:pt x="14601" y="19247"/>
                    <a:pt x="14819" y="19464"/>
                    <a:pt x="15087" y="19464"/>
                  </a:cubicBezTo>
                  <a:lnTo>
                    <a:pt x="16546" y="19464"/>
                  </a:lnTo>
                  <a:lnTo>
                    <a:pt x="16546" y="20924"/>
                  </a:lnTo>
                  <a:cubicBezTo>
                    <a:pt x="16546" y="21193"/>
                    <a:pt x="16764" y="21410"/>
                    <a:pt x="17033" y="21410"/>
                  </a:cubicBezTo>
                  <a:lnTo>
                    <a:pt x="20924" y="21410"/>
                  </a:lnTo>
                  <a:cubicBezTo>
                    <a:pt x="21192" y="21410"/>
                    <a:pt x="21410" y="21193"/>
                    <a:pt x="21410" y="20924"/>
                  </a:cubicBezTo>
                  <a:lnTo>
                    <a:pt x="21410" y="17033"/>
                  </a:lnTo>
                  <a:cubicBezTo>
                    <a:pt x="21410" y="16899"/>
                    <a:pt x="21356" y="16777"/>
                    <a:pt x="21268" y="16689"/>
                  </a:cubicBezTo>
                  <a:moveTo>
                    <a:pt x="6819" y="7791"/>
                  </a:moveTo>
                  <a:cubicBezTo>
                    <a:pt x="6282" y="7791"/>
                    <a:pt x="5846" y="7356"/>
                    <a:pt x="5846" y="6819"/>
                  </a:cubicBezTo>
                  <a:cubicBezTo>
                    <a:pt x="5846" y="6282"/>
                    <a:pt x="6282" y="5846"/>
                    <a:pt x="6819" y="5846"/>
                  </a:cubicBezTo>
                  <a:cubicBezTo>
                    <a:pt x="7356" y="5846"/>
                    <a:pt x="7792" y="6282"/>
                    <a:pt x="7792" y="6819"/>
                  </a:cubicBezTo>
                  <a:cubicBezTo>
                    <a:pt x="7792" y="7356"/>
                    <a:pt x="7356" y="7791"/>
                    <a:pt x="6819" y="7791"/>
                  </a:cubicBezTo>
                  <a:moveTo>
                    <a:pt x="6819" y="4873"/>
                  </a:moveTo>
                  <a:cubicBezTo>
                    <a:pt x="5745" y="4873"/>
                    <a:pt x="4874" y="5744"/>
                    <a:pt x="4874" y="6819"/>
                  </a:cubicBezTo>
                  <a:cubicBezTo>
                    <a:pt x="4874" y="7893"/>
                    <a:pt x="5745" y="8765"/>
                    <a:pt x="6819" y="8765"/>
                  </a:cubicBezTo>
                  <a:cubicBezTo>
                    <a:pt x="7893" y="8765"/>
                    <a:pt x="8765" y="7893"/>
                    <a:pt x="8765" y="6819"/>
                  </a:cubicBezTo>
                  <a:cubicBezTo>
                    <a:pt x="8765" y="5744"/>
                    <a:pt x="7893" y="4873"/>
                    <a:pt x="6819" y="4873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519539" y="2123030"/>
            <a:ext cx="1369704" cy="1358265"/>
            <a:chOff x="5462967" y="2123030"/>
            <a:chExt cx="1369704" cy="1358265"/>
          </a:xfrm>
        </p:grpSpPr>
        <p:sp>
          <p:nvSpPr>
            <p:cNvPr id="48" name="Oval 26"/>
            <p:cNvSpPr/>
            <p:nvPr/>
          </p:nvSpPr>
          <p:spPr bwMode="auto">
            <a:xfrm>
              <a:off x="5462967" y="2123030"/>
              <a:ext cx="1369704" cy="1358265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49" name="Shape 2551"/>
            <p:cNvSpPr/>
            <p:nvPr/>
          </p:nvSpPr>
          <p:spPr>
            <a:xfrm>
              <a:off x="5821898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054184" y="2123030"/>
            <a:ext cx="1369704" cy="1358265"/>
            <a:chOff x="9015925" y="2123030"/>
            <a:chExt cx="1369704" cy="1358265"/>
          </a:xfrm>
        </p:grpSpPr>
        <p:sp>
          <p:nvSpPr>
            <p:cNvPr id="51" name="Oval 36"/>
            <p:cNvSpPr/>
            <p:nvPr/>
          </p:nvSpPr>
          <p:spPr bwMode="auto">
            <a:xfrm>
              <a:off x="9015925" y="2123030"/>
              <a:ext cx="1369704" cy="1358265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52" name="Shape 2562"/>
            <p:cNvSpPr/>
            <p:nvPr/>
          </p:nvSpPr>
          <p:spPr>
            <a:xfrm>
              <a:off x="9380786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53" name="Text Placeholder 8"/>
          <p:cNvSpPr txBox="1"/>
          <p:nvPr/>
        </p:nvSpPr>
        <p:spPr>
          <a:xfrm>
            <a:off x="813638" y="3804623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项目背景</a:t>
            </a:r>
          </a:p>
        </p:txBody>
      </p:sp>
      <p:sp>
        <p:nvSpPr>
          <p:cNvPr id="54" name="Text Placeholder 9"/>
          <p:cNvSpPr txBox="1"/>
          <p:nvPr/>
        </p:nvSpPr>
        <p:spPr>
          <a:xfrm>
            <a:off x="479338" y="4513005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针对 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B/S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架构评分系统，解决多用户并发、异构代码测评的数据存储问题。</a:t>
            </a:r>
            <a:endParaRPr lang="en-AU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56" name="Text Placeholder 9"/>
          <p:cNvSpPr txBox="1"/>
          <p:nvPr/>
        </p:nvSpPr>
        <p:spPr>
          <a:xfrm>
            <a:off x="4041688" y="4513005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构建稳定、安全、轻量级的后端数据中枢。</a:t>
            </a:r>
            <a:endParaRPr lang="en-AU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58" name="Text Placeholder 9"/>
          <p:cNvSpPr txBox="1"/>
          <p:nvPr/>
        </p:nvSpPr>
        <p:spPr>
          <a:xfrm>
            <a:off x="7604038" y="4513005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负责用户鉴权、学生信息管理、题库维护、测评结果持久化及 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API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接口定义。</a:t>
            </a:r>
            <a:endParaRPr lang="en-AU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500DB96-5B02-16FE-00C1-839C22066090}"/>
              </a:ext>
            </a:extLst>
          </p:cNvPr>
          <p:cNvSpPr txBox="1"/>
          <p:nvPr/>
        </p:nvSpPr>
        <p:spPr>
          <a:xfrm>
            <a:off x="4279199" y="3801959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项目目标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5C07587-9B8E-E9C1-6F52-901CA0F06164}"/>
              </a:ext>
            </a:extLst>
          </p:cNvPr>
          <p:cNvSpPr txBox="1"/>
          <p:nvPr/>
        </p:nvSpPr>
        <p:spPr>
          <a:xfrm>
            <a:off x="7970195" y="3808941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项目范围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项目总体计划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2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02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B5C6-5F46-584C-D3FE-B4F672B5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1606F-5264-E8AF-8E59-5A0D5561BF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项目总体计划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6FEAD5C-5177-3463-0E2E-3B5ADED1BEA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CDFBA96-33D3-7530-8C92-F3CD2CE64702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C4AD587E-345D-4D5F-A6EA-6D9C6843E290}"/>
              </a:ext>
            </a:extLst>
          </p:cNvPr>
          <p:cNvSpPr/>
          <p:nvPr/>
        </p:nvSpPr>
        <p:spPr>
          <a:xfrm rot="16200000">
            <a:off x="10400553" y="239689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7A78B35-02E9-2A51-8802-441B037A13F3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9027FF1-7638-E022-F800-ABA767C30C1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总体计划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F11C20-C8FB-92C8-00C9-BE0D61F4F7AA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组织架构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42BC26D-2EFE-658C-0BB1-CC8444CC96C6}"/>
              </a:ext>
            </a:extLst>
          </p:cNvPr>
          <p:cNvSpPr txBox="1"/>
          <p:nvPr/>
        </p:nvSpPr>
        <p:spPr>
          <a:xfrm>
            <a:off x="10711051" y="3852336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风险对策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6AF43A-0E0C-47F2-6C98-3E6D0C3E694B}"/>
              </a:ext>
            </a:extLst>
          </p:cNvPr>
          <p:cNvSpPr txBox="1"/>
          <p:nvPr/>
        </p:nvSpPr>
        <p:spPr>
          <a:xfrm>
            <a:off x="1825969" y="1290407"/>
            <a:ext cx="68792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 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1-3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周为设计期，第 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4-9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周为核心开发期，第 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10-12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周为跨模块联调与优化期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1B9988-0193-FF85-D06C-D79666E4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908"/>
          <a:stretch>
            <a:fillRect/>
          </a:stretch>
        </p:blipFill>
        <p:spPr>
          <a:xfrm>
            <a:off x="72934" y="2372999"/>
            <a:ext cx="10385328" cy="3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24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项目组织架构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03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1366-9B57-E82A-96BF-D1742E14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199F7-1ABE-EDBE-4D25-1214DA0D92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项目组织架构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8BF9514-9A05-4674-30EA-430070A414D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4AC7B9F-48F2-2ED3-3DA2-0A0340A3271E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E30158DD-423C-24F0-2BBE-8D4D067B0943}"/>
              </a:ext>
            </a:extLst>
          </p:cNvPr>
          <p:cNvSpPr/>
          <p:nvPr/>
        </p:nvSpPr>
        <p:spPr>
          <a:xfrm rot="16200000">
            <a:off x="10400553" y="320301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F2A414-5695-5F4F-A01E-E9E5405956F9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4B15AB5-55BE-4EBD-8E82-553B671B6459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总体计划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75F6A6E-0DC5-FFE6-563C-8D8006BED604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组织架构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D6068A7-6C05-B79D-025D-47531720DBBF}"/>
              </a:ext>
            </a:extLst>
          </p:cNvPr>
          <p:cNvSpPr txBox="1"/>
          <p:nvPr/>
        </p:nvSpPr>
        <p:spPr>
          <a:xfrm>
            <a:off x="10711051" y="3852336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风险对策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31DB035-1250-F6FA-5CF4-BAF886CF488E}"/>
              </a:ext>
            </a:extLst>
          </p:cNvPr>
          <p:cNvSpPr/>
          <p:nvPr/>
        </p:nvSpPr>
        <p:spPr>
          <a:xfrm>
            <a:off x="160705" y="1200674"/>
            <a:ext cx="4586288" cy="38285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37" name="椭圆 8">
            <a:extLst>
              <a:ext uri="{FF2B5EF4-FFF2-40B4-BE49-F238E27FC236}">
                <a16:creationId xmlns:a16="http://schemas.microsoft.com/office/drawing/2014/main" id="{5D4484EB-C441-BCCF-8896-A1B8D8B75AAA}"/>
              </a:ext>
            </a:extLst>
          </p:cNvPr>
          <p:cNvSpPr/>
          <p:nvPr/>
        </p:nvSpPr>
        <p:spPr>
          <a:xfrm>
            <a:off x="4063696" y="1396673"/>
            <a:ext cx="520518" cy="456618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78FEB1-9C00-3D4F-03CA-271515991913}"/>
              </a:ext>
            </a:extLst>
          </p:cNvPr>
          <p:cNvSpPr/>
          <p:nvPr/>
        </p:nvSpPr>
        <p:spPr>
          <a:xfrm>
            <a:off x="313356" y="1323073"/>
            <a:ext cx="1821367" cy="49782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技术选型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1CBFD4-F00C-F541-2522-08324EFC5001}"/>
              </a:ext>
            </a:extLst>
          </p:cNvPr>
          <p:cNvSpPr/>
          <p:nvPr/>
        </p:nvSpPr>
        <p:spPr>
          <a:xfrm>
            <a:off x="160703" y="5343586"/>
            <a:ext cx="9677169" cy="1285814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21" name="椭圆 34">
            <a:extLst>
              <a:ext uri="{FF2B5EF4-FFF2-40B4-BE49-F238E27FC236}">
                <a16:creationId xmlns:a16="http://schemas.microsoft.com/office/drawing/2014/main" id="{118E9617-0912-668F-7FE7-7998A29D5ACB}"/>
              </a:ext>
            </a:extLst>
          </p:cNvPr>
          <p:cNvSpPr/>
          <p:nvPr/>
        </p:nvSpPr>
        <p:spPr>
          <a:xfrm>
            <a:off x="9084626" y="5446881"/>
            <a:ext cx="520518" cy="324885"/>
          </a:xfrm>
          <a:custGeom>
            <a:avLst/>
            <a:gdLst>
              <a:gd name="connsiteX0" fmla="*/ 509262 w 608697"/>
              <a:gd name="connsiteY0" fmla="*/ 287324 h 379924"/>
              <a:gd name="connsiteX1" fmla="*/ 488226 w 608697"/>
              <a:gd name="connsiteY1" fmla="*/ 308258 h 379924"/>
              <a:gd name="connsiteX2" fmla="*/ 509262 w 608697"/>
              <a:gd name="connsiteY2" fmla="*/ 329266 h 379924"/>
              <a:gd name="connsiteX3" fmla="*/ 530223 w 608697"/>
              <a:gd name="connsiteY3" fmla="*/ 308258 h 379924"/>
              <a:gd name="connsiteX4" fmla="*/ 509262 w 608697"/>
              <a:gd name="connsiteY4" fmla="*/ 287324 h 379924"/>
              <a:gd name="connsiteX5" fmla="*/ 442648 w 608697"/>
              <a:gd name="connsiteY5" fmla="*/ 287324 h 379924"/>
              <a:gd name="connsiteX6" fmla="*/ 421687 w 608697"/>
              <a:gd name="connsiteY6" fmla="*/ 308332 h 379924"/>
              <a:gd name="connsiteX7" fmla="*/ 442648 w 608697"/>
              <a:gd name="connsiteY7" fmla="*/ 329266 h 379924"/>
              <a:gd name="connsiteX8" fmla="*/ 463684 w 608697"/>
              <a:gd name="connsiteY8" fmla="*/ 308332 h 379924"/>
              <a:gd name="connsiteX9" fmla="*/ 442648 w 608697"/>
              <a:gd name="connsiteY9" fmla="*/ 287324 h 379924"/>
              <a:gd name="connsiteX10" fmla="*/ 380436 w 608697"/>
              <a:gd name="connsiteY10" fmla="*/ 284940 h 379924"/>
              <a:gd name="connsiteX11" fmla="*/ 380436 w 608697"/>
              <a:gd name="connsiteY11" fmla="*/ 332469 h 379924"/>
              <a:gd name="connsiteX12" fmla="*/ 399457 w 608697"/>
              <a:gd name="connsiteY12" fmla="*/ 332469 h 379924"/>
              <a:gd name="connsiteX13" fmla="*/ 399457 w 608697"/>
              <a:gd name="connsiteY13" fmla="*/ 284940 h 379924"/>
              <a:gd name="connsiteX14" fmla="*/ 114131 w 608697"/>
              <a:gd name="connsiteY14" fmla="*/ 199418 h 379924"/>
              <a:gd name="connsiteX15" fmla="*/ 171196 w 608697"/>
              <a:gd name="connsiteY15" fmla="*/ 199418 h 379924"/>
              <a:gd name="connsiteX16" fmla="*/ 437501 w 608697"/>
              <a:gd name="connsiteY16" fmla="*/ 199418 h 379924"/>
              <a:gd name="connsiteX17" fmla="*/ 494566 w 608697"/>
              <a:gd name="connsiteY17" fmla="*/ 199418 h 379924"/>
              <a:gd name="connsiteX18" fmla="*/ 513588 w 608697"/>
              <a:gd name="connsiteY18" fmla="*/ 218415 h 379924"/>
              <a:gd name="connsiteX19" fmla="*/ 608697 w 608697"/>
              <a:gd name="connsiteY19" fmla="*/ 360927 h 379924"/>
              <a:gd name="connsiteX20" fmla="*/ 589675 w 608697"/>
              <a:gd name="connsiteY20" fmla="*/ 379924 h 379924"/>
              <a:gd name="connsiteX21" fmla="*/ 19022 w 608697"/>
              <a:gd name="connsiteY21" fmla="*/ 379924 h 379924"/>
              <a:gd name="connsiteX22" fmla="*/ 0 w 608697"/>
              <a:gd name="connsiteY22" fmla="*/ 360927 h 379924"/>
              <a:gd name="connsiteX23" fmla="*/ 95109 w 608697"/>
              <a:gd name="connsiteY23" fmla="*/ 218415 h 379924"/>
              <a:gd name="connsiteX24" fmla="*/ 114131 w 608697"/>
              <a:gd name="connsiteY24" fmla="*/ 199418 h 379924"/>
              <a:gd name="connsiteX25" fmla="*/ 190214 w 608697"/>
              <a:gd name="connsiteY25" fmla="*/ 0 h 379924"/>
              <a:gd name="connsiteX26" fmla="*/ 418484 w 608697"/>
              <a:gd name="connsiteY26" fmla="*/ 0 h 379924"/>
              <a:gd name="connsiteX27" fmla="*/ 437506 w 608697"/>
              <a:gd name="connsiteY27" fmla="*/ 18997 h 379924"/>
              <a:gd name="connsiteX28" fmla="*/ 437506 w 608697"/>
              <a:gd name="connsiteY28" fmla="*/ 180436 h 379924"/>
              <a:gd name="connsiteX29" fmla="*/ 171192 w 608697"/>
              <a:gd name="connsiteY29" fmla="*/ 180436 h 379924"/>
              <a:gd name="connsiteX30" fmla="*/ 171192 w 608697"/>
              <a:gd name="connsiteY30" fmla="*/ 18997 h 379924"/>
              <a:gd name="connsiteX31" fmla="*/ 190214 w 608697"/>
              <a:gd name="connsiteY31" fmla="*/ 0 h 37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8697" h="379924">
                <a:moveTo>
                  <a:pt x="509262" y="287324"/>
                </a:moveTo>
                <a:cubicBezTo>
                  <a:pt x="497625" y="287324"/>
                  <a:pt x="488226" y="296711"/>
                  <a:pt x="488226" y="308258"/>
                </a:cubicBezTo>
                <a:cubicBezTo>
                  <a:pt x="488226" y="319879"/>
                  <a:pt x="497625" y="329266"/>
                  <a:pt x="509262" y="329266"/>
                </a:cubicBezTo>
                <a:cubicBezTo>
                  <a:pt x="520824" y="329266"/>
                  <a:pt x="530223" y="319879"/>
                  <a:pt x="530223" y="308258"/>
                </a:cubicBezTo>
                <a:cubicBezTo>
                  <a:pt x="530223" y="296711"/>
                  <a:pt x="520824" y="287324"/>
                  <a:pt x="509262" y="287324"/>
                </a:cubicBezTo>
                <a:close/>
                <a:moveTo>
                  <a:pt x="442648" y="287324"/>
                </a:moveTo>
                <a:cubicBezTo>
                  <a:pt x="431086" y="287324"/>
                  <a:pt x="421687" y="296711"/>
                  <a:pt x="421687" y="308332"/>
                </a:cubicBezTo>
                <a:cubicBezTo>
                  <a:pt x="421687" y="319879"/>
                  <a:pt x="431086" y="329266"/>
                  <a:pt x="442648" y="329266"/>
                </a:cubicBezTo>
                <a:cubicBezTo>
                  <a:pt x="454285" y="329266"/>
                  <a:pt x="463684" y="319879"/>
                  <a:pt x="463684" y="308332"/>
                </a:cubicBezTo>
                <a:cubicBezTo>
                  <a:pt x="463684" y="296711"/>
                  <a:pt x="454285" y="287324"/>
                  <a:pt x="442648" y="287324"/>
                </a:cubicBezTo>
                <a:close/>
                <a:moveTo>
                  <a:pt x="380436" y="284940"/>
                </a:moveTo>
                <a:lnTo>
                  <a:pt x="380436" y="332469"/>
                </a:lnTo>
                <a:lnTo>
                  <a:pt x="399457" y="332469"/>
                </a:lnTo>
                <a:lnTo>
                  <a:pt x="399457" y="284940"/>
                </a:lnTo>
                <a:close/>
                <a:moveTo>
                  <a:pt x="114131" y="199418"/>
                </a:moveTo>
                <a:lnTo>
                  <a:pt x="171196" y="199418"/>
                </a:lnTo>
                <a:lnTo>
                  <a:pt x="437501" y="199418"/>
                </a:lnTo>
                <a:lnTo>
                  <a:pt x="494566" y="199418"/>
                </a:lnTo>
                <a:cubicBezTo>
                  <a:pt x="505084" y="199418"/>
                  <a:pt x="505681" y="206942"/>
                  <a:pt x="513588" y="218415"/>
                </a:cubicBezTo>
                <a:lnTo>
                  <a:pt x="608697" y="360927"/>
                </a:lnTo>
                <a:cubicBezTo>
                  <a:pt x="608697" y="371431"/>
                  <a:pt x="608697" y="379924"/>
                  <a:pt x="589675" y="379924"/>
                </a:cubicBezTo>
                <a:lnTo>
                  <a:pt x="19022" y="379924"/>
                </a:lnTo>
                <a:cubicBezTo>
                  <a:pt x="0" y="379924"/>
                  <a:pt x="0" y="371431"/>
                  <a:pt x="0" y="360927"/>
                </a:cubicBezTo>
                <a:lnTo>
                  <a:pt x="95109" y="218415"/>
                </a:lnTo>
                <a:cubicBezTo>
                  <a:pt x="101450" y="208954"/>
                  <a:pt x="103613" y="199418"/>
                  <a:pt x="114131" y="199418"/>
                </a:cubicBezTo>
                <a:close/>
                <a:moveTo>
                  <a:pt x="190214" y="0"/>
                </a:moveTo>
                <a:lnTo>
                  <a:pt x="418484" y="0"/>
                </a:lnTo>
                <a:cubicBezTo>
                  <a:pt x="429002" y="0"/>
                  <a:pt x="437506" y="8493"/>
                  <a:pt x="437506" y="18997"/>
                </a:cubicBezTo>
                <a:lnTo>
                  <a:pt x="437506" y="180436"/>
                </a:lnTo>
                <a:lnTo>
                  <a:pt x="171192" y="180436"/>
                </a:lnTo>
                <a:lnTo>
                  <a:pt x="171192" y="18997"/>
                </a:lnTo>
                <a:cubicBezTo>
                  <a:pt x="171192" y="8493"/>
                  <a:pt x="179696" y="0"/>
                  <a:pt x="1902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5" name="椭圆 37">
            <a:extLst>
              <a:ext uri="{FF2B5EF4-FFF2-40B4-BE49-F238E27FC236}">
                <a16:creationId xmlns:a16="http://schemas.microsoft.com/office/drawing/2014/main" id="{48FEA6E7-47A0-29F7-A8D6-5C330C07F624}"/>
              </a:ext>
            </a:extLst>
          </p:cNvPr>
          <p:cNvSpPr/>
          <p:nvPr/>
        </p:nvSpPr>
        <p:spPr>
          <a:xfrm>
            <a:off x="9139685" y="1336666"/>
            <a:ext cx="465459" cy="520518"/>
          </a:xfrm>
          <a:custGeom>
            <a:avLst/>
            <a:gdLst>
              <a:gd name="T0" fmla="*/ 3531 w 3631"/>
              <a:gd name="T1" fmla="*/ 0 h 4067"/>
              <a:gd name="T2" fmla="*/ 1249 w 3631"/>
              <a:gd name="T3" fmla="*/ 0 h 4067"/>
              <a:gd name="T4" fmla="*/ 1178 w 3631"/>
              <a:gd name="T5" fmla="*/ 29 h 4067"/>
              <a:gd name="T6" fmla="*/ 29 w 3631"/>
              <a:gd name="T7" fmla="*/ 1179 h 4067"/>
              <a:gd name="T8" fmla="*/ 0 w 3631"/>
              <a:gd name="T9" fmla="*/ 1249 h 4067"/>
              <a:gd name="T10" fmla="*/ 0 w 3631"/>
              <a:gd name="T11" fmla="*/ 3967 h 4067"/>
              <a:gd name="T12" fmla="*/ 100 w 3631"/>
              <a:gd name="T13" fmla="*/ 4067 h 4067"/>
              <a:gd name="T14" fmla="*/ 3531 w 3631"/>
              <a:gd name="T15" fmla="*/ 4067 h 4067"/>
              <a:gd name="T16" fmla="*/ 3631 w 3631"/>
              <a:gd name="T17" fmla="*/ 3967 h 4067"/>
              <a:gd name="T18" fmla="*/ 3631 w 3631"/>
              <a:gd name="T19" fmla="*/ 100 h 4067"/>
              <a:gd name="T20" fmla="*/ 3531 w 3631"/>
              <a:gd name="T21" fmla="*/ 0 h 4067"/>
              <a:gd name="T22" fmla="*/ 2636 w 3631"/>
              <a:gd name="T23" fmla="*/ 1442 h 4067"/>
              <a:gd name="T24" fmla="*/ 2932 w 3631"/>
              <a:gd name="T25" fmla="*/ 1442 h 4067"/>
              <a:gd name="T26" fmla="*/ 2932 w 3631"/>
              <a:gd name="T27" fmla="*/ 449 h 4067"/>
              <a:gd name="T28" fmla="*/ 2998 w 3631"/>
              <a:gd name="T29" fmla="*/ 382 h 4067"/>
              <a:gd name="T30" fmla="*/ 3065 w 3631"/>
              <a:gd name="T31" fmla="*/ 449 h 4067"/>
              <a:gd name="T32" fmla="*/ 3065 w 3631"/>
              <a:gd name="T33" fmla="*/ 1509 h 4067"/>
              <a:gd name="T34" fmla="*/ 2998 w 3631"/>
              <a:gd name="T35" fmla="*/ 1575 h 4067"/>
              <a:gd name="T36" fmla="*/ 2636 w 3631"/>
              <a:gd name="T37" fmla="*/ 1575 h 4067"/>
              <a:gd name="T38" fmla="*/ 2569 w 3631"/>
              <a:gd name="T39" fmla="*/ 1509 h 4067"/>
              <a:gd name="T40" fmla="*/ 2636 w 3631"/>
              <a:gd name="T41" fmla="*/ 1442 h 4067"/>
              <a:gd name="T42" fmla="*/ 1966 w 3631"/>
              <a:gd name="T43" fmla="*/ 1442 h 4067"/>
              <a:gd name="T44" fmla="*/ 2262 w 3631"/>
              <a:gd name="T45" fmla="*/ 1442 h 4067"/>
              <a:gd name="T46" fmla="*/ 2262 w 3631"/>
              <a:gd name="T47" fmla="*/ 449 h 4067"/>
              <a:gd name="T48" fmla="*/ 2329 w 3631"/>
              <a:gd name="T49" fmla="*/ 382 h 4067"/>
              <a:gd name="T50" fmla="*/ 2395 w 3631"/>
              <a:gd name="T51" fmla="*/ 449 h 4067"/>
              <a:gd name="T52" fmla="*/ 2395 w 3631"/>
              <a:gd name="T53" fmla="*/ 1509 h 4067"/>
              <a:gd name="T54" fmla="*/ 2329 w 3631"/>
              <a:gd name="T55" fmla="*/ 1575 h 4067"/>
              <a:gd name="T56" fmla="*/ 1966 w 3631"/>
              <a:gd name="T57" fmla="*/ 1575 h 4067"/>
              <a:gd name="T58" fmla="*/ 1899 w 3631"/>
              <a:gd name="T59" fmla="*/ 1509 h 4067"/>
              <a:gd name="T60" fmla="*/ 1966 w 3631"/>
              <a:gd name="T61" fmla="*/ 1442 h 4067"/>
              <a:gd name="T62" fmla="*/ 1296 w 3631"/>
              <a:gd name="T63" fmla="*/ 1442 h 4067"/>
              <a:gd name="T64" fmla="*/ 1592 w 3631"/>
              <a:gd name="T65" fmla="*/ 1442 h 4067"/>
              <a:gd name="T66" fmla="*/ 1592 w 3631"/>
              <a:gd name="T67" fmla="*/ 449 h 4067"/>
              <a:gd name="T68" fmla="*/ 1659 w 3631"/>
              <a:gd name="T69" fmla="*/ 382 h 4067"/>
              <a:gd name="T70" fmla="*/ 1726 w 3631"/>
              <a:gd name="T71" fmla="*/ 449 h 4067"/>
              <a:gd name="T72" fmla="*/ 1726 w 3631"/>
              <a:gd name="T73" fmla="*/ 1509 h 4067"/>
              <a:gd name="T74" fmla="*/ 1659 w 3631"/>
              <a:gd name="T75" fmla="*/ 1575 h 4067"/>
              <a:gd name="T76" fmla="*/ 1296 w 3631"/>
              <a:gd name="T77" fmla="*/ 1575 h 4067"/>
              <a:gd name="T78" fmla="*/ 1230 w 3631"/>
              <a:gd name="T79" fmla="*/ 1509 h 4067"/>
              <a:gd name="T80" fmla="*/ 1296 w 3631"/>
              <a:gd name="T81" fmla="*/ 1442 h 4067"/>
              <a:gd name="T82" fmla="*/ 3121 w 3631"/>
              <a:gd name="T83" fmla="*/ 3413 h 4067"/>
              <a:gd name="T84" fmla="*/ 510 w 3631"/>
              <a:gd name="T85" fmla="*/ 3413 h 4067"/>
              <a:gd name="T86" fmla="*/ 510 w 3631"/>
              <a:gd name="T87" fmla="*/ 2126 h 4067"/>
              <a:gd name="T88" fmla="*/ 3121 w 3631"/>
              <a:gd name="T89" fmla="*/ 2126 h 4067"/>
              <a:gd name="T90" fmla="*/ 3121 w 3631"/>
              <a:gd name="T91" fmla="*/ 3413 h 4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631" h="4067">
                <a:moveTo>
                  <a:pt x="3531" y="0"/>
                </a:moveTo>
                <a:lnTo>
                  <a:pt x="1249" y="0"/>
                </a:lnTo>
                <a:cubicBezTo>
                  <a:pt x="1222" y="0"/>
                  <a:pt x="1197" y="11"/>
                  <a:pt x="1178" y="29"/>
                </a:cubicBezTo>
                <a:lnTo>
                  <a:pt x="29" y="1179"/>
                </a:lnTo>
                <a:cubicBezTo>
                  <a:pt x="10" y="1197"/>
                  <a:pt x="0" y="1223"/>
                  <a:pt x="0" y="1249"/>
                </a:cubicBezTo>
                <a:lnTo>
                  <a:pt x="0" y="3967"/>
                </a:lnTo>
                <a:cubicBezTo>
                  <a:pt x="0" y="4022"/>
                  <a:pt x="44" y="4067"/>
                  <a:pt x="100" y="4067"/>
                </a:cubicBezTo>
                <a:lnTo>
                  <a:pt x="3531" y="4067"/>
                </a:lnTo>
                <a:cubicBezTo>
                  <a:pt x="3586" y="4067"/>
                  <a:pt x="3631" y="4022"/>
                  <a:pt x="3631" y="3967"/>
                </a:cubicBezTo>
                <a:lnTo>
                  <a:pt x="3631" y="100"/>
                </a:lnTo>
                <a:cubicBezTo>
                  <a:pt x="3631" y="45"/>
                  <a:pt x="3586" y="0"/>
                  <a:pt x="3531" y="0"/>
                </a:cubicBezTo>
                <a:close/>
                <a:moveTo>
                  <a:pt x="2636" y="1442"/>
                </a:moveTo>
                <a:lnTo>
                  <a:pt x="2932" y="1442"/>
                </a:lnTo>
                <a:lnTo>
                  <a:pt x="2932" y="449"/>
                </a:lnTo>
                <a:cubicBezTo>
                  <a:pt x="2932" y="412"/>
                  <a:pt x="2961" y="382"/>
                  <a:pt x="2998" y="382"/>
                </a:cubicBezTo>
                <a:cubicBezTo>
                  <a:pt x="3035" y="382"/>
                  <a:pt x="3065" y="412"/>
                  <a:pt x="3065" y="449"/>
                </a:cubicBezTo>
                <a:lnTo>
                  <a:pt x="3065" y="1509"/>
                </a:lnTo>
                <a:cubicBezTo>
                  <a:pt x="3065" y="1546"/>
                  <a:pt x="3035" y="1575"/>
                  <a:pt x="2998" y="1575"/>
                </a:cubicBezTo>
                <a:lnTo>
                  <a:pt x="2636" y="1575"/>
                </a:lnTo>
                <a:cubicBezTo>
                  <a:pt x="2599" y="1575"/>
                  <a:pt x="2569" y="1546"/>
                  <a:pt x="2569" y="1509"/>
                </a:cubicBezTo>
                <a:cubicBezTo>
                  <a:pt x="2569" y="1472"/>
                  <a:pt x="2599" y="1442"/>
                  <a:pt x="2636" y="1442"/>
                </a:cubicBezTo>
                <a:close/>
                <a:moveTo>
                  <a:pt x="1966" y="1442"/>
                </a:moveTo>
                <a:lnTo>
                  <a:pt x="2262" y="1442"/>
                </a:lnTo>
                <a:lnTo>
                  <a:pt x="2262" y="449"/>
                </a:lnTo>
                <a:cubicBezTo>
                  <a:pt x="2262" y="412"/>
                  <a:pt x="2292" y="382"/>
                  <a:pt x="2329" y="382"/>
                </a:cubicBezTo>
                <a:cubicBezTo>
                  <a:pt x="2366" y="382"/>
                  <a:pt x="2395" y="412"/>
                  <a:pt x="2395" y="449"/>
                </a:cubicBezTo>
                <a:lnTo>
                  <a:pt x="2395" y="1509"/>
                </a:lnTo>
                <a:cubicBezTo>
                  <a:pt x="2395" y="1546"/>
                  <a:pt x="2366" y="1575"/>
                  <a:pt x="2329" y="1575"/>
                </a:cubicBezTo>
                <a:lnTo>
                  <a:pt x="1966" y="1575"/>
                </a:lnTo>
                <a:cubicBezTo>
                  <a:pt x="1929" y="1575"/>
                  <a:pt x="1899" y="1546"/>
                  <a:pt x="1899" y="1509"/>
                </a:cubicBezTo>
                <a:cubicBezTo>
                  <a:pt x="1899" y="1472"/>
                  <a:pt x="1929" y="1442"/>
                  <a:pt x="1966" y="1442"/>
                </a:cubicBezTo>
                <a:close/>
                <a:moveTo>
                  <a:pt x="1296" y="1442"/>
                </a:moveTo>
                <a:lnTo>
                  <a:pt x="1592" y="1442"/>
                </a:lnTo>
                <a:lnTo>
                  <a:pt x="1592" y="449"/>
                </a:lnTo>
                <a:cubicBezTo>
                  <a:pt x="1592" y="412"/>
                  <a:pt x="1622" y="382"/>
                  <a:pt x="1659" y="382"/>
                </a:cubicBezTo>
                <a:cubicBezTo>
                  <a:pt x="1696" y="382"/>
                  <a:pt x="1726" y="412"/>
                  <a:pt x="1726" y="449"/>
                </a:cubicBezTo>
                <a:lnTo>
                  <a:pt x="1726" y="1509"/>
                </a:lnTo>
                <a:cubicBezTo>
                  <a:pt x="1726" y="1546"/>
                  <a:pt x="1696" y="1575"/>
                  <a:pt x="1659" y="1575"/>
                </a:cubicBezTo>
                <a:lnTo>
                  <a:pt x="1296" y="1575"/>
                </a:lnTo>
                <a:cubicBezTo>
                  <a:pt x="1260" y="1575"/>
                  <a:pt x="1230" y="1546"/>
                  <a:pt x="1230" y="1509"/>
                </a:cubicBezTo>
                <a:cubicBezTo>
                  <a:pt x="1230" y="1472"/>
                  <a:pt x="1260" y="1442"/>
                  <a:pt x="1296" y="1442"/>
                </a:cubicBezTo>
                <a:close/>
                <a:moveTo>
                  <a:pt x="3121" y="3413"/>
                </a:moveTo>
                <a:lnTo>
                  <a:pt x="510" y="3413"/>
                </a:lnTo>
                <a:lnTo>
                  <a:pt x="510" y="2126"/>
                </a:lnTo>
                <a:lnTo>
                  <a:pt x="3121" y="2126"/>
                </a:lnTo>
                <a:lnTo>
                  <a:pt x="3121" y="34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DB6FFE11-BC0C-BFA4-6A2D-CB89BA67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8" y="1956586"/>
            <a:ext cx="44137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开发语言: Python 3.10+ (后端核心语言)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Web 框架: FastAPI (高性能、异步 I/O，非常适合轻量级服务)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数据库: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PostgreSQL</a:t>
            </a:r>
            <a:r>
              <a:rPr lang="en-US" altLang="zh-CN" dirty="0"/>
              <a:t>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(稳定可靠的关系型数据库，性能优秀)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用户鉴权: JWT (JSON Web Tokens，实现无状态身份验证，节省服务器资源)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7C8721-B0F5-2648-5D92-6D45C2C65BCD}"/>
              </a:ext>
            </a:extLst>
          </p:cNvPr>
          <p:cNvSpPr/>
          <p:nvPr/>
        </p:nvSpPr>
        <p:spPr>
          <a:xfrm>
            <a:off x="5251585" y="1200675"/>
            <a:ext cx="4586288" cy="38285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52DDD81-69A4-7CCB-36DA-B38E4A163A79}"/>
              </a:ext>
            </a:extLst>
          </p:cNvPr>
          <p:cNvSpPr/>
          <p:nvPr/>
        </p:nvSpPr>
        <p:spPr>
          <a:xfrm>
            <a:off x="5404236" y="1341368"/>
            <a:ext cx="2860893" cy="49782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核心技能模块划分</a:t>
            </a: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E0CE45CE-4B3D-3467-02B1-A7BC5000F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355" y="1993175"/>
            <a:ext cx="421132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B-4-1：用户与权限 API 模块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实现用户注册、登录、Token 颁发与验证。负责教师、学生、管理员的权限控制逻辑。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B-4-2：题库与代码存储管理模块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定义题目数据结构。代码文件的安全存储与路径管理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B-4-3：成绩分析与数据维护模块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接收评分结果。提供多维度的成绩查询、统计与备份接口。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C777AD0-5682-F933-5C3D-E71ADEDE07CE}"/>
              </a:ext>
            </a:extLst>
          </p:cNvPr>
          <p:cNvSpPr txBox="1"/>
          <p:nvPr/>
        </p:nvSpPr>
        <p:spPr>
          <a:xfrm>
            <a:off x="305758" y="5461327"/>
            <a:ext cx="90548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人员分工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1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郭仕恒（组长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接口定义）、许泽文（数据库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安全）、孙振阳（业务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API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开发）。</a:t>
            </a:r>
          </a:p>
        </p:txBody>
      </p:sp>
    </p:spTree>
    <p:extLst>
      <p:ext uri="{BB962C8B-B14F-4D97-AF65-F5344CB8AC3E}">
        <p14:creationId xmlns:p14="http://schemas.microsoft.com/office/powerpoint/2010/main" val="239511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项目风险点和对策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04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1087-836A-2754-B981-B9D657F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A02CB-D459-F7BD-1201-ED802901A9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项目风险点与对策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F6FF3DB-5257-55BF-D15D-C8A4985642E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673A9AFE-09A4-332D-9449-5B8EBE094DA5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265B17B5-5C06-CACB-6C39-7D974B07E3B6}"/>
              </a:ext>
            </a:extLst>
          </p:cNvPr>
          <p:cNvSpPr/>
          <p:nvPr/>
        </p:nvSpPr>
        <p:spPr>
          <a:xfrm rot="16200000">
            <a:off x="10400553" y="3997099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1C0D42-C964-16D0-9CFD-96D50F755FEF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05BCAE8-726E-A253-AD20-A67333F5DECD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总体计划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C9CB8E-9C25-02A0-9CA8-DD95868B8346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组织架构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0F4A06-787E-A3C4-4FFF-5CA47759132A}"/>
              </a:ext>
            </a:extLst>
          </p:cNvPr>
          <p:cNvSpPr txBox="1"/>
          <p:nvPr/>
        </p:nvSpPr>
        <p:spPr>
          <a:xfrm>
            <a:off x="10711051" y="3852336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风险对策</a:t>
            </a:r>
          </a:p>
        </p:txBody>
      </p:sp>
      <p:sp>
        <p:nvSpPr>
          <p:cNvPr id="3" name="圆角矩形 19">
            <a:extLst>
              <a:ext uri="{FF2B5EF4-FFF2-40B4-BE49-F238E27FC236}">
                <a16:creationId xmlns:a16="http://schemas.microsoft.com/office/drawing/2014/main" id="{7FDEF8BE-6DE9-E187-4530-663CCF657DBF}"/>
              </a:ext>
            </a:extLst>
          </p:cNvPr>
          <p:cNvSpPr/>
          <p:nvPr/>
        </p:nvSpPr>
        <p:spPr>
          <a:xfrm rot="5400000" flipH="1">
            <a:off x="3994660" y="-1613863"/>
            <a:ext cx="1460936" cy="75706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4" name="圆角矩形 20">
            <a:extLst>
              <a:ext uri="{FF2B5EF4-FFF2-40B4-BE49-F238E27FC236}">
                <a16:creationId xmlns:a16="http://schemas.microsoft.com/office/drawing/2014/main" id="{EE640E52-0EB8-6977-B400-735F1040B17F}"/>
              </a:ext>
            </a:extLst>
          </p:cNvPr>
          <p:cNvSpPr/>
          <p:nvPr/>
        </p:nvSpPr>
        <p:spPr>
          <a:xfrm>
            <a:off x="1020106" y="1494910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BF02A069-9199-32FB-0A14-1C22C3C492E7}"/>
              </a:ext>
            </a:extLst>
          </p:cNvPr>
          <p:cNvSpPr/>
          <p:nvPr/>
        </p:nvSpPr>
        <p:spPr>
          <a:xfrm rot="5400000" flipH="1">
            <a:off x="7086933" y="1494910"/>
            <a:ext cx="1353108" cy="135310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6" name="任意多边形 22">
            <a:extLst>
              <a:ext uri="{FF2B5EF4-FFF2-40B4-BE49-F238E27FC236}">
                <a16:creationId xmlns:a16="http://schemas.microsoft.com/office/drawing/2014/main" id="{0DBC93FA-9F0C-BBF4-8F87-4263AC61C2B1}"/>
              </a:ext>
            </a:extLst>
          </p:cNvPr>
          <p:cNvSpPr/>
          <p:nvPr/>
        </p:nvSpPr>
        <p:spPr bwMode="auto">
          <a:xfrm>
            <a:off x="1735764" y="1679047"/>
            <a:ext cx="317106" cy="301192"/>
          </a:xfrm>
          <a:custGeom>
            <a:avLst/>
            <a:gdLst>
              <a:gd name="connsiteX0" fmla="*/ 393307 w 442913"/>
              <a:gd name="connsiteY0" fmla="*/ 42025 h 420687"/>
              <a:gd name="connsiteX1" fmla="*/ 404196 w 442913"/>
              <a:gd name="connsiteY1" fmla="*/ 48258 h 420687"/>
              <a:gd name="connsiteX2" fmla="*/ 411973 w 442913"/>
              <a:gd name="connsiteY2" fmla="*/ 137862 h 420687"/>
              <a:gd name="connsiteX3" fmla="*/ 404196 w 442913"/>
              <a:gd name="connsiteY3" fmla="*/ 142537 h 420687"/>
              <a:gd name="connsiteX4" fmla="*/ 385529 w 442913"/>
              <a:gd name="connsiteY4" fmla="*/ 130849 h 420687"/>
              <a:gd name="connsiteX5" fmla="*/ 371529 w 442913"/>
              <a:gd name="connsiteY5" fmla="*/ 133966 h 420687"/>
              <a:gd name="connsiteX6" fmla="*/ 282086 w 442913"/>
              <a:gd name="connsiteY6" fmla="*/ 267203 h 420687"/>
              <a:gd name="connsiteX7" fmla="*/ 267308 w 442913"/>
              <a:gd name="connsiteY7" fmla="*/ 272658 h 420687"/>
              <a:gd name="connsiteX8" fmla="*/ 167754 w 442913"/>
              <a:gd name="connsiteY8" fmla="*/ 234478 h 420687"/>
              <a:gd name="connsiteX9" fmla="*/ 151421 w 442913"/>
              <a:gd name="connsiteY9" fmla="*/ 239153 h 420687"/>
              <a:gd name="connsiteX10" fmla="*/ 72088 w 442913"/>
              <a:gd name="connsiteY10" fmla="*/ 331874 h 420687"/>
              <a:gd name="connsiteX11" fmla="*/ 65088 w 442913"/>
              <a:gd name="connsiteY11" fmla="*/ 329537 h 420687"/>
              <a:gd name="connsiteX12" fmla="*/ 65088 w 442913"/>
              <a:gd name="connsiteY12" fmla="*/ 267983 h 420687"/>
              <a:gd name="connsiteX13" fmla="*/ 72088 w 442913"/>
              <a:gd name="connsiteY13" fmla="*/ 250062 h 420687"/>
              <a:gd name="connsiteX14" fmla="*/ 133532 w 442913"/>
              <a:gd name="connsiteY14" fmla="*/ 174483 h 420687"/>
              <a:gd name="connsiteX15" fmla="*/ 149865 w 442913"/>
              <a:gd name="connsiteY15" fmla="*/ 170587 h 420687"/>
              <a:gd name="connsiteX16" fmla="*/ 248642 w 442913"/>
              <a:gd name="connsiteY16" fmla="*/ 207987 h 420687"/>
              <a:gd name="connsiteX17" fmla="*/ 264197 w 442913"/>
              <a:gd name="connsiteY17" fmla="*/ 202533 h 420687"/>
              <a:gd name="connsiteX18" fmla="*/ 327196 w 442913"/>
              <a:gd name="connsiteY18" fmla="*/ 106695 h 420687"/>
              <a:gd name="connsiteX19" fmla="*/ 324085 w 442913"/>
              <a:gd name="connsiteY19" fmla="*/ 91891 h 420687"/>
              <a:gd name="connsiteX20" fmla="*/ 308530 w 442913"/>
              <a:gd name="connsiteY20" fmla="*/ 82541 h 420687"/>
              <a:gd name="connsiteX21" fmla="*/ 309308 w 442913"/>
              <a:gd name="connsiteY21" fmla="*/ 73191 h 420687"/>
              <a:gd name="connsiteX22" fmla="*/ 393307 w 442913"/>
              <a:gd name="connsiteY22" fmla="*/ 42025 h 420687"/>
              <a:gd name="connsiteX23" fmla="*/ 16289 w 442913"/>
              <a:gd name="connsiteY23" fmla="*/ 0 h 420687"/>
              <a:gd name="connsiteX24" fmla="*/ 33354 w 442913"/>
              <a:gd name="connsiteY24" fmla="*/ 13971 h 420687"/>
              <a:gd name="connsiteX25" fmla="*/ 33354 w 442913"/>
              <a:gd name="connsiteY25" fmla="*/ 366355 h 420687"/>
              <a:gd name="connsiteX26" fmla="*/ 53522 w 442913"/>
              <a:gd name="connsiteY26" fmla="*/ 386535 h 420687"/>
              <a:gd name="connsiteX27" fmla="*/ 429727 w 442913"/>
              <a:gd name="connsiteY27" fmla="*/ 386535 h 420687"/>
              <a:gd name="connsiteX28" fmla="*/ 442913 w 442913"/>
              <a:gd name="connsiteY28" fmla="*/ 403611 h 420687"/>
              <a:gd name="connsiteX29" fmla="*/ 429727 w 442913"/>
              <a:gd name="connsiteY29" fmla="*/ 420687 h 420687"/>
              <a:gd name="connsiteX30" fmla="*/ 20168 w 442913"/>
              <a:gd name="connsiteY30" fmla="*/ 420687 h 420687"/>
              <a:gd name="connsiteX31" fmla="*/ 0 w 442913"/>
              <a:gd name="connsiteY31" fmla="*/ 399730 h 420687"/>
              <a:gd name="connsiteX32" fmla="*/ 0 w 442913"/>
              <a:gd name="connsiteY32" fmla="*/ 13971 h 420687"/>
              <a:gd name="connsiteX33" fmla="*/ 16289 w 442913"/>
              <a:gd name="connsiteY33" fmla="*/ 0 h 42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42913" h="420687">
                <a:moveTo>
                  <a:pt x="393307" y="42025"/>
                </a:moveTo>
                <a:cubicBezTo>
                  <a:pt x="398751" y="39687"/>
                  <a:pt x="403418" y="42804"/>
                  <a:pt x="404196" y="48258"/>
                </a:cubicBezTo>
                <a:cubicBezTo>
                  <a:pt x="404196" y="48258"/>
                  <a:pt x="404196" y="48258"/>
                  <a:pt x="411973" y="137862"/>
                </a:cubicBezTo>
                <a:cubicBezTo>
                  <a:pt x="412751" y="143316"/>
                  <a:pt x="408862" y="145654"/>
                  <a:pt x="404196" y="142537"/>
                </a:cubicBezTo>
                <a:lnTo>
                  <a:pt x="385529" y="130849"/>
                </a:lnTo>
                <a:cubicBezTo>
                  <a:pt x="380863" y="127733"/>
                  <a:pt x="374640" y="129291"/>
                  <a:pt x="371529" y="133966"/>
                </a:cubicBezTo>
                <a:cubicBezTo>
                  <a:pt x="371529" y="133966"/>
                  <a:pt x="371529" y="133966"/>
                  <a:pt x="282086" y="267203"/>
                </a:cubicBezTo>
                <a:cubicBezTo>
                  <a:pt x="278975" y="271878"/>
                  <a:pt x="271975" y="274216"/>
                  <a:pt x="267308" y="272658"/>
                </a:cubicBezTo>
                <a:cubicBezTo>
                  <a:pt x="267308" y="272658"/>
                  <a:pt x="267308" y="272658"/>
                  <a:pt x="167754" y="234478"/>
                </a:cubicBezTo>
                <a:cubicBezTo>
                  <a:pt x="162309" y="232920"/>
                  <a:pt x="155309" y="234478"/>
                  <a:pt x="151421" y="239153"/>
                </a:cubicBezTo>
                <a:cubicBezTo>
                  <a:pt x="151421" y="239153"/>
                  <a:pt x="151421" y="239153"/>
                  <a:pt x="72088" y="331874"/>
                </a:cubicBezTo>
                <a:cubicBezTo>
                  <a:pt x="68199" y="336549"/>
                  <a:pt x="65088" y="334991"/>
                  <a:pt x="65088" y="329537"/>
                </a:cubicBezTo>
                <a:cubicBezTo>
                  <a:pt x="65088" y="329537"/>
                  <a:pt x="65088" y="329537"/>
                  <a:pt x="65088" y="267983"/>
                </a:cubicBezTo>
                <a:cubicBezTo>
                  <a:pt x="65088" y="262528"/>
                  <a:pt x="68199" y="253958"/>
                  <a:pt x="72088" y="250062"/>
                </a:cubicBezTo>
                <a:cubicBezTo>
                  <a:pt x="72088" y="250062"/>
                  <a:pt x="72088" y="250062"/>
                  <a:pt x="133532" y="174483"/>
                </a:cubicBezTo>
                <a:cubicBezTo>
                  <a:pt x="137421" y="170587"/>
                  <a:pt x="145198" y="168249"/>
                  <a:pt x="149865" y="170587"/>
                </a:cubicBezTo>
                <a:cubicBezTo>
                  <a:pt x="149865" y="170587"/>
                  <a:pt x="149865" y="170587"/>
                  <a:pt x="248642" y="207987"/>
                </a:cubicBezTo>
                <a:cubicBezTo>
                  <a:pt x="254086" y="209545"/>
                  <a:pt x="261086" y="207208"/>
                  <a:pt x="264197" y="202533"/>
                </a:cubicBezTo>
                <a:cubicBezTo>
                  <a:pt x="264197" y="202533"/>
                  <a:pt x="264197" y="202533"/>
                  <a:pt x="327196" y="106695"/>
                </a:cubicBezTo>
                <a:cubicBezTo>
                  <a:pt x="330308" y="101241"/>
                  <a:pt x="328752" y="95008"/>
                  <a:pt x="324085" y="91891"/>
                </a:cubicBezTo>
                <a:cubicBezTo>
                  <a:pt x="324085" y="91891"/>
                  <a:pt x="324085" y="91891"/>
                  <a:pt x="308530" y="82541"/>
                </a:cubicBezTo>
                <a:cubicBezTo>
                  <a:pt x="303863" y="79424"/>
                  <a:pt x="304641" y="75529"/>
                  <a:pt x="309308" y="73191"/>
                </a:cubicBezTo>
                <a:cubicBezTo>
                  <a:pt x="309308" y="73191"/>
                  <a:pt x="309308" y="73191"/>
                  <a:pt x="393307" y="42025"/>
                </a:cubicBezTo>
                <a:close/>
                <a:moveTo>
                  <a:pt x="16289" y="0"/>
                </a:moveTo>
                <a:cubicBezTo>
                  <a:pt x="25597" y="0"/>
                  <a:pt x="33354" y="2328"/>
                  <a:pt x="33354" y="13971"/>
                </a:cubicBezTo>
                <a:cubicBezTo>
                  <a:pt x="33354" y="366355"/>
                  <a:pt x="33354" y="366355"/>
                  <a:pt x="33354" y="366355"/>
                </a:cubicBezTo>
                <a:cubicBezTo>
                  <a:pt x="33354" y="377221"/>
                  <a:pt x="42662" y="386535"/>
                  <a:pt x="53522" y="386535"/>
                </a:cubicBezTo>
                <a:cubicBezTo>
                  <a:pt x="429727" y="386535"/>
                  <a:pt x="429727" y="386535"/>
                  <a:pt x="429727" y="386535"/>
                </a:cubicBezTo>
                <a:cubicBezTo>
                  <a:pt x="440586" y="386535"/>
                  <a:pt x="442913" y="394297"/>
                  <a:pt x="442913" y="403611"/>
                </a:cubicBezTo>
                <a:cubicBezTo>
                  <a:pt x="442913" y="412925"/>
                  <a:pt x="440586" y="420687"/>
                  <a:pt x="429727" y="420687"/>
                </a:cubicBezTo>
                <a:cubicBezTo>
                  <a:pt x="20168" y="420687"/>
                  <a:pt x="20168" y="420687"/>
                  <a:pt x="20168" y="420687"/>
                </a:cubicBezTo>
                <a:cubicBezTo>
                  <a:pt x="9308" y="420687"/>
                  <a:pt x="0" y="410597"/>
                  <a:pt x="0" y="399730"/>
                </a:cubicBezTo>
                <a:cubicBezTo>
                  <a:pt x="0" y="13971"/>
                  <a:pt x="0" y="13971"/>
                  <a:pt x="0" y="13971"/>
                </a:cubicBezTo>
                <a:cubicBezTo>
                  <a:pt x="0" y="2328"/>
                  <a:pt x="6981" y="0"/>
                  <a:pt x="162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A7245A61-13F3-650D-E911-B8FF31319219}"/>
              </a:ext>
            </a:extLst>
          </p:cNvPr>
          <p:cNvSpPr txBox="1"/>
          <p:nvPr/>
        </p:nvSpPr>
        <p:spPr>
          <a:xfrm>
            <a:off x="3042137" y="1648244"/>
            <a:ext cx="4525725" cy="1046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硬件资源受限（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512MB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内存）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i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对策：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采用轻量化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FastAPI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异步架构，优化数据库连接池。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B63063E-500F-1D27-0181-3C57F82867C4}"/>
              </a:ext>
            </a:extLst>
          </p:cNvPr>
          <p:cNvSpPr txBox="1"/>
          <p:nvPr/>
        </p:nvSpPr>
        <p:spPr>
          <a:xfrm>
            <a:off x="1280006" y="2142888"/>
            <a:ext cx="12286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风险一</a:t>
            </a:r>
          </a:p>
        </p:txBody>
      </p:sp>
      <p:sp>
        <p:nvSpPr>
          <p:cNvPr id="9" name="圆角矩形 26">
            <a:extLst>
              <a:ext uri="{FF2B5EF4-FFF2-40B4-BE49-F238E27FC236}">
                <a16:creationId xmlns:a16="http://schemas.microsoft.com/office/drawing/2014/main" id="{93B683E9-FA4E-25F3-1E99-1F9BAC39F9D3}"/>
              </a:ext>
            </a:extLst>
          </p:cNvPr>
          <p:cNvSpPr/>
          <p:nvPr/>
        </p:nvSpPr>
        <p:spPr>
          <a:xfrm rot="16200000">
            <a:off x="4755045" y="56186"/>
            <a:ext cx="1460936" cy="75706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0" name="圆角矩形 27">
            <a:extLst>
              <a:ext uri="{FF2B5EF4-FFF2-40B4-BE49-F238E27FC236}">
                <a16:creationId xmlns:a16="http://schemas.microsoft.com/office/drawing/2014/main" id="{40C4FFF3-AFC8-C7C6-C5C8-149E816F17F4}"/>
              </a:ext>
            </a:extLst>
          </p:cNvPr>
          <p:cNvSpPr/>
          <p:nvPr/>
        </p:nvSpPr>
        <p:spPr>
          <a:xfrm>
            <a:off x="7451633" y="3164961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1" name="空心弧 10">
            <a:extLst>
              <a:ext uri="{FF2B5EF4-FFF2-40B4-BE49-F238E27FC236}">
                <a16:creationId xmlns:a16="http://schemas.microsoft.com/office/drawing/2014/main" id="{025B4B67-5E34-17B8-C753-56E452C0709D}"/>
              </a:ext>
            </a:extLst>
          </p:cNvPr>
          <p:cNvSpPr/>
          <p:nvPr/>
        </p:nvSpPr>
        <p:spPr>
          <a:xfrm rot="16200000">
            <a:off x="1760197" y="3164961"/>
            <a:ext cx="1353108" cy="1353108"/>
          </a:xfrm>
          <a:prstGeom prst="blockArc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2" name="任意多边形 29">
            <a:extLst>
              <a:ext uri="{FF2B5EF4-FFF2-40B4-BE49-F238E27FC236}">
                <a16:creationId xmlns:a16="http://schemas.microsoft.com/office/drawing/2014/main" id="{F6BB2569-2D69-9692-11FA-D663324F1E14}"/>
              </a:ext>
            </a:extLst>
          </p:cNvPr>
          <p:cNvSpPr/>
          <p:nvPr/>
        </p:nvSpPr>
        <p:spPr bwMode="auto">
          <a:xfrm>
            <a:off x="8211435" y="3443268"/>
            <a:ext cx="332610" cy="215954"/>
          </a:xfrm>
          <a:custGeom>
            <a:avLst/>
            <a:gdLst>
              <a:gd name="connsiteX0" fmla="*/ 542180 w 547688"/>
              <a:gd name="connsiteY0" fmla="*/ 59519 h 355600"/>
              <a:gd name="connsiteX1" fmla="*/ 543735 w 547688"/>
              <a:gd name="connsiteY1" fmla="*/ 59519 h 355600"/>
              <a:gd name="connsiteX2" fmla="*/ 543735 w 547688"/>
              <a:gd name="connsiteY2" fmla="*/ 60325 h 355600"/>
              <a:gd name="connsiteX3" fmla="*/ 545351 w 547688"/>
              <a:gd name="connsiteY3" fmla="*/ 60325 h 355600"/>
              <a:gd name="connsiteX4" fmla="*/ 546130 w 547688"/>
              <a:gd name="connsiteY4" fmla="*/ 60325 h 355600"/>
              <a:gd name="connsiteX5" fmla="*/ 547688 w 547688"/>
              <a:gd name="connsiteY5" fmla="*/ 62662 h 355600"/>
              <a:gd name="connsiteX6" fmla="*/ 547688 w 547688"/>
              <a:gd name="connsiteY6" fmla="*/ 343885 h 355600"/>
              <a:gd name="connsiteX7" fmla="*/ 542953 w 547688"/>
              <a:gd name="connsiteY7" fmla="*/ 348282 h 355600"/>
              <a:gd name="connsiteX8" fmla="*/ 542277 w 547688"/>
              <a:gd name="connsiteY8" fmla="*/ 352085 h 355600"/>
              <a:gd name="connsiteX9" fmla="*/ 536734 w 547688"/>
              <a:gd name="connsiteY9" fmla="*/ 355600 h 355600"/>
              <a:gd name="connsiteX10" fmla="*/ 14002 w 547688"/>
              <a:gd name="connsiteY10" fmla="*/ 355600 h 355600"/>
              <a:gd name="connsiteX11" fmla="*/ 0 w 547688"/>
              <a:gd name="connsiteY11" fmla="*/ 343882 h 355600"/>
              <a:gd name="connsiteX12" fmla="*/ 0 w 547688"/>
              <a:gd name="connsiteY12" fmla="*/ 62644 h 355600"/>
              <a:gd name="connsiteX13" fmla="*/ 3112 w 547688"/>
              <a:gd name="connsiteY13" fmla="*/ 60301 h 355600"/>
              <a:gd name="connsiteX14" fmla="*/ 7779 w 547688"/>
              <a:gd name="connsiteY14" fmla="*/ 61082 h 355600"/>
              <a:gd name="connsiteX15" fmla="*/ 186522 w 547688"/>
              <a:gd name="connsiteY15" fmla="*/ 194014 h 355600"/>
              <a:gd name="connsiteX16" fmla="*/ 244997 w 547688"/>
              <a:gd name="connsiteY16" fmla="*/ 237502 h 355600"/>
              <a:gd name="connsiteX17" fmla="*/ 274716 w 547688"/>
              <a:gd name="connsiteY17" fmla="*/ 259511 h 355600"/>
              <a:gd name="connsiteX18" fmla="*/ 277702 w 547688"/>
              <a:gd name="connsiteY18" fmla="*/ 259511 h 355600"/>
              <a:gd name="connsiteX19" fmla="*/ 14875 w 547688"/>
              <a:gd name="connsiteY19" fmla="*/ 0 h 355600"/>
              <a:gd name="connsiteX20" fmla="*/ 536799 w 547688"/>
              <a:gd name="connsiteY20" fmla="*/ 0 h 355600"/>
              <a:gd name="connsiteX21" fmla="*/ 547688 w 547688"/>
              <a:gd name="connsiteY21" fmla="*/ 9331 h 355600"/>
              <a:gd name="connsiteX22" fmla="*/ 547688 w 547688"/>
              <a:gd name="connsiteY22" fmla="*/ 13218 h 355600"/>
              <a:gd name="connsiteX23" fmla="*/ 278559 w 547688"/>
              <a:gd name="connsiteY23" fmla="*/ 190500 h 355600"/>
              <a:gd name="connsiteX24" fmla="*/ 277003 w 547688"/>
              <a:gd name="connsiteY24" fmla="*/ 190500 h 355600"/>
              <a:gd name="connsiteX25" fmla="*/ 275448 w 547688"/>
              <a:gd name="connsiteY25" fmla="*/ 190500 h 355600"/>
              <a:gd name="connsiteX26" fmla="*/ 274260 w 547688"/>
              <a:gd name="connsiteY26" fmla="*/ 189726 h 355600"/>
              <a:gd name="connsiteX27" fmla="*/ 273425 w 547688"/>
              <a:gd name="connsiteY27" fmla="*/ 189726 h 355600"/>
              <a:gd name="connsiteX28" fmla="*/ 0 w 547688"/>
              <a:gd name="connsiteY28" fmla="*/ 13976 h 355600"/>
              <a:gd name="connsiteX29" fmla="*/ 0 w 547688"/>
              <a:gd name="connsiteY29" fmla="*/ 9330 h 355600"/>
              <a:gd name="connsiteX30" fmla="*/ 4674 w 547688"/>
              <a:gd name="connsiteY30" fmla="*/ 3427 h 355600"/>
              <a:gd name="connsiteX31" fmla="*/ 12919 w 547688"/>
              <a:gd name="connsiteY31" fmla="*/ 1805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6D6CBAB-9B69-B3F4-9339-CC4A363E9B6E}"/>
              </a:ext>
            </a:extLst>
          </p:cNvPr>
          <p:cNvSpPr txBox="1"/>
          <p:nvPr/>
        </p:nvSpPr>
        <p:spPr>
          <a:xfrm>
            <a:off x="3045902" y="3244984"/>
            <a:ext cx="4146229" cy="1112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跨模块接口对接不匹配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i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对策：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提前发布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Swagger API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标准文档，实行严格的接口版本管理。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0F8A36-16D7-D00A-E73F-15D3DDB3F461}"/>
              </a:ext>
            </a:extLst>
          </p:cNvPr>
          <p:cNvSpPr txBox="1"/>
          <p:nvPr/>
        </p:nvSpPr>
        <p:spPr>
          <a:xfrm>
            <a:off x="7711932" y="3801387"/>
            <a:ext cx="12286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风险二</a:t>
            </a:r>
          </a:p>
        </p:txBody>
      </p:sp>
      <p:sp>
        <p:nvSpPr>
          <p:cNvPr id="16" name="圆角矩形 33">
            <a:extLst>
              <a:ext uri="{FF2B5EF4-FFF2-40B4-BE49-F238E27FC236}">
                <a16:creationId xmlns:a16="http://schemas.microsoft.com/office/drawing/2014/main" id="{577C4BFE-3B58-ED2D-41AF-843ECBA508B9}"/>
              </a:ext>
            </a:extLst>
          </p:cNvPr>
          <p:cNvSpPr/>
          <p:nvPr/>
        </p:nvSpPr>
        <p:spPr>
          <a:xfrm rot="5400000" flipH="1">
            <a:off x="5515430" y="1745290"/>
            <a:ext cx="1460936" cy="757065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7" name="圆角矩形 34">
            <a:extLst>
              <a:ext uri="{FF2B5EF4-FFF2-40B4-BE49-F238E27FC236}">
                <a16:creationId xmlns:a16="http://schemas.microsoft.com/office/drawing/2014/main" id="{54DF206A-EAC8-FADC-8000-C1A060B186A7}"/>
              </a:ext>
            </a:extLst>
          </p:cNvPr>
          <p:cNvSpPr/>
          <p:nvPr/>
        </p:nvSpPr>
        <p:spPr>
          <a:xfrm>
            <a:off x="2528844" y="4854063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8" name="空心弧 17">
            <a:extLst>
              <a:ext uri="{FF2B5EF4-FFF2-40B4-BE49-F238E27FC236}">
                <a16:creationId xmlns:a16="http://schemas.microsoft.com/office/drawing/2014/main" id="{F3CE764A-AC2E-49AB-D7D7-2EDE141C32C7}"/>
              </a:ext>
            </a:extLst>
          </p:cNvPr>
          <p:cNvSpPr/>
          <p:nvPr/>
        </p:nvSpPr>
        <p:spPr>
          <a:xfrm rot="5400000" flipH="1">
            <a:off x="8604822" y="4854063"/>
            <a:ext cx="1353108" cy="135310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C1B07F74-3636-AF39-1AF6-F075C793AA40}"/>
              </a:ext>
            </a:extLst>
          </p:cNvPr>
          <p:cNvSpPr/>
          <p:nvPr/>
        </p:nvSpPr>
        <p:spPr bwMode="auto">
          <a:xfrm>
            <a:off x="3239788" y="5087404"/>
            <a:ext cx="326534" cy="285466"/>
          </a:xfrm>
          <a:custGeom>
            <a:avLst/>
            <a:gdLst>
              <a:gd name="T0" fmla="*/ 562 w 664"/>
              <a:gd name="T1" fmla="*/ 379 h 583"/>
              <a:gd name="T2" fmla="*/ 485 w 664"/>
              <a:gd name="T3" fmla="*/ 414 h 583"/>
              <a:gd name="T4" fmla="*/ 328 w 664"/>
              <a:gd name="T5" fmla="*/ 332 h 583"/>
              <a:gd name="T6" fmla="*/ 338 w 664"/>
              <a:gd name="T7" fmla="*/ 274 h 583"/>
              <a:gd name="T8" fmla="*/ 324 w 664"/>
              <a:gd name="T9" fmla="*/ 208 h 583"/>
              <a:gd name="T10" fmla="*/ 447 w 664"/>
              <a:gd name="T11" fmla="*/ 134 h 583"/>
              <a:gd name="T12" fmla="*/ 495 w 664"/>
              <a:gd name="T13" fmla="*/ 152 h 583"/>
              <a:gd name="T14" fmla="*/ 571 w 664"/>
              <a:gd name="T15" fmla="*/ 76 h 583"/>
              <a:gd name="T16" fmla="*/ 495 w 664"/>
              <a:gd name="T17" fmla="*/ 0 h 583"/>
              <a:gd name="T18" fmla="*/ 419 w 664"/>
              <a:gd name="T19" fmla="*/ 76 h 583"/>
              <a:gd name="T20" fmla="*/ 422 w 664"/>
              <a:gd name="T21" fmla="*/ 95 h 583"/>
              <a:gd name="T22" fmla="*/ 300 w 664"/>
              <a:gd name="T23" fmla="*/ 168 h 583"/>
              <a:gd name="T24" fmla="*/ 169 w 664"/>
              <a:gd name="T25" fmla="*/ 105 h 583"/>
              <a:gd name="T26" fmla="*/ 0 w 664"/>
              <a:gd name="T27" fmla="*/ 274 h 583"/>
              <a:gd name="T28" fmla="*/ 169 w 664"/>
              <a:gd name="T29" fmla="*/ 443 h 583"/>
              <a:gd name="T30" fmla="*/ 306 w 664"/>
              <a:gd name="T31" fmla="*/ 373 h 583"/>
              <a:gd name="T32" fmla="*/ 464 w 664"/>
              <a:gd name="T33" fmla="*/ 456 h 583"/>
              <a:gd name="T34" fmla="*/ 460 w 664"/>
              <a:gd name="T35" fmla="*/ 481 h 583"/>
              <a:gd name="T36" fmla="*/ 562 w 664"/>
              <a:gd name="T37" fmla="*/ 583 h 583"/>
              <a:gd name="T38" fmla="*/ 664 w 664"/>
              <a:gd name="T39" fmla="*/ 481 h 583"/>
              <a:gd name="T40" fmla="*/ 562 w 664"/>
              <a:gd name="T41" fmla="*/ 379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33DDEB7A-9399-7781-A191-5D432C65A793}"/>
              </a:ext>
            </a:extLst>
          </p:cNvPr>
          <p:cNvSpPr txBox="1"/>
          <p:nvPr/>
        </p:nvSpPr>
        <p:spPr>
          <a:xfrm>
            <a:off x="2788744" y="5532502"/>
            <a:ext cx="12286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风险三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0EA5A63-0CE1-A9AD-3359-F16FFF806010}"/>
              </a:ext>
            </a:extLst>
          </p:cNvPr>
          <p:cNvSpPr txBox="1"/>
          <p:nvPr/>
        </p:nvSpPr>
        <p:spPr>
          <a:xfrm>
            <a:off x="4537165" y="5007397"/>
            <a:ext cx="4570739" cy="1046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数据安全性。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i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对策：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实施数据库定期自动备份，关键信息加密存储。</a:t>
            </a:r>
          </a:p>
        </p:txBody>
      </p:sp>
    </p:spTree>
    <p:extLst>
      <p:ext uri="{BB962C8B-B14F-4D97-AF65-F5344CB8AC3E}">
        <p14:creationId xmlns:p14="http://schemas.microsoft.com/office/powerpoint/2010/main" val="118219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5CDB-0C5F-F01D-7027-4617DB86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C5D53B-5641-48A1-70C9-7918B7CF3F78}"/>
              </a:ext>
            </a:extLst>
          </p:cNvPr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2530DD7-D82D-2226-4481-75E1D642FAB0}"/>
              </a:ext>
            </a:extLst>
          </p:cNvPr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A0A0681-CF59-5A8A-2708-1D7589B7108D}"/>
              </a:ext>
            </a:extLst>
          </p:cNvPr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780780C-561C-4192-EC12-AA741E23B727}"/>
              </a:ext>
            </a:extLst>
          </p:cNvPr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5C6DF2-685F-10A3-EE1B-98701F8AED54}"/>
              </a:ext>
            </a:extLst>
          </p:cNvPr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5A87FC-6681-D3FC-67DC-A01DE259E4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A51FAF50-02D4-3D8B-9B75-B3CA2B9683F5}"/>
              </a:ext>
            </a:extLst>
          </p:cNvPr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6C6C8C7-8D68-8F85-1DCE-C82A3D590B9D}"/>
              </a:ext>
            </a:extLst>
          </p:cNvPr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EC6D6EB-DB71-D0EE-87F7-A12C08110D94}"/>
              </a:ext>
            </a:extLst>
          </p:cNvPr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68841-1B26-7E7C-F57C-E1A02E8978C2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谢谢大家</a:t>
            </a:r>
            <a:r>
              <a:rPr lang="en-US" altLang="zh-CN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!</a:t>
            </a:r>
            <a:endParaRPr lang="zh-CN" altLang="en-US" sz="7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C30B20-7628-18CE-0C72-A2180E1D8743}"/>
              </a:ext>
            </a:extLst>
          </p:cNvPr>
          <p:cNvSpPr txBox="1"/>
          <p:nvPr/>
        </p:nvSpPr>
        <p:spPr bwMode="auto">
          <a:xfrm>
            <a:off x="3232392" y="4357303"/>
            <a:ext cx="5724636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第七组：郭仕恒、许泽文、孙振阳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F6AEF9-AEB7-CB23-EA6C-833C978AD0A1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18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94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NDYxMmIwNmM5NTY2OTdkODYxNGM2OGY2YmI2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heme/theme1.xml><?xml version="1.0" encoding="utf-8"?>
<a:theme xmlns:a="http://schemas.openxmlformats.org/drawingml/2006/main" name="Office 主题​​">
  <a:themeElements>
    <a:clrScheme name="自定义 185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F000B"/>
      </a:accent1>
      <a:accent2>
        <a:srgbClr val="70000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466</Words>
  <Application>Microsoft Office PowerPoint</Application>
  <PresentationFormat>宽屏</PresentationFormat>
  <Paragraphs>82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阿里巴巴普惠体</vt:lpstr>
      <vt:lpstr>等线</vt:lpstr>
      <vt:lpstr>华文中宋</vt:lpstr>
      <vt:lpstr>思源黑体</vt:lpstr>
      <vt:lpstr>微软雅黑</vt:lpstr>
      <vt:lpstr>Arial</vt:lpstr>
      <vt:lpstr>Office 主题​​</vt:lpstr>
      <vt:lpstr>PowerPoint 演示文稿</vt:lpstr>
      <vt:lpstr>PowerPoint 演示文稿</vt:lpstr>
      <vt:lpstr>项目背景、目标、范围</vt:lpstr>
      <vt:lpstr>项目背景、目标、范围</vt:lpstr>
      <vt:lpstr>项目总体计划</vt:lpstr>
      <vt:lpstr>项目总体计划</vt:lpstr>
      <vt:lpstr>项目组织架构</vt:lpstr>
      <vt:lpstr>项目组织架构</vt:lpstr>
      <vt:lpstr>项目风险点和对策</vt:lpstr>
      <vt:lpstr>项目风险点与对策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Mikasa Ackerman</dc:creator>
  <cp:lastModifiedBy>Mikasa Ackerman</cp:lastModifiedBy>
  <cp:revision>8</cp:revision>
  <dcterms:created xsi:type="dcterms:W3CDTF">2022-04-20T02:45:00Z</dcterms:created>
  <dcterms:modified xsi:type="dcterms:W3CDTF">2026-03-24T11:45:34Z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011D725C3BD54AD098784F7470BBF9CD_12</vt:lpwstr>
  </property>
  <property fmtid="{D5CDD505-2E9C-101B-9397-08002B2CF9AE}" pid="3" name="KSOProductBuildVer">
    <vt:lpwstr>2052-12.1.0.16417</vt:lpwstr>
  </property>
</Properties>
</file>