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61" r:id="rId2"/>
    <p:sldId id="296" r:id="rId3"/>
    <p:sldId id="262" r:id="rId4"/>
    <p:sldId id="272" r:id="rId5"/>
    <p:sldId id="267" r:id="rId6"/>
    <p:sldId id="306" r:id="rId7"/>
    <p:sldId id="268" r:id="rId8"/>
    <p:sldId id="307" r:id="rId9"/>
    <p:sldId id="269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05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000B"/>
    <a:srgbClr val="A400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42" y="1002"/>
      </p:cViewPr>
      <p:guideLst>
        <p:guide orient="horz" pos="2160"/>
        <p:guide pos="7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3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D0EDE-5CD8-4F31-91EB-3B111BCCBAFC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6EFCC-068A-4282-AB7E-4199CD5D58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856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8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C88B-581B-B22C-FCB0-E0637240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4D94F3-6B6E-13EE-AC9B-1CE8C16A4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4E638A-6499-8C5D-08BA-BCE3E7CEE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57E694-C757-2BB7-6E45-6E2707A1B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564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2976-3841-2C46-51BB-E0F05491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BA5342-973F-78EE-7620-E5327E82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BA7431-AB52-8412-CBBE-C3F9A9EA9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93DF3-B8EA-FEE6-361D-E34888C70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8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D6CB-F614-B65B-6108-F4434682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A7F92A-1FF6-8537-479D-88FC56C5D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42FC8B-66AA-4BB9-B451-5958BE355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61AFB8-1C8A-2184-2678-39FD60C8B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466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7930A-845C-9E5F-F7ED-91775273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BFCC3A-54B0-2D94-B043-19C362A75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E2FD65-B223-2296-7E1D-3EE074DEC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90D2C8-34B0-8744-7FA3-158152AD5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60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20C69-E541-C6A2-111D-C147513B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DFE1C3-4B24-117A-D967-4D9DB928E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726790-EBE6-3406-11EC-622676D85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985740-99A4-91D4-E5D9-4C09E4877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370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0D7EB-7743-D681-796F-9E480F1E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9126-A274-CBD9-529C-FCF1F4073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109819-C67F-6EAB-1585-C36BD4473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7398E-6F3B-FB54-B0D2-577214DD5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94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60D7-05E4-F8E3-5C7A-D4CDD1D1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B7CEF3-E6CC-443A-19D8-C6CFFF12D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D9F803-C2BF-F480-9F15-1F39679D5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AD33B2-84B4-ECF8-B0D7-2DC5ED874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698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ADCE-1707-401D-69BC-FE6AAA1C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55E786-112E-3497-B0E8-1D088E54E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70197C-2753-8137-AEA4-8B82494D2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DBC18-3050-3BAD-B20A-E4AD87E68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162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F8D1-E7FB-FBDB-D48E-954B9D9D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12DDA3-4194-A87A-6CDC-58BD60BBD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D61D47-535D-23D4-FD27-D11B2D82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8444FB-F4B5-F662-EF81-3DADD4BB0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593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2D1DF-D017-6AE0-8A60-FB0E6ACA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38C5ED-BF7C-2172-9AC7-797E48774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758889-6D5E-4A1F-580C-5B206E884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AF6819-00E1-0CF7-187D-ED4D8C2EF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294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AD3B-7F6E-783C-E411-6A61C66D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5A38F8-F232-FC62-495C-572B5B335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12B9F-1DD1-DAD3-1A24-BFD2D1EE6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A5F9B-9B9A-B99F-6487-2111248B4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203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DD0D-DC13-286D-5CD0-5403880F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45B562-194B-2940-D200-0CE3873A9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953FF9-8F0D-C856-5403-CE25BF395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26C67-3880-4AA1-78CD-96ABDAC0D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6EFCC-068A-4282-AB7E-4199CD5D583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46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0741C5-8F5C-4213-BB69-8C2D02590C1C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ee.com/guo-shiheng/auto-grader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9431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1076214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335294" y="7342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591395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435600" y="1124090"/>
            <a:ext cx="1320800" cy="132080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7320" y="1485869"/>
            <a:ext cx="1094780" cy="632378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484414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3494" y="62460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999595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967B8B-844C-24AA-E12A-14D3C2EDD476}"/>
              </a:ext>
            </a:extLst>
          </p:cNvPr>
          <p:cNvSpPr/>
          <p:nvPr/>
        </p:nvSpPr>
        <p:spPr>
          <a:xfrm>
            <a:off x="514090" y="2444890"/>
            <a:ext cx="11161240" cy="1716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AutoGrader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作业代码自动评分系统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Green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组</a:t>
            </a:r>
            <a:endParaRPr lang="en-US" altLang="zh-CN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8D7CF0-49EA-8AC9-3044-699BD249E094}"/>
              </a:ext>
            </a:extLst>
          </p:cNvPr>
          <p:cNvSpPr txBox="1"/>
          <p:nvPr/>
        </p:nvSpPr>
        <p:spPr bwMode="auto">
          <a:xfrm>
            <a:off x="3232392" y="4357303"/>
            <a:ext cx="5724636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汇报人：郭仕恒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DF1BE5-7FF1-8FCB-7B5A-2C431DD88267}"/>
              </a:ext>
            </a:extLst>
          </p:cNvPr>
          <p:cNvSpPr txBox="1"/>
          <p:nvPr/>
        </p:nvSpPr>
        <p:spPr bwMode="auto">
          <a:xfrm>
            <a:off x="8164268" y="6045971"/>
            <a:ext cx="4680520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日期：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15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 rot="5400000" flipH="1">
            <a:off x="3093983" y="2944554"/>
            <a:ext cx="2085970" cy="96889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81593" y="1205352"/>
            <a:ext cx="5148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项目背景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581593" y="2179841"/>
            <a:ext cx="4535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总体架构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581593" y="4071385"/>
            <a:ext cx="44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接口与数据库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581593" y="3157282"/>
            <a:ext cx="363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功能模块</a:t>
            </a:r>
          </a:p>
        </p:txBody>
      </p:sp>
      <p:sp>
        <p:nvSpPr>
          <p:cNvPr id="152" name="Freeform 9"/>
          <p:cNvSpPr/>
          <p:nvPr/>
        </p:nvSpPr>
        <p:spPr bwMode="auto">
          <a:xfrm>
            <a:off x="5234354" y="1331513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3" name="Freeform 9"/>
          <p:cNvSpPr/>
          <p:nvPr/>
        </p:nvSpPr>
        <p:spPr bwMode="auto">
          <a:xfrm>
            <a:off x="5234354" y="2309467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4" name="Freeform 9"/>
          <p:cNvSpPr/>
          <p:nvPr/>
        </p:nvSpPr>
        <p:spPr bwMode="auto">
          <a:xfrm>
            <a:off x="5234354" y="3283956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56" name="Freeform 9"/>
          <p:cNvSpPr/>
          <p:nvPr/>
        </p:nvSpPr>
        <p:spPr bwMode="auto">
          <a:xfrm>
            <a:off x="5234354" y="4198059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42024" y="784135"/>
            <a:ext cx="861774" cy="33629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CONTENTS</a:t>
            </a:r>
            <a:endParaRPr lang="zh-CN" altLang="en-US" sz="44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52536" y="665163"/>
            <a:ext cx="1292662" cy="25380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目录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74" y="4267201"/>
            <a:ext cx="2441726" cy="2441724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11076214" y="62587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1335294" y="62587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1591395" y="62587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DDBE3B-AD25-7AB5-537A-203F5592A391}"/>
              </a:ext>
            </a:extLst>
          </p:cNvPr>
          <p:cNvSpPr txBox="1"/>
          <p:nvPr/>
        </p:nvSpPr>
        <p:spPr>
          <a:xfrm>
            <a:off x="5581593" y="4922153"/>
            <a:ext cx="445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Demo</a:t>
            </a:r>
            <a:r>
              <a:rPr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展示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75140E89-733C-B7C4-DC6E-83D3586B5872}"/>
              </a:ext>
            </a:extLst>
          </p:cNvPr>
          <p:cNvSpPr/>
          <p:nvPr/>
        </p:nvSpPr>
        <p:spPr bwMode="auto">
          <a:xfrm>
            <a:off x="5234354" y="5048827"/>
            <a:ext cx="410740" cy="392984"/>
          </a:xfrm>
          <a:custGeom>
            <a:avLst/>
            <a:gdLst>
              <a:gd name="T0" fmla="*/ 173 w 347"/>
              <a:gd name="T1" fmla="*/ 0 h 332"/>
              <a:gd name="T2" fmla="*/ 226 w 347"/>
              <a:gd name="T3" fmla="*/ 107 h 332"/>
              <a:gd name="T4" fmla="*/ 347 w 347"/>
              <a:gd name="T5" fmla="*/ 126 h 332"/>
              <a:gd name="T6" fmla="*/ 260 w 347"/>
              <a:gd name="T7" fmla="*/ 211 h 332"/>
              <a:gd name="T8" fmla="*/ 279 w 347"/>
              <a:gd name="T9" fmla="*/ 332 h 332"/>
              <a:gd name="T10" fmla="*/ 173 w 347"/>
              <a:gd name="T11" fmla="*/ 274 h 332"/>
              <a:gd name="T12" fmla="*/ 65 w 347"/>
              <a:gd name="T13" fmla="*/ 332 h 332"/>
              <a:gd name="T14" fmla="*/ 84 w 347"/>
              <a:gd name="T15" fmla="*/ 211 h 332"/>
              <a:gd name="T16" fmla="*/ 0 w 347"/>
              <a:gd name="T17" fmla="*/ 126 h 332"/>
              <a:gd name="T18" fmla="*/ 118 w 347"/>
              <a:gd name="T19" fmla="*/ 107 h 332"/>
              <a:gd name="T20" fmla="*/ 173 w 347"/>
              <a:gd name="T21" fmla="*/ 0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" h="332">
                <a:moveTo>
                  <a:pt x="173" y="0"/>
                </a:moveTo>
                <a:lnTo>
                  <a:pt x="226" y="107"/>
                </a:lnTo>
                <a:lnTo>
                  <a:pt x="347" y="126"/>
                </a:lnTo>
                <a:lnTo>
                  <a:pt x="260" y="211"/>
                </a:lnTo>
                <a:lnTo>
                  <a:pt x="279" y="332"/>
                </a:lnTo>
                <a:lnTo>
                  <a:pt x="173" y="274"/>
                </a:lnTo>
                <a:lnTo>
                  <a:pt x="65" y="332"/>
                </a:lnTo>
                <a:lnTo>
                  <a:pt x="84" y="211"/>
                </a:lnTo>
                <a:lnTo>
                  <a:pt x="0" y="126"/>
                </a:lnTo>
                <a:lnTo>
                  <a:pt x="118" y="107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项目背景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01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项目背景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 rot="16200000">
            <a:off x="10400553" y="161484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cxnSp>
        <p:nvCxnSpPr>
          <p:cNvPr id="42" name="Straight Connector 23"/>
          <p:cNvCxnSpPr/>
          <p:nvPr/>
        </p:nvCxnSpPr>
        <p:spPr bwMode="auto">
          <a:xfrm>
            <a:off x="6182209" y="1831057"/>
            <a:ext cx="0" cy="399669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7555541" y="2106135"/>
            <a:ext cx="1369704" cy="1358265"/>
            <a:chOff x="5462967" y="2123030"/>
            <a:chExt cx="1369704" cy="1358265"/>
          </a:xfrm>
        </p:grpSpPr>
        <p:sp>
          <p:nvSpPr>
            <p:cNvPr id="48" name="Oval 26"/>
            <p:cNvSpPr/>
            <p:nvPr/>
          </p:nvSpPr>
          <p:spPr bwMode="auto">
            <a:xfrm>
              <a:off x="5462967" y="2123030"/>
              <a:ext cx="1369704" cy="1358265"/>
            </a:xfrm>
            <a:prstGeom prst="ellipse">
              <a:avLst/>
            </a:prstGeom>
            <a:solidFill>
              <a:schemeClr val="accent1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49" name="Shape 2551"/>
            <p:cNvSpPr/>
            <p:nvPr/>
          </p:nvSpPr>
          <p:spPr>
            <a:xfrm>
              <a:off x="5821898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755" y="6010"/>
                  </a:moveTo>
                  <a:lnTo>
                    <a:pt x="18630" y="7136"/>
                  </a:lnTo>
                  <a:lnTo>
                    <a:pt x="14465" y="2970"/>
                  </a:lnTo>
                  <a:lnTo>
                    <a:pt x="15590" y="1845"/>
                  </a:lnTo>
                  <a:cubicBezTo>
                    <a:pt x="15590" y="1845"/>
                    <a:pt x="16391" y="982"/>
                    <a:pt x="17673" y="982"/>
                  </a:cubicBezTo>
                  <a:cubicBezTo>
                    <a:pt x="19300" y="982"/>
                    <a:pt x="20618" y="2300"/>
                    <a:pt x="20618" y="3927"/>
                  </a:cubicBezTo>
                  <a:cubicBezTo>
                    <a:pt x="20618" y="4741"/>
                    <a:pt x="20288" y="5477"/>
                    <a:pt x="19755" y="6010"/>
                  </a:cubicBezTo>
                  <a:moveTo>
                    <a:pt x="7364" y="18402"/>
                  </a:moveTo>
                  <a:lnTo>
                    <a:pt x="7364" y="14727"/>
                  </a:lnTo>
                  <a:cubicBezTo>
                    <a:pt x="7364" y="14456"/>
                    <a:pt x="7144" y="14236"/>
                    <a:pt x="6873" y="14236"/>
                  </a:cubicBezTo>
                  <a:lnTo>
                    <a:pt x="3198" y="14236"/>
                  </a:lnTo>
                  <a:lnTo>
                    <a:pt x="13770" y="3665"/>
                  </a:lnTo>
                  <a:lnTo>
                    <a:pt x="17935" y="7830"/>
                  </a:lnTo>
                  <a:cubicBezTo>
                    <a:pt x="17935" y="7830"/>
                    <a:pt x="7364" y="18402"/>
                    <a:pt x="7364" y="18402"/>
                  </a:cubicBezTo>
                  <a:close/>
                  <a:moveTo>
                    <a:pt x="6382" y="19042"/>
                  </a:moveTo>
                  <a:lnTo>
                    <a:pt x="2945" y="19845"/>
                  </a:lnTo>
                  <a:lnTo>
                    <a:pt x="2945" y="18655"/>
                  </a:lnTo>
                  <a:lnTo>
                    <a:pt x="1755" y="18655"/>
                  </a:lnTo>
                  <a:lnTo>
                    <a:pt x="2558" y="15218"/>
                  </a:lnTo>
                  <a:lnTo>
                    <a:pt x="6382" y="15218"/>
                  </a:lnTo>
                  <a:cubicBezTo>
                    <a:pt x="6382" y="15218"/>
                    <a:pt x="6382" y="19042"/>
                    <a:pt x="6382" y="19042"/>
                  </a:cubicBezTo>
                  <a:close/>
                  <a:moveTo>
                    <a:pt x="17673" y="0"/>
                  </a:moveTo>
                  <a:cubicBezTo>
                    <a:pt x="16588" y="0"/>
                    <a:pt x="15606" y="439"/>
                    <a:pt x="14896" y="1151"/>
                  </a:cubicBezTo>
                  <a:lnTo>
                    <a:pt x="1641" y="14405"/>
                  </a:lnTo>
                  <a:lnTo>
                    <a:pt x="0" y="21600"/>
                  </a:lnTo>
                  <a:lnTo>
                    <a:pt x="7195" y="19959"/>
                  </a:lnTo>
                  <a:lnTo>
                    <a:pt x="20449" y="6704"/>
                  </a:lnTo>
                  <a:cubicBezTo>
                    <a:pt x="21160" y="5994"/>
                    <a:pt x="21600" y="5012"/>
                    <a:pt x="21600" y="3927"/>
                  </a:cubicBezTo>
                  <a:cubicBezTo>
                    <a:pt x="21600" y="1758"/>
                    <a:pt x="19842" y="0"/>
                    <a:pt x="17673" y="0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419111" y="2106135"/>
            <a:ext cx="1369704" cy="1358265"/>
            <a:chOff x="9015925" y="2123030"/>
            <a:chExt cx="1369704" cy="1358265"/>
          </a:xfrm>
        </p:grpSpPr>
        <p:sp>
          <p:nvSpPr>
            <p:cNvPr id="51" name="Oval 36"/>
            <p:cNvSpPr/>
            <p:nvPr/>
          </p:nvSpPr>
          <p:spPr bwMode="auto">
            <a:xfrm>
              <a:off x="9015925" y="2123030"/>
              <a:ext cx="1369704" cy="1358265"/>
            </a:xfrm>
            <a:prstGeom prst="ellipse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52" name="Shape 2562"/>
            <p:cNvSpPr/>
            <p:nvPr/>
          </p:nvSpPr>
          <p:spPr>
            <a:xfrm>
              <a:off x="9380786" y="2485831"/>
              <a:ext cx="651841" cy="651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sp>
        <p:nvSpPr>
          <p:cNvPr id="53" name="Text Placeholder 8"/>
          <p:cNvSpPr txBox="1"/>
          <p:nvPr/>
        </p:nvSpPr>
        <p:spPr>
          <a:xfrm>
            <a:off x="2178565" y="3787728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项目背景</a:t>
            </a:r>
          </a:p>
        </p:txBody>
      </p:sp>
      <p:sp>
        <p:nvSpPr>
          <p:cNvPr id="54" name="Text Placeholder 9"/>
          <p:cNvSpPr txBox="1"/>
          <p:nvPr/>
        </p:nvSpPr>
        <p:spPr>
          <a:xfrm>
            <a:off x="479338" y="4513005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传统编程作业批改严重依赖人工，教师工作量大，评价标准难以保持一致。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6" name="Text Placeholder 9"/>
          <p:cNvSpPr txBox="1"/>
          <p:nvPr/>
        </p:nvSpPr>
        <p:spPr>
          <a:xfrm>
            <a:off x="7077690" y="4496110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18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我们的目标是围绕教学过程打通学生导入、作业发布、代码提交、自动评测和成绩展示。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500DB96-5B02-16FE-00C1-839C22066090}"/>
              </a:ext>
            </a:extLst>
          </p:cNvPr>
          <p:cNvSpPr txBox="1"/>
          <p:nvPr/>
        </p:nvSpPr>
        <p:spPr>
          <a:xfrm>
            <a:off x="7315201" y="3785064"/>
            <a:ext cx="1846136" cy="3850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建设目标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268807E-02BB-FB11-EBD2-3E65F2A75BEE}"/>
              </a:ext>
            </a:extLst>
          </p:cNvPr>
          <p:cNvSpPr txBox="1"/>
          <p:nvPr/>
        </p:nvSpPr>
        <p:spPr>
          <a:xfrm>
            <a:off x="3043351" y="4499586"/>
            <a:ext cx="2519396" cy="564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18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学生提交作业后难以快速获得反馈，无法及时修改代码中的问题。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A7330E-7630-91B9-5165-30DD20702D01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总体架构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2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02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0035-3BD4-7F24-AEB7-0016870B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4DAE3-1FF2-0994-C23A-C09CF00AEA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总体架构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3DBC6A0-57CF-03E7-5F1D-463584493C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8129F1EA-473A-5179-E730-F04D522A5F76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BC2FA584-A745-6249-B2C0-87D15BB0977F}"/>
              </a:ext>
            </a:extLst>
          </p:cNvPr>
          <p:cNvSpPr/>
          <p:nvPr/>
        </p:nvSpPr>
        <p:spPr>
          <a:xfrm rot="16200000">
            <a:off x="10400553" y="2432989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D13A7E9-0675-BDB7-853A-9380C6CE8A68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BBC5BDD-2E5A-3718-D06E-FB4AD5984A32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D8F460A-ED96-C6F5-904B-EF0A2E61B31C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2A5B1F0-11EF-F04C-9F27-7846F6F264F3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55BA5E-11B7-ED8D-089A-29002AEC44C8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135C84-39CE-F718-1AC8-DEC356BB1BE3}"/>
              </a:ext>
            </a:extLst>
          </p:cNvPr>
          <p:cNvSpPr txBox="1"/>
          <p:nvPr/>
        </p:nvSpPr>
        <p:spPr>
          <a:xfrm>
            <a:off x="2975811" y="1882566"/>
            <a:ext cx="614412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前端采用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Node.js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静态页面方式，实现门户、教师端、学生端页面。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后端采用 </a:t>
            </a: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FastAPI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，负责接口提供、业务逻辑处理、身份鉴权和数据管理。</a:t>
            </a: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endParaRPr lang="en-US" altLang="zh-CN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endParaRPr lang="zh-CN" altLang="en-US" sz="2000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PostgreSQL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，用于持久化存储用户、学生、题库、作业、提交、评测、成绩等数据。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14E041-1AD0-7EF5-FDAD-4511DE1D0F8A}"/>
              </a:ext>
            </a:extLst>
          </p:cNvPr>
          <p:cNvSpPr txBox="1"/>
          <p:nvPr/>
        </p:nvSpPr>
        <p:spPr>
          <a:xfrm>
            <a:off x="827314" y="1778394"/>
            <a:ext cx="553998" cy="4147884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前后端分离的 </a:t>
            </a:r>
            <a:r>
              <a:rPr lang="en-US" altLang="zh-CN" sz="24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B/S </a:t>
            </a:r>
            <a:r>
              <a:rPr lang="zh-CN" altLang="en-US" sz="24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架构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979D9CB5-28E3-839B-59A1-0C4529C6B98B}"/>
              </a:ext>
            </a:extLst>
          </p:cNvPr>
          <p:cNvSpPr/>
          <p:nvPr/>
        </p:nvSpPr>
        <p:spPr>
          <a:xfrm>
            <a:off x="1868360" y="2069432"/>
            <a:ext cx="553998" cy="3593431"/>
          </a:xfrm>
          <a:prstGeom prst="leftBrace">
            <a:avLst>
              <a:gd name="adj1" fmla="val 22811"/>
              <a:gd name="adj2" fmla="val 487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58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03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2B1CD-99C9-8287-D92C-05782362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18F99-E348-6B6F-FABF-773B2DBDEE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功能模块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04505E5-28CE-B984-E0E9-9313C9345D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CD508A82-19F2-118C-0E77-B48FE3C59BE7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72982E04-8A04-EED6-92E1-63A7303A1B65}"/>
              </a:ext>
            </a:extLst>
          </p:cNvPr>
          <p:cNvSpPr/>
          <p:nvPr/>
        </p:nvSpPr>
        <p:spPr>
          <a:xfrm rot="16200000">
            <a:off x="10400553" y="321905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7FE69C-F0A1-BFCF-2FDC-3A21E3506CBD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1F0229F-2EAC-D618-BC52-EF6643ED3308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E48A03A-B071-6773-9FEA-35C4F252A341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D869769-AE04-AD49-9705-4BE9B22BBE81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431295-3924-436B-677C-070C923BB7F2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4" name="圆角矩形 19">
            <a:extLst>
              <a:ext uri="{FF2B5EF4-FFF2-40B4-BE49-F238E27FC236}">
                <a16:creationId xmlns:a16="http://schemas.microsoft.com/office/drawing/2014/main" id="{0B37B2F3-A114-65B3-EF01-0116077411B0}"/>
              </a:ext>
            </a:extLst>
          </p:cNvPr>
          <p:cNvSpPr/>
          <p:nvPr/>
        </p:nvSpPr>
        <p:spPr>
          <a:xfrm rot="5400000" flipH="1">
            <a:off x="3994660" y="-1613863"/>
            <a:ext cx="1460936" cy="757065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7" name="圆角矩形 20">
            <a:extLst>
              <a:ext uri="{FF2B5EF4-FFF2-40B4-BE49-F238E27FC236}">
                <a16:creationId xmlns:a16="http://schemas.microsoft.com/office/drawing/2014/main" id="{E9EB16A8-5443-3864-D532-FFF0303ABF46}"/>
              </a:ext>
            </a:extLst>
          </p:cNvPr>
          <p:cNvSpPr/>
          <p:nvPr/>
        </p:nvSpPr>
        <p:spPr>
          <a:xfrm>
            <a:off x="1020106" y="1494910"/>
            <a:ext cx="1748422" cy="13531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8" name="空心弧 7">
            <a:extLst>
              <a:ext uri="{FF2B5EF4-FFF2-40B4-BE49-F238E27FC236}">
                <a16:creationId xmlns:a16="http://schemas.microsoft.com/office/drawing/2014/main" id="{D8349D7F-45D3-B165-41E7-730ED4E61EFD}"/>
              </a:ext>
            </a:extLst>
          </p:cNvPr>
          <p:cNvSpPr/>
          <p:nvPr/>
        </p:nvSpPr>
        <p:spPr>
          <a:xfrm rot="5400000" flipH="1">
            <a:off x="7086933" y="1494910"/>
            <a:ext cx="1353108" cy="135310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9" name="任意多边形 22">
            <a:extLst>
              <a:ext uri="{FF2B5EF4-FFF2-40B4-BE49-F238E27FC236}">
                <a16:creationId xmlns:a16="http://schemas.microsoft.com/office/drawing/2014/main" id="{7008A8A5-2C52-E252-AFFC-E27A65E49DA2}"/>
              </a:ext>
            </a:extLst>
          </p:cNvPr>
          <p:cNvSpPr/>
          <p:nvPr/>
        </p:nvSpPr>
        <p:spPr bwMode="auto">
          <a:xfrm>
            <a:off x="1735764" y="1679047"/>
            <a:ext cx="317106" cy="301192"/>
          </a:xfrm>
          <a:custGeom>
            <a:avLst/>
            <a:gdLst>
              <a:gd name="connsiteX0" fmla="*/ 393307 w 442913"/>
              <a:gd name="connsiteY0" fmla="*/ 42025 h 420687"/>
              <a:gd name="connsiteX1" fmla="*/ 404196 w 442913"/>
              <a:gd name="connsiteY1" fmla="*/ 48258 h 420687"/>
              <a:gd name="connsiteX2" fmla="*/ 411973 w 442913"/>
              <a:gd name="connsiteY2" fmla="*/ 137862 h 420687"/>
              <a:gd name="connsiteX3" fmla="*/ 404196 w 442913"/>
              <a:gd name="connsiteY3" fmla="*/ 142537 h 420687"/>
              <a:gd name="connsiteX4" fmla="*/ 385529 w 442913"/>
              <a:gd name="connsiteY4" fmla="*/ 130849 h 420687"/>
              <a:gd name="connsiteX5" fmla="*/ 371529 w 442913"/>
              <a:gd name="connsiteY5" fmla="*/ 133966 h 420687"/>
              <a:gd name="connsiteX6" fmla="*/ 282086 w 442913"/>
              <a:gd name="connsiteY6" fmla="*/ 267203 h 420687"/>
              <a:gd name="connsiteX7" fmla="*/ 267308 w 442913"/>
              <a:gd name="connsiteY7" fmla="*/ 272658 h 420687"/>
              <a:gd name="connsiteX8" fmla="*/ 167754 w 442913"/>
              <a:gd name="connsiteY8" fmla="*/ 234478 h 420687"/>
              <a:gd name="connsiteX9" fmla="*/ 151421 w 442913"/>
              <a:gd name="connsiteY9" fmla="*/ 239153 h 420687"/>
              <a:gd name="connsiteX10" fmla="*/ 72088 w 442913"/>
              <a:gd name="connsiteY10" fmla="*/ 331874 h 420687"/>
              <a:gd name="connsiteX11" fmla="*/ 65088 w 442913"/>
              <a:gd name="connsiteY11" fmla="*/ 329537 h 420687"/>
              <a:gd name="connsiteX12" fmla="*/ 65088 w 442913"/>
              <a:gd name="connsiteY12" fmla="*/ 267983 h 420687"/>
              <a:gd name="connsiteX13" fmla="*/ 72088 w 442913"/>
              <a:gd name="connsiteY13" fmla="*/ 250062 h 420687"/>
              <a:gd name="connsiteX14" fmla="*/ 133532 w 442913"/>
              <a:gd name="connsiteY14" fmla="*/ 174483 h 420687"/>
              <a:gd name="connsiteX15" fmla="*/ 149865 w 442913"/>
              <a:gd name="connsiteY15" fmla="*/ 170587 h 420687"/>
              <a:gd name="connsiteX16" fmla="*/ 248642 w 442913"/>
              <a:gd name="connsiteY16" fmla="*/ 207987 h 420687"/>
              <a:gd name="connsiteX17" fmla="*/ 264197 w 442913"/>
              <a:gd name="connsiteY17" fmla="*/ 202533 h 420687"/>
              <a:gd name="connsiteX18" fmla="*/ 327196 w 442913"/>
              <a:gd name="connsiteY18" fmla="*/ 106695 h 420687"/>
              <a:gd name="connsiteX19" fmla="*/ 324085 w 442913"/>
              <a:gd name="connsiteY19" fmla="*/ 91891 h 420687"/>
              <a:gd name="connsiteX20" fmla="*/ 308530 w 442913"/>
              <a:gd name="connsiteY20" fmla="*/ 82541 h 420687"/>
              <a:gd name="connsiteX21" fmla="*/ 309308 w 442913"/>
              <a:gd name="connsiteY21" fmla="*/ 73191 h 420687"/>
              <a:gd name="connsiteX22" fmla="*/ 393307 w 442913"/>
              <a:gd name="connsiteY22" fmla="*/ 42025 h 420687"/>
              <a:gd name="connsiteX23" fmla="*/ 16289 w 442913"/>
              <a:gd name="connsiteY23" fmla="*/ 0 h 420687"/>
              <a:gd name="connsiteX24" fmla="*/ 33354 w 442913"/>
              <a:gd name="connsiteY24" fmla="*/ 13971 h 420687"/>
              <a:gd name="connsiteX25" fmla="*/ 33354 w 442913"/>
              <a:gd name="connsiteY25" fmla="*/ 366355 h 420687"/>
              <a:gd name="connsiteX26" fmla="*/ 53522 w 442913"/>
              <a:gd name="connsiteY26" fmla="*/ 386535 h 420687"/>
              <a:gd name="connsiteX27" fmla="*/ 429727 w 442913"/>
              <a:gd name="connsiteY27" fmla="*/ 386535 h 420687"/>
              <a:gd name="connsiteX28" fmla="*/ 442913 w 442913"/>
              <a:gd name="connsiteY28" fmla="*/ 403611 h 420687"/>
              <a:gd name="connsiteX29" fmla="*/ 429727 w 442913"/>
              <a:gd name="connsiteY29" fmla="*/ 420687 h 420687"/>
              <a:gd name="connsiteX30" fmla="*/ 20168 w 442913"/>
              <a:gd name="connsiteY30" fmla="*/ 420687 h 420687"/>
              <a:gd name="connsiteX31" fmla="*/ 0 w 442913"/>
              <a:gd name="connsiteY31" fmla="*/ 399730 h 420687"/>
              <a:gd name="connsiteX32" fmla="*/ 0 w 442913"/>
              <a:gd name="connsiteY32" fmla="*/ 13971 h 420687"/>
              <a:gd name="connsiteX33" fmla="*/ 16289 w 442913"/>
              <a:gd name="connsiteY33" fmla="*/ 0 h 42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42913" h="420687">
                <a:moveTo>
                  <a:pt x="393307" y="42025"/>
                </a:moveTo>
                <a:cubicBezTo>
                  <a:pt x="398751" y="39687"/>
                  <a:pt x="403418" y="42804"/>
                  <a:pt x="404196" y="48258"/>
                </a:cubicBezTo>
                <a:cubicBezTo>
                  <a:pt x="404196" y="48258"/>
                  <a:pt x="404196" y="48258"/>
                  <a:pt x="411973" y="137862"/>
                </a:cubicBezTo>
                <a:cubicBezTo>
                  <a:pt x="412751" y="143316"/>
                  <a:pt x="408862" y="145654"/>
                  <a:pt x="404196" y="142537"/>
                </a:cubicBezTo>
                <a:lnTo>
                  <a:pt x="385529" y="130849"/>
                </a:lnTo>
                <a:cubicBezTo>
                  <a:pt x="380863" y="127733"/>
                  <a:pt x="374640" y="129291"/>
                  <a:pt x="371529" y="133966"/>
                </a:cubicBezTo>
                <a:cubicBezTo>
                  <a:pt x="371529" y="133966"/>
                  <a:pt x="371529" y="133966"/>
                  <a:pt x="282086" y="267203"/>
                </a:cubicBezTo>
                <a:cubicBezTo>
                  <a:pt x="278975" y="271878"/>
                  <a:pt x="271975" y="274216"/>
                  <a:pt x="267308" y="272658"/>
                </a:cubicBezTo>
                <a:cubicBezTo>
                  <a:pt x="267308" y="272658"/>
                  <a:pt x="267308" y="272658"/>
                  <a:pt x="167754" y="234478"/>
                </a:cubicBezTo>
                <a:cubicBezTo>
                  <a:pt x="162309" y="232920"/>
                  <a:pt x="155309" y="234478"/>
                  <a:pt x="151421" y="239153"/>
                </a:cubicBezTo>
                <a:cubicBezTo>
                  <a:pt x="151421" y="239153"/>
                  <a:pt x="151421" y="239153"/>
                  <a:pt x="72088" y="331874"/>
                </a:cubicBezTo>
                <a:cubicBezTo>
                  <a:pt x="68199" y="336549"/>
                  <a:pt x="65088" y="334991"/>
                  <a:pt x="65088" y="329537"/>
                </a:cubicBezTo>
                <a:cubicBezTo>
                  <a:pt x="65088" y="329537"/>
                  <a:pt x="65088" y="329537"/>
                  <a:pt x="65088" y="267983"/>
                </a:cubicBezTo>
                <a:cubicBezTo>
                  <a:pt x="65088" y="262528"/>
                  <a:pt x="68199" y="253958"/>
                  <a:pt x="72088" y="250062"/>
                </a:cubicBezTo>
                <a:cubicBezTo>
                  <a:pt x="72088" y="250062"/>
                  <a:pt x="72088" y="250062"/>
                  <a:pt x="133532" y="174483"/>
                </a:cubicBezTo>
                <a:cubicBezTo>
                  <a:pt x="137421" y="170587"/>
                  <a:pt x="145198" y="168249"/>
                  <a:pt x="149865" y="170587"/>
                </a:cubicBezTo>
                <a:cubicBezTo>
                  <a:pt x="149865" y="170587"/>
                  <a:pt x="149865" y="170587"/>
                  <a:pt x="248642" y="207987"/>
                </a:cubicBezTo>
                <a:cubicBezTo>
                  <a:pt x="254086" y="209545"/>
                  <a:pt x="261086" y="207208"/>
                  <a:pt x="264197" y="202533"/>
                </a:cubicBezTo>
                <a:cubicBezTo>
                  <a:pt x="264197" y="202533"/>
                  <a:pt x="264197" y="202533"/>
                  <a:pt x="327196" y="106695"/>
                </a:cubicBezTo>
                <a:cubicBezTo>
                  <a:pt x="330308" y="101241"/>
                  <a:pt x="328752" y="95008"/>
                  <a:pt x="324085" y="91891"/>
                </a:cubicBezTo>
                <a:cubicBezTo>
                  <a:pt x="324085" y="91891"/>
                  <a:pt x="324085" y="91891"/>
                  <a:pt x="308530" y="82541"/>
                </a:cubicBezTo>
                <a:cubicBezTo>
                  <a:pt x="303863" y="79424"/>
                  <a:pt x="304641" y="75529"/>
                  <a:pt x="309308" y="73191"/>
                </a:cubicBezTo>
                <a:cubicBezTo>
                  <a:pt x="309308" y="73191"/>
                  <a:pt x="309308" y="73191"/>
                  <a:pt x="393307" y="42025"/>
                </a:cubicBezTo>
                <a:close/>
                <a:moveTo>
                  <a:pt x="16289" y="0"/>
                </a:moveTo>
                <a:cubicBezTo>
                  <a:pt x="25597" y="0"/>
                  <a:pt x="33354" y="2328"/>
                  <a:pt x="33354" y="13971"/>
                </a:cubicBezTo>
                <a:cubicBezTo>
                  <a:pt x="33354" y="366355"/>
                  <a:pt x="33354" y="366355"/>
                  <a:pt x="33354" y="366355"/>
                </a:cubicBezTo>
                <a:cubicBezTo>
                  <a:pt x="33354" y="377221"/>
                  <a:pt x="42662" y="386535"/>
                  <a:pt x="53522" y="386535"/>
                </a:cubicBezTo>
                <a:cubicBezTo>
                  <a:pt x="429727" y="386535"/>
                  <a:pt x="429727" y="386535"/>
                  <a:pt x="429727" y="386535"/>
                </a:cubicBezTo>
                <a:cubicBezTo>
                  <a:pt x="440586" y="386535"/>
                  <a:pt x="442913" y="394297"/>
                  <a:pt x="442913" y="403611"/>
                </a:cubicBezTo>
                <a:cubicBezTo>
                  <a:pt x="442913" y="412925"/>
                  <a:pt x="440586" y="420687"/>
                  <a:pt x="429727" y="420687"/>
                </a:cubicBezTo>
                <a:cubicBezTo>
                  <a:pt x="20168" y="420687"/>
                  <a:pt x="20168" y="420687"/>
                  <a:pt x="20168" y="420687"/>
                </a:cubicBezTo>
                <a:cubicBezTo>
                  <a:pt x="9308" y="420687"/>
                  <a:pt x="0" y="410597"/>
                  <a:pt x="0" y="399730"/>
                </a:cubicBezTo>
                <a:cubicBezTo>
                  <a:pt x="0" y="13971"/>
                  <a:pt x="0" y="13971"/>
                  <a:pt x="0" y="13971"/>
                </a:cubicBezTo>
                <a:cubicBezTo>
                  <a:pt x="0" y="2328"/>
                  <a:pt x="6981" y="0"/>
                  <a:pt x="162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A587169-5C4B-0F5B-EF44-0A93A18239DE}"/>
              </a:ext>
            </a:extLst>
          </p:cNvPr>
          <p:cNvSpPr txBox="1"/>
          <p:nvPr/>
        </p:nvSpPr>
        <p:spPr>
          <a:xfrm>
            <a:off x="3045902" y="1488672"/>
            <a:ext cx="4525725" cy="13593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教师端实现学生管理、题库管理、作业管理、成绩查看等教学管理功能。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学生端实现学号登录、首次改密、作业查看、代码提交、成绩查询等功能。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03003FB1-75A8-4CD9-22EB-3681A2FFB2C6}"/>
              </a:ext>
            </a:extLst>
          </p:cNvPr>
          <p:cNvSpPr txBox="1"/>
          <p:nvPr/>
        </p:nvSpPr>
        <p:spPr>
          <a:xfrm>
            <a:off x="1280006" y="2142888"/>
            <a:ext cx="12286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模块一</a:t>
            </a:r>
          </a:p>
        </p:txBody>
      </p:sp>
      <p:sp>
        <p:nvSpPr>
          <p:cNvPr id="12" name="圆角矩形 26">
            <a:extLst>
              <a:ext uri="{FF2B5EF4-FFF2-40B4-BE49-F238E27FC236}">
                <a16:creationId xmlns:a16="http://schemas.microsoft.com/office/drawing/2014/main" id="{E7B136D0-22FF-53EA-2B95-C5E7BB94CFF6}"/>
              </a:ext>
            </a:extLst>
          </p:cNvPr>
          <p:cNvSpPr/>
          <p:nvPr/>
        </p:nvSpPr>
        <p:spPr>
          <a:xfrm rot="16200000">
            <a:off x="4755045" y="56186"/>
            <a:ext cx="1460936" cy="757066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3" name="圆角矩形 27">
            <a:extLst>
              <a:ext uri="{FF2B5EF4-FFF2-40B4-BE49-F238E27FC236}">
                <a16:creationId xmlns:a16="http://schemas.microsoft.com/office/drawing/2014/main" id="{4FDDAB51-8626-6E7E-BA89-1266EDBB85D8}"/>
              </a:ext>
            </a:extLst>
          </p:cNvPr>
          <p:cNvSpPr/>
          <p:nvPr/>
        </p:nvSpPr>
        <p:spPr>
          <a:xfrm>
            <a:off x="7451633" y="3164961"/>
            <a:ext cx="1748422" cy="13531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4" name="空心弧 13">
            <a:extLst>
              <a:ext uri="{FF2B5EF4-FFF2-40B4-BE49-F238E27FC236}">
                <a16:creationId xmlns:a16="http://schemas.microsoft.com/office/drawing/2014/main" id="{EF4CA22B-8711-3252-7180-18F6259CD594}"/>
              </a:ext>
            </a:extLst>
          </p:cNvPr>
          <p:cNvSpPr/>
          <p:nvPr/>
        </p:nvSpPr>
        <p:spPr>
          <a:xfrm rot="16200000">
            <a:off x="1760197" y="3164961"/>
            <a:ext cx="1353108" cy="1353108"/>
          </a:xfrm>
          <a:prstGeom prst="blockArc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5" name="任意多边形 29">
            <a:extLst>
              <a:ext uri="{FF2B5EF4-FFF2-40B4-BE49-F238E27FC236}">
                <a16:creationId xmlns:a16="http://schemas.microsoft.com/office/drawing/2014/main" id="{3C2AD176-696C-3363-7990-3495DEEB2FE1}"/>
              </a:ext>
            </a:extLst>
          </p:cNvPr>
          <p:cNvSpPr/>
          <p:nvPr/>
        </p:nvSpPr>
        <p:spPr bwMode="auto">
          <a:xfrm>
            <a:off x="8211435" y="3443268"/>
            <a:ext cx="332610" cy="215954"/>
          </a:xfrm>
          <a:custGeom>
            <a:avLst/>
            <a:gdLst>
              <a:gd name="connsiteX0" fmla="*/ 542180 w 547688"/>
              <a:gd name="connsiteY0" fmla="*/ 59519 h 355600"/>
              <a:gd name="connsiteX1" fmla="*/ 543735 w 547688"/>
              <a:gd name="connsiteY1" fmla="*/ 59519 h 355600"/>
              <a:gd name="connsiteX2" fmla="*/ 543735 w 547688"/>
              <a:gd name="connsiteY2" fmla="*/ 60325 h 355600"/>
              <a:gd name="connsiteX3" fmla="*/ 545351 w 547688"/>
              <a:gd name="connsiteY3" fmla="*/ 60325 h 355600"/>
              <a:gd name="connsiteX4" fmla="*/ 546130 w 547688"/>
              <a:gd name="connsiteY4" fmla="*/ 60325 h 355600"/>
              <a:gd name="connsiteX5" fmla="*/ 547688 w 547688"/>
              <a:gd name="connsiteY5" fmla="*/ 62662 h 355600"/>
              <a:gd name="connsiteX6" fmla="*/ 547688 w 547688"/>
              <a:gd name="connsiteY6" fmla="*/ 343885 h 355600"/>
              <a:gd name="connsiteX7" fmla="*/ 542953 w 547688"/>
              <a:gd name="connsiteY7" fmla="*/ 348282 h 355600"/>
              <a:gd name="connsiteX8" fmla="*/ 542277 w 547688"/>
              <a:gd name="connsiteY8" fmla="*/ 352085 h 355600"/>
              <a:gd name="connsiteX9" fmla="*/ 536734 w 547688"/>
              <a:gd name="connsiteY9" fmla="*/ 355600 h 355600"/>
              <a:gd name="connsiteX10" fmla="*/ 14002 w 547688"/>
              <a:gd name="connsiteY10" fmla="*/ 355600 h 355600"/>
              <a:gd name="connsiteX11" fmla="*/ 0 w 547688"/>
              <a:gd name="connsiteY11" fmla="*/ 343882 h 355600"/>
              <a:gd name="connsiteX12" fmla="*/ 0 w 547688"/>
              <a:gd name="connsiteY12" fmla="*/ 62644 h 355600"/>
              <a:gd name="connsiteX13" fmla="*/ 3112 w 547688"/>
              <a:gd name="connsiteY13" fmla="*/ 60301 h 355600"/>
              <a:gd name="connsiteX14" fmla="*/ 7779 w 547688"/>
              <a:gd name="connsiteY14" fmla="*/ 61082 h 355600"/>
              <a:gd name="connsiteX15" fmla="*/ 186522 w 547688"/>
              <a:gd name="connsiteY15" fmla="*/ 194014 h 355600"/>
              <a:gd name="connsiteX16" fmla="*/ 244997 w 547688"/>
              <a:gd name="connsiteY16" fmla="*/ 237502 h 355600"/>
              <a:gd name="connsiteX17" fmla="*/ 274716 w 547688"/>
              <a:gd name="connsiteY17" fmla="*/ 259511 h 355600"/>
              <a:gd name="connsiteX18" fmla="*/ 277702 w 547688"/>
              <a:gd name="connsiteY18" fmla="*/ 259511 h 355600"/>
              <a:gd name="connsiteX19" fmla="*/ 14875 w 547688"/>
              <a:gd name="connsiteY19" fmla="*/ 0 h 355600"/>
              <a:gd name="connsiteX20" fmla="*/ 536799 w 547688"/>
              <a:gd name="connsiteY20" fmla="*/ 0 h 355600"/>
              <a:gd name="connsiteX21" fmla="*/ 547688 w 547688"/>
              <a:gd name="connsiteY21" fmla="*/ 9331 h 355600"/>
              <a:gd name="connsiteX22" fmla="*/ 547688 w 547688"/>
              <a:gd name="connsiteY22" fmla="*/ 13218 h 355600"/>
              <a:gd name="connsiteX23" fmla="*/ 278559 w 547688"/>
              <a:gd name="connsiteY23" fmla="*/ 190500 h 355600"/>
              <a:gd name="connsiteX24" fmla="*/ 277003 w 547688"/>
              <a:gd name="connsiteY24" fmla="*/ 190500 h 355600"/>
              <a:gd name="connsiteX25" fmla="*/ 275448 w 547688"/>
              <a:gd name="connsiteY25" fmla="*/ 190500 h 355600"/>
              <a:gd name="connsiteX26" fmla="*/ 274260 w 547688"/>
              <a:gd name="connsiteY26" fmla="*/ 189726 h 355600"/>
              <a:gd name="connsiteX27" fmla="*/ 273425 w 547688"/>
              <a:gd name="connsiteY27" fmla="*/ 189726 h 355600"/>
              <a:gd name="connsiteX28" fmla="*/ 0 w 547688"/>
              <a:gd name="connsiteY28" fmla="*/ 13976 h 355600"/>
              <a:gd name="connsiteX29" fmla="*/ 0 w 547688"/>
              <a:gd name="connsiteY29" fmla="*/ 9330 h 355600"/>
              <a:gd name="connsiteX30" fmla="*/ 4674 w 547688"/>
              <a:gd name="connsiteY30" fmla="*/ 3427 h 355600"/>
              <a:gd name="connsiteX31" fmla="*/ 12919 w 547688"/>
              <a:gd name="connsiteY31" fmla="*/ 1805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47688" h="355600">
                <a:moveTo>
                  <a:pt x="542180" y="59519"/>
                </a:moveTo>
                <a:cubicBezTo>
                  <a:pt x="542957" y="59519"/>
                  <a:pt x="542957" y="58738"/>
                  <a:pt x="543735" y="59519"/>
                </a:cubicBezTo>
                <a:lnTo>
                  <a:pt x="543735" y="60325"/>
                </a:lnTo>
                <a:lnTo>
                  <a:pt x="545351" y="60325"/>
                </a:lnTo>
                <a:cubicBezTo>
                  <a:pt x="545351" y="60325"/>
                  <a:pt x="546130" y="60325"/>
                  <a:pt x="546130" y="60325"/>
                </a:cubicBezTo>
                <a:cubicBezTo>
                  <a:pt x="546909" y="61104"/>
                  <a:pt x="547688" y="61883"/>
                  <a:pt x="547688" y="62662"/>
                </a:cubicBezTo>
                <a:cubicBezTo>
                  <a:pt x="547688" y="62662"/>
                  <a:pt x="547688" y="62662"/>
                  <a:pt x="547688" y="343885"/>
                </a:cubicBezTo>
                <a:lnTo>
                  <a:pt x="542953" y="348282"/>
                </a:lnTo>
                <a:lnTo>
                  <a:pt x="542277" y="352085"/>
                </a:lnTo>
                <a:cubicBezTo>
                  <a:pt x="541207" y="354233"/>
                  <a:pt x="539457" y="355600"/>
                  <a:pt x="536734" y="355600"/>
                </a:cubicBezTo>
                <a:cubicBezTo>
                  <a:pt x="536734" y="355600"/>
                  <a:pt x="536734" y="355600"/>
                  <a:pt x="14002" y="355600"/>
                </a:cubicBezTo>
                <a:cubicBezTo>
                  <a:pt x="7779" y="355600"/>
                  <a:pt x="0" y="350132"/>
                  <a:pt x="0" y="343882"/>
                </a:cubicBezTo>
                <a:cubicBezTo>
                  <a:pt x="0" y="343882"/>
                  <a:pt x="0" y="343882"/>
                  <a:pt x="0" y="62644"/>
                </a:cubicBezTo>
                <a:cubicBezTo>
                  <a:pt x="0" y="61863"/>
                  <a:pt x="2334" y="61082"/>
                  <a:pt x="3112" y="60301"/>
                </a:cubicBezTo>
                <a:cubicBezTo>
                  <a:pt x="3889" y="60301"/>
                  <a:pt x="7001" y="60301"/>
                  <a:pt x="7779" y="61082"/>
                </a:cubicBezTo>
                <a:cubicBezTo>
                  <a:pt x="7779" y="61082"/>
                  <a:pt x="7779" y="61082"/>
                  <a:pt x="186522" y="194014"/>
                </a:cubicBezTo>
                <a:lnTo>
                  <a:pt x="244997" y="237502"/>
                </a:lnTo>
                <a:lnTo>
                  <a:pt x="274716" y="259511"/>
                </a:lnTo>
                <a:lnTo>
                  <a:pt x="277702" y="259511"/>
                </a:lnTo>
                <a:close/>
                <a:moveTo>
                  <a:pt x="14875" y="0"/>
                </a:moveTo>
                <a:cubicBezTo>
                  <a:pt x="14875" y="0"/>
                  <a:pt x="14875" y="0"/>
                  <a:pt x="536799" y="0"/>
                </a:cubicBezTo>
                <a:cubicBezTo>
                  <a:pt x="543021" y="0"/>
                  <a:pt x="547688" y="3888"/>
                  <a:pt x="547688" y="9331"/>
                </a:cubicBezTo>
                <a:cubicBezTo>
                  <a:pt x="547688" y="9331"/>
                  <a:pt x="547688" y="9331"/>
                  <a:pt x="547688" y="13218"/>
                </a:cubicBezTo>
                <a:cubicBezTo>
                  <a:pt x="547688" y="13218"/>
                  <a:pt x="547688" y="13218"/>
                  <a:pt x="278559" y="190500"/>
                </a:cubicBezTo>
                <a:cubicBezTo>
                  <a:pt x="277781" y="190500"/>
                  <a:pt x="277003" y="190500"/>
                  <a:pt x="277003" y="190500"/>
                </a:cubicBezTo>
                <a:cubicBezTo>
                  <a:pt x="276226" y="190500"/>
                  <a:pt x="276226" y="190500"/>
                  <a:pt x="275448" y="190500"/>
                </a:cubicBezTo>
                <a:lnTo>
                  <a:pt x="274260" y="189726"/>
                </a:lnTo>
                <a:lnTo>
                  <a:pt x="273425" y="189726"/>
                </a:lnTo>
                <a:cubicBezTo>
                  <a:pt x="273425" y="189726"/>
                  <a:pt x="273425" y="189726"/>
                  <a:pt x="0" y="13976"/>
                </a:cubicBezTo>
                <a:cubicBezTo>
                  <a:pt x="0" y="13976"/>
                  <a:pt x="0" y="13976"/>
                  <a:pt x="0" y="9330"/>
                </a:cubicBezTo>
                <a:cubicBezTo>
                  <a:pt x="0" y="6621"/>
                  <a:pt x="1948" y="4685"/>
                  <a:pt x="4674" y="3427"/>
                </a:cubicBezTo>
                <a:lnTo>
                  <a:pt x="12919" y="18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6D25E16D-4C93-4317-104D-1F1D7E80B0AF}"/>
              </a:ext>
            </a:extLst>
          </p:cNvPr>
          <p:cNvSpPr txBox="1"/>
          <p:nvPr/>
        </p:nvSpPr>
        <p:spPr>
          <a:xfrm>
            <a:off x="3045902" y="3189380"/>
            <a:ext cx="4146229" cy="13593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B-2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负责待评测任务的接收、静态安全检查、动态执行与结果生成。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B-3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负责题目信息、测试用例、权重配置及三类题型的测试框架维护。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6EC7DA79-C044-6D4D-7370-89A98A69E379}"/>
              </a:ext>
            </a:extLst>
          </p:cNvPr>
          <p:cNvSpPr txBox="1"/>
          <p:nvPr/>
        </p:nvSpPr>
        <p:spPr>
          <a:xfrm>
            <a:off x="7608761" y="3801386"/>
            <a:ext cx="14341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模块二</a:t>
            </a:r>
            <a:r>
              <a:rPr lang="en-US" altLang="zh-CN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/</a:t>
            </a:r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三</a:t>
            </a:r>
          </a:p>
        </p:txBody>
      </p:sp>
      <p:sp>
        <p:nvSpPr>
          <p:cNvPr id="18" name="圆角矩形 33">
            <a:extLst>
              <a:ext uri="{FF2B5EF4-FFF2-40B4-BE49-F238E27FC236}">
                <a16:creationId xmlns:a16="http://schemas.microsoft.com/office/drawing/2014/main" id="{B1757F09-4272-468E-27A8-47C7242855CA}"/>
              </a:ext>
            </a:extLst>
          </p:cNvPr>
          <p:cNvSpPr/>
          <p:nvPr/>
        </p:nvSpPr>
        <p:spPr>
          <a:xfrm rot="5400000" flipH="1">
            <a:off x="5515430" y="1745290"/>
            <a:ext cx="1460936" cy="757065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9" name="圆角矩形 34">
            <a:extLst>
              <a:ext uri="{FF2B5EF4-FFF2-40B4-BE49-F238E27FC236}">
                <a16:creationId xmlns:a16="http://schemas.microsoft.com/office/drawing/2014/main" id="{0B1CA114-C998-F802-6C5A-FB8BFCBF29D3}"/>
              </a:ext>
            </a:extLst>
          </p:cNvPr>
          <p:cNvSpPr/>
          <p:nvPr/>
        </p:nvSpPr>
        <p:spPr>
          <a:xfrm>
            <a:off x="2528844" y="4854063"/>
            <a:ext cx="1748422" cy="13531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20" name="空心弧 19">
            <a:extLst>
              <a:ext uri="{FF2B5EF4-FFF2-40B4-BE49-F238E27FC236}">
                <a16:creationId xmlns:a16="http://schemas.microsoft.com/office/drawing/2014/main" id="{1C71B1A8-6D61-8599-38E1-E96CDC9E3DA4}"/>
              </a:ext>
            </a:extLst>
          </p:cNvPr>
          <p:cNvSpPr/>
          <p:nvPr/>
        </p:nvSpPr>
        <p:spPr>
          <a:xfrm rot="5400000" flipH="1">
            <a:off x="8604822" y="4854063"/>
            <a:ext cx="1353108" cy="1353108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3311BCEC-4183-C6E7-8E1D-7DA6BBFE4D83}"/>
              </a:ext>
            </a:extLst>
          </p:cNvPr>
          <p:cNvSpPr/>
          <p:nvPr/>
        </p:nvSpPr>
        <p:spPr bwMode="auto">
          <a:xfrm>
            <a:off x="3239788" y="5087404"/>
            <a:ext cx="326534" cy="285466"/>
          </a:xfrm>
          <a:custGeom>
            <a:avLst/>
            <a:gdLst>
              <a:gd name="T0" fmla="*/ 562 w 664"/>
              <a:gd name="T1" fmla="*/ 379 h 583"/>
              <a:gd name="T2" fmla="*/ 485 w 664"/>
              <a:gd name="T3" fmla="*/ 414 h 583"/>
              <a:gd name="T4" fmla="*/ 328 w 664"/>
              <a:gd name="T5" fmla="*/ 332 h 583"/>
              <a:gd name="T6" fmla="*/ 338 w 664"/>
              <a:gd name="T7" fmla="*/ 274 h 583"/>
              <a:gd name="T8" fmla="*/ 324 w 664"/>
              <a:gd name="T9" fmla="*/ 208 h 583"/>
              <a:gd name="T10" fmla="*/ 447 w 664"/>
              <a:gd name="T11" fmla="*/ 134 h 583"/>
              <a:gd name="T12" fmla="*/ 495 w 664"/>
              <a:gd name="T13" fmla="*/ 152 h 583"/>
              <a:gd name="T14" fmla="*/ 571 w 664"/>
              <a:gd name="T15" fmla="*/ 76 h 583"/>
              <a:gd name="T16" fmla="*/ 495 w 664"/>
              <a:gd name="T17" fmla="*/ 0 h 583"/>
              <a:gd name="T18" fmla="*/ 419 w 664"/>
              <a:gd name="T19" fmla="*/ 76 h 583"/>
              <a:gd name="T20" fmla="*/ 422 w 664"/>
              <a:gd name="T21" fmla="*/ 95 h 583"/>
              <a:gd name="T22" fmla="*/ 300 w 664"/>
              <a:gd name="T23" fmla="*/ 168 h 583"/>
              <a:gd name="T24" fmla="*/ 169 w 664"/>
              <a:gd name="T25" fmla="*/ 105 h 583"/>
              <a:gd name="T26" fmla="*/ 0 w 664"/>
              <a:gd name="T27" fmla="*/ 274 h 583"/>
              <a:gd name="T28" fmla="*/ 169 w 664"/>
              <a:gd name="T29" fmla="*/ 443 h 583"/>
              <a:gd name="T30" fmla="*/ 306 w 664"/>
              <a:gd name="T31" fmla="*/ 373 h 583"/>
              <a:gd name="T32" fmla="*/ 464 w 664"/>
              <a:gd name="T33" fmla="*/ 456 h 583"/>
              <a:gd name="T34" fmla="*/ 460 w 664"/>
              <a:gd name="T35" fmla="*/ 481 h 583"/>
              <a:gd name="T36" fmla="*/ 562 w 664"/>
              <a:gd name="T37" fmla="*/ 583 h 583"/>
              <a:gd name="T38" fmla="*/ 664 w 664"/>
              <a:gd name="T39" fmla="*/ 481 h 583"/>
              <a:gd name="T40" fmla="*/ 562 w 664"/>
              <a:gd name="T41" fmla="*/ 379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64" h="583">
                <a:moveTo>
                  <a:pt x="562" y="379"/>
                </a:moveTo>
                <a:cubicBezTo>
                  <a:pt x="532" y="379"/>
                  <a:pt x="504" y="393"/>
                  <a:pt x="485" y="414"/>
                </a:cubicBezTo>
                <a:cubicBezTo>
                  <a:pt x="328" y="332"/>
                  <a:pt x="328" y="332"/>
                  <a:pt x="328" y="332"/>
                </a:cubicBezTo>
                <a:cubicBezTo>
                  <a:pt x="334" y="314"/>
                  <a:pt x="338" y="295"/>
                  <a:pt x="338" y="274"/>
                </a:cubicBezTo>
                <a:cubicBezTo>
                  <a:pt x="338" y="251"/>
                  <a:pt x="333" y="229"/>
                  <a:pt x="324" y="208"/>
                </a:cubicBezTo>
                <a:cubicBezTo>
                  <a:pt x="447" y="134"/>
                  <a:pt x="447" y="134"/>
                  <a:pt x="447" y="134"/>
                </a:cubicBezTo>
                <a:cubicBezTo>
                  <a:pt x="460" y="145"/>
                  <a:pt x="477" y="152"/>
                  <a:pt x="495" y="152"/>
                </a:cubicBezTo>
                <a:cubicBezTo>
                  <a:pt x="537" y="152"/>
                  <a:pt x="571" y="118"/>
                  <a:pt x="571" y="76"/>
                </a:cubicBezTo>
                <a:cubicBezTo>
                  <a:pt x="571" y="34"/>
                  <a:pt x="537" y="0"/>
                  <a:pt x="495" y="0"/>
                </a:cubicBezTo>
                <a:cubicBezTo>
                  <a:pt x="453" y="0"/>
                  <a:pt x="419" y="34"/>
                  <a:pt x="419" y="76"/>
                </a:cubicBezTo>
                <a:cubicBezTo>
                  <a:pt x="419" y="83"/>
                  <a:pt x="421" y="89"/>
                  <a:pt x="422" y="95"/>
                </a:cubicBezTo>
                <a:cubicBezTo>
                  <a:pt x="300" y="168"/>
                  <a:pt x="300" y="168"/>
                  <a:pt x="300" y="168"/>
                </a:cubicBezTo>
                <a:cubicBezTo>
                  <a:pt x="269" y="130"/>
                  <a:pt x="222" y="105"/>
                  <a:pt x="169" y="105"/>
                </a:cubicBezTo>
                <a:cubicBezTo>
                  <a:pt x="76" y="105"/>
                  <a:pt x="0" y="181"/>
                  <a:pt x="0" y="274"/>
                </a:cubicBezTo>
                <a:cubicBezTo>
                  <a:pt x="0" y="368"/>
                  <a:pt x="76" y="443"/>
                  <a:pt x="169" y="443"/>
                </a:cubicBezTo>
                <a:cubicBezTo>
                  <a:pt x="225" y="443"/>
                  <a:pt x="275" y="416"/>
                  <a:pt x="306" y="373"/>
                </a:cubicBezTo>
                <a:cubicBezTo>
                  <a:pt x="464" y="456"/>
                  <a:pt x="464" y="456"/>
                  <a:pt x="464" y="456"/>
                </a:cubicBezTo>
                <a:cubicBezTo>
                  <a:pt x="461" y="464"/>
                  <a:pt x="460" y="472"/>
                  <a:pt x="460" y="481"/>
                </a:cubicBezTo>
                <a:cubicBezTo>
                  <a:pt x="460" y="538"/>
                  <a:pt x="506" y="583"/>
                  <a:pt x="562" y="583"/>
                </a:cubicBezTo>
                <a:cubicBezTo>
                  <a:pt x="619" y="583"/>
                  <a:pt x="664" y="538"/>
                  <a:pt x="664" y="481"/>
                </a:cubicBezTo>
                <a:cubicBezTo>
                  <a:pt x="664" y="425"/>
                  <a:pt x="619" y="379"/>
                  <a:pt x="562" y="3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6E5462ED-96F8-EFD1-9221-79355D67DA28}"/>
              </a:ext>
            </a:extLst>
          </p:cNvPr>
          <p:cNvSpPr txBox="1"/>
          <p:nvPr/>
        </p:nvSpPr>
        <p:spPr>
          <a:xfrm>
            <a:off x="2788744" y="5532502"/>
            <a:ext cx="122862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思源黑体" panose="020B0500000000000000" pitchFamily="34" charset="-122"/>
              </a:rPr>
              <a:t>模块四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E02C04EB-9C26-DCCA-E621-47E955A4E517}"/>
              </a:ext>
            </a:extLst>
          </p:cNvPr>
          <p:cNvSpPr txBox="1"/>
          <p:nvPr/>
        </p:nvSpPr>
        <p:spPr>
          <a:xfrm>
            <a:off x="4489771" y="4885646"/>
            <a:ext cx="457073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B-4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负责维护数据库表结构、提供统一业务接口、实现用户认证与权限控制、保存提交、测评和成绩数据、为前端和测评模块提供标准化接口</a:t>
            </a:r>
          </a:p>
        </p:txBody>
      </p:sp>
    </p:spTree>
    <p:extLst>
      <p:ext uri="{BB962C8B-B14F-4D97-AF65-F5344CB8AC3E}">
        <p14:creationId xmlns:p14="http://schemas.microsoft.com/office/powerpoint/2010/main" val="1256943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接口与数据库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04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CD4C-C9B0-DE94-337F-677BA6FD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DF68F-68FF-77C3-F19A-40759A755A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接口与数据库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ABB9E92-8708-9EE9-710E-431F099EA65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B96EDD4E-208D-A1F2-723E-73993FA15A4B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A8DF6456-E7BE-F8D6-5D32-80C78552AC81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04A0053-C4DB-3F28-EC35-6E1EFB7FAA16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4A3C42-7D01-41D4-517C-B59BA36068BE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81A9304-54D4-8B99-3BAC-C5B04B953822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EA21BC6-AC05-ECF2-7240-A443E55688D9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341E3D-3C3A-47B7-DF54-F2B525F32B54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C108DE-DEC0-7D45-268E-17149C4005E6}"/>
              </a:ext>
            </a:extLst>
          </p:cNvPr>
          <p:cNvSpPr txBox="1"/>
          <p:nvPr/>
        </p:nvSpPr>
        <p:spPr>
          <a:xfrm>
            <a:off x="160704" y="1254189"/>
            <a:ext cx="9055485" cy="533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  <a:buNone/>
              <a:defRPr sz="1800">
                <a:solidFill>
                  <a:srgbClr val="0F172A"/>
                </a:solidFill>
              </a:defRPr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模块之间的接口设计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系统接口统一采用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RESTful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风格，传输数据使用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JSON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用户认证采用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JWT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，前端后续请求都携带 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Token 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完成身份校验。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接口设计上主要分为几类：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认证类接口：登录、获取当前用户、修改密码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学生管理类接口：学生导入、学生查询、学生删除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题库类接口：题目创建、题库批量导入、测试用例维护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作业类接口：作业创建、作业查询、作业详情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提交类接口：代码提交、提交详情、提交状态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成绩类接口：成绩查询、成绩详情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测评协同接口：待评测任务拉取、测试用例获取、评测结果回传</a:t>
            </a:r>
          </a:p>
          <a:p>
            <a:pPr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统一接口规范的好处是便于前后端联调，也便于模块解耦和后续扩展。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2582001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2156-50BC-E559-EB66-8E5C5BEC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D99F9-3F2F-9CD2-EAE9-09D9799C35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接口与数据库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DAB4FB9-95D7-B298-F106-D40441A0A30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2C1737D-B7F2-1907-8C26-7326DE91C896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15F536F7-873C-0C49-3B02-3738D8D582F8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3439A12-B287-C159-39F0-8A70D590056D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8067E77-8DA2-BB91-FF39-44E77644730C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2F3FAB2-CC67-FFFB-3633-2CCB08D04807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2809F7B-D6E4-37F0-36B6-490066254A36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8585E7-517B-C57B-2DBA-810883838EC8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B9AE72-A515-8D29-4C9A-CB95E7D53708}"/>
              </a:ext>
            </a:extLst>
          </p:cNvPr>
          <p:cNvSpPr txBox="1"/>
          <p:nvPr/>
        </p:nvSpPr>
        <p:spPr>
          <a:xfrm>
            <a:off x="160703" y="1038813"/>
            <a:ext cx="10218519" cy="590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数据库设计与核心表结构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数据库围绕“用户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学生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作业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提交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测评</a:t>
            </a: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成绩”构建完整关系。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核心表：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users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：用户表，保存用户名、密码、角色、首次改密状态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classes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：班级表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students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：学生表，保存学号、姓名、班级、课程编号、课序号等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problems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：题目表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problem_testcases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：题目测试用例表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assignments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：作业表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submissions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：提交记录表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judge_tasks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：评测任务表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judge_results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：评测结果表</a:t>
            </a:r>
          </a:p>
          <a:p>
            <a:pPr indent="-34290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scores</a:t>
            </a:r>
            <a:r>
              <a:rPr lang="zh-CN" altLang="en-US" sz="2000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：成绩表</a:t>
            </a:r>
          </a:p>
        </p:txBody>
      </p:sp>
    </p:spTree>
    <p:extLst>
      <p:ext uri="{BB962C8B-B14F-4D97-AF65-F5344CB8AC3E}">
        <p14:creationId xmlns:p14="http://schemas.microsoft.com/office/powerpoint/2010/main" val="1394951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05010-37B1-B2EB-3618-84588F23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4D991-71AF-F984-A5D2-1FE30C3965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接口与数据库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56BA0B5-0350-613D-06AA-77B804BDF50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DA557AF1-732C-3C11-A9D4-A0480EC85060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0DE31852-77A6-5F3F-360C-7B9F4D923FE0}"/>
              </a:ext>
            </a:extLst>
          </p:cNvPr>
          <p:cNvSpPr/>
          <p:nvPr/>
        </p:nvSpPr>
        <p:spPr>
          <a:xfrm rot="16200000">
            <a:off x="10400553" y="398907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DB900F7-B1D3-5677-DA8D-6F207962D353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CE46A2-924A-D1E3-1696-17F835B6473C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FAE05A-7FDC-B69F-0A9D-150A4B6E732F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FE6FA4-7123-1FFC-F7A1-F6FA1405F465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5E969B-6262-7406-EA81-EA30D681D51D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8" name="椭圆 8">
            <a:extLst>
              <a:ext uri="{FF2B5EF4-FFF2-40B4-BE49-F238E27FC236}">
                <a16:creationId xmlns:a16="http://schemas.microsoft.com/office/drawing/2014/main" id="{6EE28BB7-6254-3B46-DDD2-B84FEDE1F2C5}"/>
              </a:ext>
            </a:extLst>
          </p:cNvPr>
          <p:cNvSpPr/>
          <p:nvPr/>
        </p:nvSpPr>
        <p:spPr>
          <a:xfrm>
            <a:off x="462824" y="2131169"/>
            <a:ext cx="520518" cy="456618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9" name="椭圆 34">
            <a:extLst>
              <a:ext uri="{FF2B5EF4-FFF2-40B4-BE49-F238E27FC236}">
                <a16:creationId xmlns:a16="http://schemas.microsoft.com/office/drawing/2014/main" id="{0DD04002-97D1-7395-697A-5BAD765DD0EC}"/>
              </a:ext>
            </a:extLst>
          </p:cNvPr>
          <p:cNvSpPr/>
          <p:nvPr/>
        </p:nvSpPr>
        <p:spPr>
          <a:xfrm>
            <a:off x="462824" y="4816844"/>
            <a:ext cx="520518" cy="324885"/>
          </a:xfrm>
          <a:custGeom>
            <a:avLst/>
            <a:gdLst>
              <a:gd name="connsiteX0" fmla="*/ 509262 w 608697"/>
              <a:gd name="connsiteY0" fmla="*/ 287324 h 379924"/>
              <a:gd name="connsiteX1" fmla="*/ 488226 w 608697"/>
              <a:gd name="connsiteY1" fmla="*/ 308258 h 379924"/>
              <a:gd name="connsiteX2" fmla="*/ 509262 w 608697"/>
              <a:gd name="connsiteY2" fmla="*/ 329266 h 379924"/>
              <a:gd name="connsiteX3" fmla="*/ 530223 w 608697"/>
              <a:gd name="connsiteY3" fmla="*/ 308258 h 379924"/>
              <a:gd name="connsiteX4" fmla="*/ 509262 w 608697"/>
              <a:gd name="connsiteY4" fmla="*/ 287324 h 379924"/>
              <a:gd name="connsiteX5" fmla="*/ 442648 w 608697"/>
              <a:gd name="connsiteY5" fmla="*/ 287324 h 379924"/>
              <a:gd name="connsiteX6" fmla="*/ 421687 w 608697"/>
              <a:gd name="connsiteY6" fmla="*/ 308332 h 379924"/>
              <a:gd name="connsiteX7" fmla="*/ 442648 w 608697"/>
              <a:gd name="connsiteY7" fmla="*/ 329266 h 379924"/>
              <a:gd name="connsiteX8" fmla="*/ 463684 w 608697"/>
              <a:gd name="connsiteY8" fmla="*/ 308332 h 379924"/>
              <a:gd name="connsiteX9" fmla="*/ 442648 w 608697"/>
              <a:gd name="connsiteY9" fmla="*/ 287324 h 379924"/>
              <a:gd name="connsiteX10" fmla="*/ 380436 w 608697"/>
              <a:gd name="connsiteY10" fmla="*/ 284940 h 379924"/>
              <a:gd name="connsiteX11" fmla="*/ 380436 w 608697"/>
              <a:gd name="connsiteY11" fmla="*/ 332469 h 379924"/>
              <a:gd name="connsiteX12" fmla="*/ 399457 w 608697"/>
              <a:gd name="connsiteY12" fmla="*/ 332469 h 379924"/>
              <a:gd name="connsiteX13" fmla="*/ 399457 w 608697"/>
              <a:gd name="connsiteY13" fmla="*/ 284940 h 379924"/>
              <a:gd name="connsiteX14" fmla="*/ 114131 w 608697"/>
              <a:gd name="connsiteY14" fmla="*/ 199418 h 379924"/>
              <a:gd name="connsiteX15" fmla="*/ 171196 w 608697"/>
              <a:gd name="connsiteY15" fmla="*/ 199418 h 379924"/>
              <a:gd name="connsiteX16" fmla="*/ 437501 w 608697"/>
              <a:gd name="connsiteY16" fmla="*/ 199418 h 379924"/>
              <a:gd name="connsiteX17" fmla="*/ 494566 w 608697"/>
              <a:gd name="connsiteY17" fmla="*/ 199418 h 379924"/>
              <a:gd name="connsiteX18" fmla="*/ 513588 w 608697"/>
              <a:gd name="connsiteY18" fmla="*/ 218415 h 379924"/>
              <a:gd name="connsiteX19" fmla="*/ 608697 w 608697"/>
              <a:gd name="connsiteY19" fmla="*/ 360927 h 379924"/>
              <a:gd name="connsiteX20" fmla="*/ 589675 w 608697"/>
              <a:gd name="connsiteY20" fmla="*/ 379924 h 379924"/>
              <a:gd name="connsiteX21" fmla="*/ 19022 w 608697"/>
              <a:gd name="connsiteY21" fmla="*/ 379924 h 379924"/>
              <a:gd name="connsiteX22" fmla="*/ 0 w 608697"/>
              <a:gd name="connsiteY22" fmla="*/ 360927 h 379924"/>
              <a:gd name="connsiteX23" fmla="*/ 95109 w 608697"/>
              <a:gd name="connsiteY23" fmla="*/ 218415 h 379924"/>
              <a:gd name="connsiteX24" fmla="*/ 114131 w 608697"/>
              <a:gd name="connsiteY24" fmla="*/ 199418 h 379924"/>
              <a:gd name="connsiteX25" fmla="*/ 190214 w 608697"/>
              <a:gd name="connsiteY25" fmla="*/ 0 h 379924"/>
              <a:gd name="connsiteX26" fmla="*/ 418484 w 608697"/>
              <a:gd name="connsiteY26" fmla="*/ 0 h 379924"/>
              <a:gd name="connsiteX27" fmla="*/ 437506 w 608697"/>
              <a:gd name="connsiteY27" fmla="*/ 18997 h 379924"/>
              <a:gd name="connsiteX28" fmla="*/ 437506 w 608697"/>
              <a:gd name="connsiteY28" fmla="*/ 180436 h 379924"/>
              <a:gd name="connsiteX29" fmla="*/ 171192 w 608697"/>
              <a:gd name="connsiteY29" fmla="*/ 180436 h 379924"/>
              <a:gd name="connsiteX30" fmla="*/ 171192 w 608697"/>
              <a:gd name="connsiteY30" fmla="*/ 18997 h 379924"/>
              <a:gd name="connsiteX31" fmla="*/ 190214 w 608697"/>
              <a:gd name="connsiteY31" fmla="*/ 0 h 37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8697" h="379924">
                <a:moveTo>
                  <a:pt x="509262" y="287324"/>
                </a:moveTo>
                <a:cubicBezTo>
                  <a:pt x="497625" y="287324"/>
                  <a:pt x="488226" y="296711"/>
                  <a:pt x="488226" y="308258"/>
                </a:cubicBezTo>
                <a:cubicBezTo>
                  <a:pt x="488226" y="319879"/>
                  <a:pt x="497625" y="329266"/>
                  <a:pt x="509262" y="329266"/>
                </a:cubicBezTo>
                <a:cubicBezTo>
                  <a:pt x="520824" y="329266"/>
                  <a:pt x="530223" y="319879"/>
                  <a:pt x="530223" y="308258"/>
                </a:cubicBezTo>
                <a:cubicBezTo>
                  <a:pt x="530223" y="296711"/>
                  <a:pt x="520824" y="287324"/>
                  <a:pt x="509262" y="287324"/>
                </a:cubicBezTo>
                <a:close/>
                <a:moveTo>
                  <a:pt x="442648" y="287324"/>
                </a:moveTo>
                <a:cubicBezTo>
                  <a:pt x="431086" y="287324"/>
                  <a:pt x="421687" y="296711"/>
                  <a:pt x="421687" y="308332"/>
                </a:cubicBezTo>
                <a:cubicBezTo>
                  <a:pt x="421687" y="319879"/>
                  <a:pt x="431086" y="329266"/>
                  <a:pt x="442648" y="329266"/>
                </a:cubicBezTo>
                <a:cubicBezTo>
                  <a:pt x="454285" y="329266"/>
                  <a:pt x="463684" y="319879"/>
                  <a:pt x="463684" y="308332"/>
                </a:cubicBezTo>
                <a:cubicBezTo>
                  <a:pt x="463684" y="296711"/>
                  <a:pt x="454285" y="287324"/>
                  <a:pt x="442648" y="287324"/>
                </a:cubicBezTo>
                <a:close/>
                <a:moveTo>
                  <a:pt x="380436" y="284940"/>
                </a:moveTo>
                <a:lnTo>
                  <a:pt x="380436" y="332469"/>
                </a:lnTo>
                <a:lnTo>
                  <a:pt x="399457" y="332469"/>
                </a:lnTo>
                <a:lnTo>
                  <a:pt x="399457" y="284940"/>
                </a:lnTo>
                <a:close/>
                <a:moveTo>
                  <a:pt x="114131" y="199418"/>
                </a:moveTo>
                <a:lnTo>
                  <a:pt x="171196" y="199418"/>
                </a:lnTo>
                <a:lnTo>
                  <a:pt x="437501" y="199418"/>
                </a:lnTo>
                <a:lnTo>
                  <a:pt x="494566" y="199418"/>
                </a:lnTo>
                <a:cubicBezTo>
                  <a:pt x="505084" y="199418"/>
                  <a:pt x="505681" y="206942"/>
                  <a:pt x="513588" y="218415"/>
                </a:cubicBezTo>
                <a:lnTo>
                  <a:pt x="608697" y="360927"/>
                </a:lnTo>
                <a:cubicBezTo>
                  <a:pt x="608697" y="371431"/>
                  <a:pt x="608697" y="379924"/>
                  <a:pt x="589675" y="379924"/>
                </a:cubicBezTo>
                <a:lnTo>
                  <a:pt x="19022" y="379924"/>
                </a:lnTo>
                <a:cubicBezTo>
                  <a:pt x="0" y="379924"/>
                  <a:pt x="0" y="371431"/>
                  <a:pt x="0" y="360927"/>
                </a:cubicBezTo>
                <a:lnTo>
                  <a:pt x="95109" y="218415"/>
                </a:lnTo>
                <a:cubicBezTo>
                  <a:pt x="101450" y="208954"/>
                  <a:pt x="103613" y="199418"/>
                  <a:pt x="114131" y="199418"/>
                </a:cubicBezTo>
                <a:close/>
                <a:moveTo>
                  <a:pt x="190214" y="0"/>
                </a:moveTo>
                <a:lnTo>
                  <a:pt x="418484" y="0"/>
                </a:lnTo>
                <a:cubicBezTo>
                  <a:pt x="429002" y="0"/>
                  <a:pt x="437506" y="8493"/>
                  <a:pt x="437506" y="18997"/>
                </a:cubicBezTo>
                <a:lnTo>
                  <a:pt x="437506" y="180436"/>
                </a:lnTo>
                <a:lnTo>
                  <a:pt x="171192" y="180436"/>
                </a:lnTo>
                <a:lnTo>
                  <a:pt x="171192" y="18997"/>
                </a:lnTo>
                <a:cubicBezTo>
                  <a:pt x="171192" y="8493"/>
                  <a:pt x="179696" y="0"/>
                  <a:pt x="19021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0" name="椭圆 37">
            <a:extLst>
              <a:ext uri="{FF2B5EF4-FFF2-40B4-BE49-F238E27FC236}">
                <a16:creationId xmlns:a16="http://schemas.microsoft.com/office/drawing/2014/main" id="{725DAB44-5701-818C-F345-4BC8CBA4A2E0}"/>
              </a:ext>
            </a:extLst>
          </p:cNvPr>
          <p:cNvSpPr/>
          <p:nvPr/>
        </p:nvSpPr>
        <p:spPr>
          <a:xfrm>
            <a:off x="462824" y="3429000"/>
            <a:ext cx="435534" cy="510435"/>
          </a:xfrm>
          <a:custGeom>
            <a:avLst/>
            <a:gdLst>
              <a:gd name="T0" fmla="*/ 3531 w 3631"/>
              <a:gd name="T1" fmla="*/ 0 h 4067"/>
              <a:gd name="T2" fmla="*/ 1249 w 3631"/>
              <a:gd name="T3" fmla="*/ 0 h 4067"/>
              <a:gd name="T4" fmla="*/ 1178 w 3631"/>
              <a:gd name="T5" fmla="*/ 29 h 4067"/>
              <a:gd name="T6" fmla="*/ 29 w 3631"/>
              <a:gd name="T7" fmla="*/ 1179 h 4067"/>
              <a:gd name="T8" fmla="*/ 0 w 3631"/>
              <a:gd name="T9" fmla="*/ 1249 h 4067"/>
              <a:gd name="T10" fmla="*/ 0 w 3631"/>
              <a:gd name="T11" fmla="*/ 3967 h 4067"/>
              <a:gd name="T12" fmla="*/ 100 w 3631"/>
              <a:gd name="T13" fmla="*/ 4067 h 4067"/>
              <a:gd name="T14" fmla="*/ 3531 w 3631"/>
              <a:gd name="T15" fmla="*/ 4067 h 4067"/>
              <a:gd name="T16" fmla="*/ 3631 w 3631"/>
              <a:gd name="T17" fmla="*/ 3967 h 4067"/>
              <a:gd name="T18" fmla="*/ 3631 w 3631"/>
              <a:gd name="T19" fmla="*/ 100 h 4067"/>
              <a:gd name="T20" fmla="*/ 3531 w 3631"/>
              <a:gd name="T21" fmla="*/ 0 h 4067"/>
              <a:gd name="T22" fmla="*/ 2636 w 3631"/>
              <a:gd name="T23" fmla="*/ 1442 h 4067"/>
              <a:gd name="T24" fmla="*/ 2932 w 3631"/>
              <a:gd name="T25" fmla="*/ 1442 h 4067"/>
              <a:gd name="T26" fmla="*/ 2932 w 3631"/>
              <a:gd name="T27" fmla="*/ 449 h 4067"/>
              <a:gd name="T28" fmla="*/ 2998 w 3631"/>
              <a:gd name="T29" fmla="*/ 382 h 4067"/>
              <a:gd name="T30" fmla="*/ 3065 w 3631"/>
              <a:gd name="T31" fmla="*/ 449 h 4067"/>
              <a:gd name="T32" fmla="*/ 3065 w 3631"/>
              <a:gd name="T33" fmla="*/ 1509 h 4067"/>
              <a:gd name="T34" fmla="*/ 2998 w 3631"/>
              <a:gd name="T35" fmla="*/ 1575 h 4067"/>
              <a:gd name="T36" fmla="*/ 2636 w 3631"/>
              <a:gd name="T37" fmla="*/ 1575 h 4067"/>
              <a:gd name="T38" fmla="*/ 2569 w 3631"/>
              <a:gd name="T39" fmla="*/ 1509 h 4067"/>
              <a:gd name="T40" fmla="*/ 2636 w 3631"/>
              <a:gd name="T41" fmla="*/ 1442 h 4067"/>
              <a:gd name="T42" fmla="*/ 1966 w 3631"/>
              <a:gd name="T43" fmla="*/ 1442 h 4067"/>
              <a:gd name="T44" fmla="*/ 2262 w 3631"/>
              <a:gd name="T45" fmla="*/ 1442 h 4067"/>
              <a:gd name="T46" fmla="*/ 2262 w 3631"/>
              <a:gd name="T47" fmla="*/ 449 h 4067"/>
              <a:gd name="T48" fmla="*/ 2329 w 3631"/>
              <a:gd name="T49" fmla="*/ 382 h 4067"/>
              <a:gd name="T50" fmla="*/ 2395 w 3631"/>
              <a:gd name="T51" fmla="*/ 449 h 4067"/>
              <a:gd name="T52" fmla="*/ 2395 w 3631"/>
              <a:gd name="T53" fmla="*/ 1509 h 4067"/>
              <a:gd name="T54" fmla="*/ 2329 w 3631"/>
              <a:gd name="T55" fmla="*/ 1575 h 4067"/>
              <a:gd name="T56" fmla="*/ 1966 w 3631"/>
              <a:gd name="T57" fmla="*/ 1575 h 4067"/>
              <a:gd name="T58" fmla="*/ 1899 w 3631"/>
              <a:gd name="T59" fmla="*/ 1509 h 4067"/>
              <a:gd name="T60" fmla="*/ 1966 w 3631"/>
              <a:gd name="T61" fmla="*/ 1442 h 4067"/>
              <a:gd name="T62" fmla="*/ 1296 w 3631"/>
              <a:gd name="T63" fmla="*/ 1442 h 4067"/>
              <a:gd name="T64" fmla="*/ 1592 w 3631"/>
              <a:gd name="T65" fmla="*/ 1442 h 4067"/>
              <a:gd name="T66" fmla="*/ 1592 w 3631"/>
              <a:gd name="T67" fmla="*/ 449 h 4067"/>
              <a:gd name="T68" fmla="*/ 1659 w 3631"/>
              <a:gd name="T69" fmla="*/ 382 h 4067"/>
              <a:gd name="T70" fmla="*/ 1726 w 3631"/>
              <a:gd name="T71" fmla="*/ 449 h 4067"/>
              <a:gd name="T72" fmla="*/ 1726 w 3631"/>
              <a:gd name="T73" fmla="*/ 1509 h 4067"/>
              <a:gd name="T74" fmla="*/ 1659 w 3631"/>
              <a:gd name="T75" fmla="*/ 1575 h 4067"/>
              <a:gd name="T76" fmla="*/ 1296 w 3631"/>
              <a:gd name="T77" fmla="*/ 1575 h 4067"/>
              <a:gd name="T78" fmla="*/ 1230 w 3631"/>
              <a:gd name="T79" fmla="*/ 1509 h 4067"/>
              <a:gd name="T80" fmla="*/ 1296 w 3631"/>
              <a:gd name="T81" fmla="*/ 1442 h 4067"/>
              <a:gd name="T82" fmla="*/ 3121 w 3631"/>
              <a:gd name="T83" fmla="*/ 3413 h 4067"/>
              <a:gd name="T84" fmla="*/ 510 w 3631"/>
              <a:gd name="T85" fmla="*/ 3413 h 4067"/>
              <a:gd name="T86" fmla="*/ 510 w 3631"/>
              <a:gd name="T87" fmla="*/ 2126 h 4067"/>
              <a:gd name="T88" fmla="*/ 3121 w 3631"/>
              <a:gd name="T89" fmla="*/ 2126 h 4067"/>
              <a:gd name="T90" fmla="*/ 3121 w 3631"/>
              <a:gd name="T91" fmla="*/ 3413 h 4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631" h="4067">
                <a:moveTo>
                  <a:pt x="3531" y="0"/>
                </a:moveTo>
                <a:lnTo>
                  <a:pt x="1249" y="0"/>
                </a:lnTo>
                <a:cubicBezTo>
                  <a:pt x="1222" y="0"/>
                  <a:pt x="1197" y="11"/>
                  <a:pt x="1178" y="29"/>
                </a:cubicBezTo>
                <a:lnTo>
                  <a:pt x="29" y="1179"/>
                </a:lnTo>
                <a:cubicBezTo>
                  <a:pt x="10" y="1197"/>
                  <a:pt x="0" y="1223"/>
                  <a:pt x="0" y="1249"/>
                </a:cubicBezTo>
                <a:lnTo>
                  <a:pt x="0" y="3967"/>
                </a:lnTo>
                <a:cubicBezTo>
                  <a:pt x="0" y="4022"/>
                  <a:pt x="44" y="4067"/>
                  <a:pt x="100" y="4067"/>
                </a:cubicBezTo>
                <a:lnTo>
                  <a:pt x="3531" y="4067"/>
                </a:lnTo>
                <a:cubicBezTo>
                  <a:pt x="3586" y="4067"/>
                  <a:pt x="3631" y="4022"/>
                  <a:pt x="3631" y="3967"/>
                </a:cubicBezTo>
                <a:lnTo>
                  <a:pt x="3631" y="100"/>
                </a:lnTo>
                <a:cubicBezTo>
                  <a:pt x="3631" y="45"/>
                  <a:pt x="3586" y="0"/>
                  <a:pt x="3531" y="0"/>
                </a:cubicBezTo>
                <a:close/>
                <a:moveTo>
                  <a:pt x="2636" y="1442"/>
                </a:moveTo>
                <a:lnTo>
                  <a:pt x="2932" y="1442"/>
                </a:lnTo>
                <a:lnTo>
                  <a:pt x="2932" y="449"/>
                </a:lnTo>
                <a:cubicBezTo>
                  <a:pt x="2932" y="412"/>
                  <a:pt x="2961" y="382"/>
                  <a:pt x="2998" y="382"/>
                </a:cubicBezTo>
                <a:cubicBezTo>
                  <a:pt x="3035" y="382"/>
                  <a:pt x="3065" y="412"/>
                  <a:pt x="3065" y="449"/>
                </a:cubicBezTo>
                <a:lnTo>
                  <a:pt x="3065" y="1509"/>
                </a:lnTo>
                <a:cubicBezTo>
                  <a:pt x="3065" y="1546"/>
                  <a:pt x="3035" y="1575"/>
                  <a:pt x="2998" y="1575"/>
                </a:cubicBezTo>
                <a:lnTo>
                  <a:pt x="2636" y="1575"/>
                </a:lnTo>
                <a:cubicBezTo>
                  <a:pt x="2599" y="1575"/>
                  <a:pt x="2569" y="1546"/>
                  <a:pt x="2569" y="1509"/>
                </a:cubicBezTo>
                <a:cubicBezTo>
                  <a:pt x="2569" y="1472"/>
                  <a:pt x="2599" y="1442"/>
                  <a:pt x="2636" y="1442"/>
                </a:cubicBezTo>
                <a:close/>
                <a:moveTo>
                  <a:pt x="1966" y="1442"/>
                </a:moveTo>
                <a:lnTo>
                  <a:pt x="2262" y="1442"/>
                </a:lnTo>
                <a:lnTo>
                  <a:pt x="2262" y="449"/>
                </a:lnTo>
                <a:cubicBezTo>
                  <a:pt x="2262" y="412"/>
                  <a:pt x="2292" y="382"/>
                  <a:pt x="2329" y="382"/>
                </a:cubicBezTo>
                <a:cubicBezTo>
                  <a:pt x="2366" y="382"/>
                  <a:pt x="2395" y="412"/>
                  <a:pt x="2395" y="449"/>
                </a:cubicBezTo>
                <a:lnTo>
                  <a:pt x="2395" y="1509"/>
                </a:lnTo>
                <a:cubicBezTo>
                  <a:pt x="2395" y="1546"/>
                  <a:pt x="2366" y="1575"/>
                  <a:pt x="2329" y="1575"/>
                </a:cubicBezTo>
                <a:lnTo>
                  <a:pt x="1966" y="1575"/>
                </a:lnTo>
                <a:cubicBezTo>
                  <a:pt x="1929" y="1575"/>
                  <a:pt x="1899" y="1546"/>
                  <a:pt x="1899" y="1509"/>
                </a:cubicBezTo>
                <a:cubicBezTo>
                  <a:pt x="1899" y="1472"/>
                  <a:pt x="1929" y="1442"/>
                  <a:pt x="1966" y="1442"/>
                </a:cubicBezTo>
                <a:close/>
                <a:moveTo>
                  <a:pt x="1296" y="1442"/>
                </a:moveTo>
                <a:lnTo>
                  <a:pt x="1592" y="1442"/>
                </a:lnTo>
                <a:lnTo>
                  <a:pt x="1592" y="449"/>
                </a:lnTo>
                <a:cubicBezTo>
                  <a:pt x="1592" y="412"/>
                  <a:pt x="1622" y="382"/>
                  <a:pt x="1659" y="382"/>
                </a:cubicBezTo>
                <a:cubicBezTo>
                  <a:pt x="1696" y="382"/>
                  <a:pt x="1726" y="412"/>
                  <a:pt x="1726" y="449"/>
                </a:cubicBezTo>
                <a:lnTo>
                  <a:pt x="1726" y="1509"/>
                </a:lnTo>
                <a:cubicBezTo>
                  <a:pt x="1726" y="1546"/>
                  <a:pt x="1696" y="1575"/>
                  <a:pt x="1659" y="1575"/>
                </a:cubicBezTo>
                <a:lnTo>
                  <a:pt x="1296" y="1575"/>
                </a:lnTo>
                <a:cubicBezTo>
                  <a:pt x="1260" y="1575"/>
                  <a:pt x="1230" y="1546"/>
                  <a:pt x="1230" y="1509"/>
                </a:cubicBezTo>
                <a:cubicBezTo>
                  <a:pt x="1230" y="1472"/>
                  <a:pt x="1260" y="1442"/>
                  <a:pt x="1296" y="1442"/>
                </a:cubicBezTo>
                <a:close/>
                <a:moveTo>
                  <a:pt x="3121" y="3413"/>
                </a:moveTo>
                <a:lnTo>
                  <a:pt x="510" y="3413"/>
                </a:lnTo>
                <a:lnTo>
                  <a:pt x="510" y="2126"/>
                </a:lnTo>
                <a:lnTo>
                  <a:pt x="3121" y="2126"/>
                </a:lnTo>
                <a:lnTo>
                  <a:pt x="3121" y="34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sym typeface="思源黑体" panose="020B0500000000000000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872922F-2B05-1D68-4E39-E74FB7614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79" y="2132904"/>
            <a:ext cx="69247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FastAPI</a:t>
            </a: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CORS 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中间件，用于支持前后端分离场景的跨域请求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0DC23DD-1BB4-5146-3354-BE5DC271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79" y="3317393"/>
            <a:ext cx="67643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基于角色的权限控制，限制教师和学生访问范围代码静态安全检查，降低危险代码直接执行的风险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96CFFD1-EAE3-BECE-FD97-F5C728BAF466}"/>
              </a:ext>
            </a:extLst>
          </p:cNvPr>
          <p:cNvSpPr txBox="1"/>
          <p:nvPr/>
        </p:nvSpPr>
        <p:spPr>
          <a:xfrm>
            <a:off x="1240679" y="4640382"/>
            <a:ext cx="67643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对于更强的沙箱隔离、容器化执行和异步调度，是后续的重点任务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7FA0B2-A4C9-3598-A0BF-E64FEF134160}"/>
              </a:ext>
            </a:extLst>
          </p:cNvPr>
          <p:cNvSpPr txBox="1"/>
          <p:nvPr/>
        </p:nvSpPr>
        <p:spPr>
          <a:xfrm>
            <a:off x="274278" y="1291892"/>
            <a:ext cx="6144126" cy="49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中间件与安全控制：</a:t>
            </a:r>
          </a:p>
        </p:txBody>
      </p:sp>
    </p:spTree>
    <p:extLst>
      <p:ext uri="{BB962C8B-B14F-4D97-AF65-F5344CB8AC3E}">
        <p14:creationId xmlns:p14="http://schemas.microsoft.com/office/powerpoint/2010/main" val="2100366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0441-BCF2-FE53-A3DF-4EAC3182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6D4AA73-9E7C-21BB-0657-EDE5721BA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3610"/>
            <a:ext cx="9144000" cy="813556"/>
          </a:xfrm>
        </p:spPr>
        <p:txBody>
          <a:bodyPr>
            <a:normAutofit fontScale="90000"/>
          </a:bodyPr>
          <a:lstStyle/>
          <a:p>
            <a:r>
              <a:rPr lang="en-US" altLang="zh-CN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Demo</a:t>
            </a:r>
            <a:r>
              <a:rPr lang="zh-CN" altLang="en-US" sz="5400" b="0" dirty="0"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D3CC84-135B-8611-52F4-79B4F16F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100" y="1801877"/>
            <a:ext cx="1193800" cy="1193794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121B5DD2-4249-9B5A-4077-22D364C84615}"/>
              </a:ext>
            </a:extLst>
          </p:cNvPr>
          <p:cNvSpPr txBox="1"/>
          <p:nvPr/>
        </p:nvSpPr>
        <p:spPr>
          <a:xfrm>
            <a:off x="495300" y="-130685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PART  </a:t>
            </a:r>
            <a:endParaRPr lang="zh-CN" altLang="en-US" sz="138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8562A67-43C8-28F4-2CDF-9ADAEE142938}"/>
              </a:ext>
            </a:extLst>
          </p:cNvPr>
          <p:cNvSpPr txBox="1"/>
          <p:nvPr/>
        </p:nvSpPr>
        <p:spPr>
          <a:xfrm>
            <a:off x="4057650" y="2967513"/>
            <a:ext cx="11277600" cy="39314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3900" dirty="0">
                <a:solidFill>
                  <a:schemeClr val="bg1">
                    <a:alpha val="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阿里巴巴普惠体" panose="00020600040101010101" pitchFamily="18" charset="-122"/>
                <a:sym typeface="思源黑体" panose="020B0500000000000000" pitchFamily="34" charset="-122"/>
              </a:rPr>
              <a:t>05</a:t>
            </a:r>
            <a:endParaRPr lang="zh-CN" altLang="en-US" sz="23900" dirty="0">
              <a:solidFill>
                <a:schemeClr val="bg1">
                  <a:alpha val="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12389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CC9D-6186-D214-38CF-0BF37920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6C585-C78B-1EEE-3972-8DA60B35F7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B470DDE-53E2-B3F6-FB38-B7654B77240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B86CD8A-3A7C-DD29-E4C1-2F8D4667B8BB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77CE9846-25D8-96EA-2E98-274CDBEF4386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18F2FD4-4FFB-B2DA-CE65-3D6891D36393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BF6105-555A-E86B-D5D7-D95F833A8853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D278E93-D96D-FB41-D3D4-D56FD1A8C374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1C8A963-6A2E-4D43-9D05-755930D739C8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36051A-BD45-8440-837D-87A042BA137D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C3153B-64CB-C73C-023A-B7914E79A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7" y="2352161"/>
            <a:ext cx="10492567" cy="29476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8DB0A68-FB89-12AD-82E6-494FAE31C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860" y="0"/>
            <a:ext cx="2907656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1233016-6C12-C09F-DEEC-00AD874F9560}"/>
              </a:ext>
            </a:extLst>
          </p:cNvPr>
          <p:cNvSpPr txBox="1"/>
          <p:nvPr/>
        </p:nvSpPr>
        <p:spPr>
          <a:xfrm>
            <a:off x="271019" y="5800050"/>
            <a:ext cx="6144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hlinkClick r:id="rId6"/>
              </a:rPr>
              <a:t>AutoGrader</a:t>
            </a:r>
            <a:r>
              <a:rPr lang="en-US" altLang="zh-CN" dirty="0">
                <a:hlinkClick r:id="rId6"/>
              </a:rPr>
              <a:t>: SCU</a:t>
            </a:r>
            <a:r>
              <a:rPr lang="zh-CN" altLang="en-US" dirty="0">
                <a:hlinkClick r:id="rId6"/>
              </a:rPr>
              <a:t>软件开发实践课</a:t>
            </a:r>
            <a:r>
              <a:rPr lang="en-US" altLang="zh-CN" dirty="0">
                <a:hlinkClick r:id="rId6"/>
              </a:rPr>
              <a:t>B</a:t>
            </a:r>
            <a:r>
              <a:rPr lang="zh-CN" altLang="en-US" dirty="0">
                <a:hlinkClick r:id="rId6"/>
              </a:rPr>
              <a:t>组</a:t>
            </a:r>
            <a:r>
              <a:rPr lang="en-US" altLang="zh-CN" dirty="0" err="1">
                <a:hlinkClick r:id="rId6"/>
              </a:rPr>
              <a:t>AutoGrader</a:t>
            </a:r>
            <a:r>
              <a:rPr lang="zh-CN" altLang="en-US" dirty="0">
                <a:hlinkClick r:id="rId6"/>
              </a:rPr>
              <a:t>项目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BB1DE6-9B68-8375-F024-CB85C22CA037}"/>
              </a:ext>
            </a:extLst>
          </p:cNvPr>
          <p:cNvSpPr txBox="1"/>
          <p:nvPr/>
        </p:nvSpPr>
        <p:spPr>
          <a:xfrm>
            <a:off x="271019" y="1297929"/>
            <a:ext cx="7176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我们建立了</a:t>
            </a:r>
            <a:r>
              <a:rPr lang="en-US" altLang="zh-CN" dirty="0" err="1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gitee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仓库，分为</a:t>
            </a: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main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dev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分支，并设置了一定的权限</a:t>
            </a:r>
          </a:p>
        </p:txBody>
      </p:sp>
    </p:spTree>
    <p:extLst>
      <p:ext uri="{BB962C8B-B14F-4D97-AF65-F5344CB8AC3E}">
        <p14:creationId xmlns:p14="http://schemas.microsoft.com/office/powerpoint/2010/main" val="3394362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3FA6D-A169-DD89-B1E5-5C4EC29A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1133A-0E72-0093-BC35-1DAC71469C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8E4AA7C-B08C-5C16-93DD-B389B65D999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1AF54FDA-55CD-5987-529B-48A651AC97CA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B21F5493-74D5-3403-6828-8327811CE42F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28EC887-73D1-CF16-765B-6F2CFD9C113D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04AD4E-2C57-7219-D55C-07E306722A04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808740B-DDBB-30D1-6CC4-5A4AA79F3936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FBE1664-D16A-622D-E20F-C35B7C9176DF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56F7FA-7876-86A0-8C7E-71577EF0A374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C712ED-8A2E-C0AC-840A-5A953DCC87F7}"/>
              </a:ext>
            </a:extLst>
          </p:cNvPr>
          <p:cNvSpPr txBox="1"/>
          <p:nvPr/>
        </p:nvSpPr>
        <p:spPr>
          <a:xfrm>
            <a:off x="126416" y="1829968"/>
            <a:ext cx="29608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我根据大家的讨论与材料先做了一个</a:t>
            </a: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A5F411-D314-0135-C571-7C819EC821F3}"/>
              </a:ext>
            </a:extLst>
          </p:cNvPr>
          <p:cNvSpPr txBox="1"/>
          <p:nvPr/>
        </p:nvSpPr>
        <p:spPr>
          <a:xfrm>
            <a:off x="128886" y="2765523"/>
            <a:ext cx="2960803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两个角色视角：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教师端：学生管理、题库管理、作业发布、成绩查看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学生端：登录改密、题面查看、代码提交、成绩查询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7E1919-022B-4C0A-D8C3-430EF50C6F48}"/>
              </a:ext>
            </a:extLst>
          </p:cNvPr>
          <p:cNvSpPr txBox="1"/>
          <p:nvPr/>
        </p:nvSpPr>
        <p:spPr>
          <a:xfrm>
            <a:off x="160704" y="4855826"/>
            <a:ext cx="4459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i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注：借助了</a:t>
            </a:r>
            <a:r>
              <a:rPr lang="en-US" altLang="zh-CN" i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codex</a:t>
            </a:r>
            <a:r>
              <a:rPr lang="zh-CN" altLang="en-US" i="1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的帮助</a:t>
            </a:r>
            <a:endParaRPr lang="en-US" altLang="zh-CN" i="1" dirty="0">
              <a:solidFill>
                <a:srgbClr val="0F172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C3756C-AE74-617B-0546-4E00976C3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363" y="1460424"/>
            <a:ext cx="7220958" cy="4344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09313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47F1-3C86-188D-C134-5B4AE05D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A059C-DE1A-FE12-234E-D83A812DE7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6A74E9D-A668-BE26-BE1F-2664FA9AAAC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A706979-FF23-7400-F081-4586480D4CEF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D0E6B896-DBA5-29C1-6FEF-6617EDCFFA38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899F889-0792-F1B9-4797-A1E6B4EB735D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1A3EB7-BC46-0E5E-3B46-2927E834815E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0265545-F6D5-D061-1C05-CE0FF081BFBE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8CC500B-6634-0E99-1C99-4EA7CCF0C535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3B9554-4E4D-68A6-EA32-C3DA5DF424B9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391044-842C-EF2F-4073-8A86BFAEE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43" y="1173716"/>
            <a:ext cx="3404223" cy="54085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74E050-55B1-5457-012B-42BC5251C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091" y="1173716"/>
            <a:ext cx="3361248" cy="53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7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E411-0B82-42F1-13CA-8A0CD975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C8838-E03F-B564-BE6F-168E6B0690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52C8230-9F98-02DB-480A-358AECA672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14D8733-A171-E51D-49FA-DE3B4DFAACE0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3EB19E70-1C67-4FA6-216D-97DC453D3F49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BF94B3-E776-89A7-F7EF-89D8E8EDDCB6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146DECD-71E2-0C8B-FEAA-73A51DA3B8FF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328956B-A3B1-F773-9545-A6BFB437D759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0AAA019-78E4-7176-AC25-72640A5DCBD6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FBD4D8-5ABA-6C99-D50A-8A2CA9D1A72B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B52759-45E0-B1A8-E656-66751F831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7" y="1419763"/>
            <a:ext cx="10206469" cy="496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53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A366-6F8D-C722-3B81-80257762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6F94D-2D01-55B3-A032-8B6052059B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EDED0D9-D4D6-CF3D-1E38-A61EB9A54EC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49106FF-C48A-5D84-D8F1-0EBF6E41889A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06A70673-42AF-EAF9-0E07-8A029C95BE2D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9BDC13C-A82F-6B54-F407-F1B3FB31BAFF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5F19E4E-5DC9-B505-1C92-227369579555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FE61591-6AE4-C50D-1C91-2A1843303DDC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7D95372-4C26-648E-1BB4-AD0245C02DF0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5C5C2A-2F7F-41B8-D9D0-7F9127B78F7E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19DEAB-B026-1B29-8061-22259707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7" y="1888308"/>
            <a:ext cx="10242071" cy="378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02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6348-899C-EC33-B6E9-173714C5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BE884-2654-03CB-DFFF-5A13BFAF54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86C5BAD-6F8F-286D-49AB-B7535A53831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C3F57810-8B9C-EDD1-B9BA-82CC78B49FEE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8766CCAB-4FA5-D2CC-EBA8-9E84D1EB327B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8CD8CC5-41BE-8535-02D7-172B3D63F22E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6878E37-2C54-BDF4-3878-C3ECD401EE7C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817B2B5-D5D2-C0E4-1BAC-507BBF34B23A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7197C0F-7250-B68B-4C12-03AE7885379D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1FBE9F-8A86-D1A0-36F6-04FEA852D77A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70CCC6-9F1D-B9B8-5E21-A3E13A150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8" y="1239021"/>
            <a:ext cx="10293113" cy="526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17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7C33B-C406-BA32-3306-3F83E823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B7DD6-622D-AE99-9FAA-46040A57E6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686271D-726D-8D87-2344-997A81CC39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9D69E06B-5E0F-8026-5F79-CC384AB26AC5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D91621CB-CA96-EB46-6595-6EE51299540A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80DC405-B0FF-58C6-9728-6802BA26FE9B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1AA061-0A43-1A55-086A-CED2EE8C4BF6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C7B78C-CAE2-AEB4-1DA5-F4806D7860E4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56D5C9D-9944-B914-F25F-8E757150AA43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E12095-5CE7-ADFF-B922-47AA9CE2410F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40B2DB-0BAB-4412-43C6-126C6DE1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17" y="1439377"/>
            <a:ext cx="10250905" cy="525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23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C0C9E-4046-594C-DCA8-3DF79B89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14709-619B-CF0D-A4C1-CBCD026EAE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9E6EEA1-63C2-0513-7EAE-2F5E992D90F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4F206A7-6A3A-8324-16E4-6E0D5C27081D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A436CF47-C255-31D1-2827-BDEEFB2ADD9D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DC6BA1E-45DA-745C-20D5-DD71EECB8030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020FBCF-2401-A947-DECA-EB75C8FC5C25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2D5C6AA-83E3-A515-0013-A5C5CC16A6D9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E40F5C4-07FA-3B4B-7F9C-63B6F9D25441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E098F-DF6A-2CFC-EA16-2D27DD34735F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513680-26B9-1861-3826-0D7F4BE89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4" y="1347810"/>
            <a:ext cx="10301057" cy="500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82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A9F7-6586-0904-AB7A-6B2914A8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06666-B529-8AC3-C062-3328205203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413B597-1C2C-23AE-A415-5DA4F4E2623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0B633B0D-7A05-E17B-652C-6FD585D97CD1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1743A3E7-1D2E-22C3-0A0D-9AD883736698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3DFBC42-CF53-87AF-E474-4790CF904A21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0C4224A-029D-FD62-E3A1-C36C77FB88F6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051E730-F542-071B-9F5E-0D7B11CACD00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DDC4D2D-6B20-C2E4-A120-3F69973F4122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9CAD79-BCCB-4E58-2F6F-C86E4ABABE49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14ACA3-64B5-D239-82D4-29292D984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85" y="1037580"/>
            <a:ext cx="9708537" cy="57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E45D-7B8C-4530-9FB3-4D8551FF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79545-DC19-CF4E-2383-F609BF337C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81F2A52-2DCD-CDA1-9DD6-5CCF91C33E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67571172-7F8E-2079-0C6A-7868C66396D3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F579BA4B-51BC-8BED-4707-1C50C7166D0E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95529DE-020B-EBFB-26F6-8E6C219B37C2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9C2FFC-4138-51C1-73DE-3FBFFB090859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8381F20-F536-55C6-EB9E-E3C5065879FE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47D98A-D9C7-95F5-B374-3B38E6C6F8FE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A41959-9C61-9E8D-191E-A2ABC3299159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789CD3-9D58-4175-A665-8882F4385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0" y="1267734"/>
            <a:ext cx="10392174" cy="17883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814573-8FE1-ABDB-9A1E-5875DB71E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50" y="2544681"/>
            <a:ext cx="10255024" cy="21755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9A523D-21F4-DDA5-373D-15398EF4A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841" y="4284800"/>
            <a:ext cx="9769642" cy="25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6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E426-B97E-6A35-BC87-273A7397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E0C6E-4CCA-7DEB-2D01-C4279B6A7E4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Demo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展示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97CEB0A-86FC-7757-559A-C3F60083545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C74C19BB-983A-F9DF-BE97-37B4EB44C259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9AE3CD5C-40AE-D4B3-7955-26E39E25FAA4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913F8FF-2A6E-5357-F35C-17301FB0C8E7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8736C14-A896-1DEC-7396-359034D0A81A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B2A2F36-69D6-3C68-571B-62476797A0C1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7013AF3-5F52-9AC0-0017-F0FA32B9B3DF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9330B3-2AE9-AA07-EC7A-9FD2956D6A33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43F170-959C-1EEC-070E-E9388288B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2" y="1223069"/>
            <a:ext cx="8011643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27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24EC8-BAF5-C86D-9189-DE94139F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D819C-FD70-6D78-2F95-875D16E4B5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3342" y="356190"/>
            <a:ext cx="6115287" cy="68262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思源黑体" panose="020B0500000000000000" pitchFamily="34" charset="-122"/>
              </a:rPr>
              <a:t>总结与下一步计划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B688A66-F258-5D55-B25B-A39D715C577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704" y="504975"/>
            <a:ext cx="666610" cy="385054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5CA4FBC5-F645-5609-4D83-3B0FB8B88F6E}"/>
              </a:ext>
            </a:extLst>
          </p:cNvPr>
          <p:cNvSpPr/>
          <p:nvPr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DDC5F16C-5908-7AA2-A6EF-A38DAFF7747F}"/>
              </a:ext>
            </a:extLst>
          </p:cNvPr>
          <p:cNvSpPr/>
          <p:nvPr/>
        </p:nvSpPr>
        <p:spPr>
          <a:xfrm rot="16200000">
            <a:off x="10400553" y="477513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DD73E5-4281-25DF-DED1-42FA9BDD6957}"/>
              </a:ext>
            </a:extLst>
          </p:cNvPr>
          <p:cNvSpPr txBox="1"/>
          <p:nvPr/>
        </p:nvSpPr>
        <p:spPr>
          <a:xfrm>
            <a:off x="10492567" y="3852336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数据库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94E5AC-97B6-0557-635F-FEEE4D164A90}"/>
              </a:ext>
            </a:extLst>
          </p:cNvPr>
          <p:cNvSpPr txBox="1"/>
          <p:nvPr/>
        </p:nvSpPr>
        <p:spPr>
          <a:xfrm>
            <a:off x="10711051" y="1488198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项目背景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CFC86BD-7069-3BC2-F5F9-A40CC48F157E}"/>
              </a:ext>
            </a:extLst>
          </p:cNvPr>
          <p:cNvSpPr txBox="1"/>
          <p:nvPr/>
        </p:nvSpPr>
        <p:spPr>
          <a:xfrm>
            <a:off x="10711051" y="2276244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总体架构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D1E96DC-D13B-BA8B-D8B8-F79A3C2335E6}"/>
              </a:ext>
            </a:extLst>
          </p:cNvPr>
          <p:cNvSpPr txBox="1"/>
          <p:nvPr/>
        </p:nvSpPr>
        <p:spPr>
          <a:xfrm>
            <a:off x="10711051" y="3064290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功能模块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44536E-4A8F-423A-35C0-CA700CFEEEEF}"/>
              </a:ext>
            </a:extLst>
          </p:cNvPr>
          <p:cNvSpPr txBox="1"/>
          <p:nvPr/>
        </p:nvSpPr>
        <p:spPr>
          <a:xfrm>
            <a:off x="10479615" y="4640382"/>
            <a:ext cx="1799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2DA49E-AE38-1730-E292-FA304306D152}"/>
              </a:ext>
            </a:extLst>
          </p:cNvPr>
          <p:cNvSpPr txBox="1"/>
          <p:nvPr/>
        </p:nvSpPr>
        <p:spPr>
          <a:xfrm>
            <a:off x="494009" y="1400895"/>
            <a:ext cx="8638673" cy="490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总结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本阶段工作的重点是先搭建一个可运行的 </a:t>
            </a: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原型，为小组后续正式开发提供参考。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主要用于展示系统整体架构、核心业务链路和各模块之间的协作关系。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通过该原型，可以帮助组内统一对页面形态、接口设计、数据库结构和功能边界的理解。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当前成果更适合作为“参考样例”和“讨论基础”，而不是最终完整系统。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0F172A"/>
                </a:solidFill>
              </a:defRPr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展望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后续将基于该 </a:t>
            </a:r>
            <a:r>
              <a:rPr lang="en-US" altLang="zh-CN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Demo </a:t>
            </a: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进一步细化模块分工和接口边界。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继续完善数据库设计、题库管理、自动评分与成绩分析等核心能力。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强化待测代码执行安全控制，逐步完善沙箱机制。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0F172A"/>
                </a:solidFill>
              </a:defRPr>
            </a:pPr>
            <a:r>
              <a:rPr lang="zh-CN" altLang="en-US" dirty="0">
                <a:solidFill>
                  <a:srgbClr val="0F172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推动系统从演示原型向正式项目实现过渡。</a:t>
            </a:r>
          </a:p>
        </p:txBody>
      </p:sp>
    </p:spTree>
    <p:extLst>
      <p:ext uri="{BB962C8B-B14F-4D97-AF65-F5344CB8AC3E}">
        <p14:creationId xmlns:p14="http://schemas.microsoft.com/office/powerpoint/2010/main" val="2462707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5CDB-0C5F-F01D-7027-4617DB86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97C5D53B-5641-48A1-70C9-7918B7CF3F78}"/>
              </a:ext>
            </a:extLst>
          </p:cNvPr>
          <p:cNvSpPr/>
          <p:nvPr/>
        </p:nvSpPr>
        <p:spPr>
          <a:xfrm>
            <a:off x="0" y="19431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" panose="020B0500000000000000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2530DD7-D82D-2226-4481-75E1D642FAB0}"/>
              </a:ext>
            </a:extLst>
          </p:cNvPr>
          <p:cNvSpPr/>
          <p:nvPr/>
        </p:nvSpPr>
        <p:spPr>
          <a:xfrm>
            <a:off x="11076214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A0A0681-CF59-5A8A-2708-1D7589B7108D}"/>
              </a:ext>
            </a:extLst>
          </p:cNvPr>
          <p:cNvSpPr/>
          <p:nvPr/>
        </p:nvSpPr>
        <p:spPr>
          <a:xfrm>
            <a:off x="11335294" y="7342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780780C-561C-4192-EC12-AA741E23B727}"/>
              </a:ext>
            </a:extLst>
          </p:cNvPr>
          <p:cNvSpPr/>
          <p:nvPr/>
        </p:nvSpPr>
        <p:spPr>
          <a:xfrm>
            <a:off x="11591395" y="7342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65C6DF2-685F-10A3-EE1B-98701F8AED54}"/>
              </a:ext>
            </a:extLst>
          </p:cNvPr>
          <p:cNvSpPr/>
          <p:nvPr/>
        </p:nvSpPr>
        <p:spPr>
          <a:xfrm>
            <a:off x="5435600" y="1124090"/>
            <a:ext cx="1320800" cy="132080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45A87FC-6681-D3FC-67DC-A01DE259E4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47320" y="1485869"/>
            <a:ext cx="1094780" cy="632378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A51FAF50-02D4-3D8B-9B75-B3CA2B9683F5}"/>
              </a:ext>
            </a:extLst>
          </p:cNvPr>
          <p:cNvSpPr/>
          <p:nvPr/>
        </p:nvSpPr>
        <p:spPr>
          <a:xfrm>
            <a:off x="484414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6C6C8C7-8D68-8F85-1DCE-C82A3D590B9D}"/>
              </a:ext>
            </a:extLst>
          </p:cNvPr>
          <p:cNvSpPr/>
          <p:nvPr/>
        </p:nvSpPr>
        <p:spPr>
          <a:xfrm>
            <a:off x="743494" y="6246026"/>
            <a:ext cx="174172" cy="1741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EC6D6EB-DB71-D0EE-87F7-A12C08110D94}"/>
              </a:ext>
            </a:extLst>
          </p:cNvPr>
          <p:cNvSpPr/>
          <p:nvPr/>
        </p:nvSpPr>
        <p:spPr>
          <a:xfrm>
            <a:off x="999595" y="6246026"/>
            <a:ext cx="174172" cy="1741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868841-1B26-7E7C-F57C-E1A02E8978C2}"/>
              </a:ext>
            </a:extLst>
          </p:cNvPr>
          <p:cNvSpPr/>
          <p:nvPr/>
        </p:nvSpPr>
        <p:spPr>
          <a:xfrm>
            <a:off x="514090" y="2444890"/>
            <a:ext cx="11161240" cy="1716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谢谢大家</a:t>
            </a:r>
            <a:r>
              <a:rPr lang="en-US" altLang="zh-CN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!</a:t>
            </a:r>
            <a:endParaRPr lang="zh-CN" altLang="en-US" sz="7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F6AEF9-AEB7-CB23-EA6C-833C978AD0A1}"/>
              </a:ext>
            </a:extLst>
          </p:cNvPr>
          <p:cNvSpPr txBox="1"/>
          <p:nvPr/>
        </p:nvSpPr>
        <p:spPr bwMode="auto">
          <a:xfrm>
            <a:off x="8164268" y="6045971"/>
            <a:ext cx="4680520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日期：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15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949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NkNDYxMmIwNmM5NTY2OTdkODYxNGM2OGY2YmI2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695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76956;"/>
</p:tagLst>
</file>

<file path=ppt/theme/theme1.xml><?xml version="1.0" encoding="utf-8"?>
<a:theme xmlns:a="http://schemas.openxmlformats.org/drawingml/2006/main" name="Office 主题​​">
  <a:themeElements>
    <a:clrScheme name="自定义 185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F000B"/>
      </a:accent1>
      <a:accent2>
        <a:srgbClr val="70000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1105</Words>
  <Application>Microsoft Office PowerPoint</Application>
  <PresentationFormat>宽屏</PresentationFormat>
  <Paragraphs>217</Paragraphs>
  <Slides>26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阿里巴巴普惠体</vt:lpstr>
      <vt:lpstr>等线</vt:lpstr>
      <vt:lpstr>华文中宋</vt:lpstr>
      <vt:lpstr>思源黑体</vt:lpstr>
      <vt:lpstr>微软雅黑</vt:lpstr>
      <vt:lpstr>Arial</vt:lpstr>
      <vt:lpstr>Office 主题​​</vt:lpstr>
      <vt:lpstr>PowerPoint 演示文稿</vt:lpstr>
      <vt:lpstr>PowerPoint 演示文稿</vt:lpstr>
      <vt:lpstr>项目背景</vt:lpstr>
      <vt:lpstr>项目背景</vt:lpstr>
      <vt:lpstr>总体架构</vt:lpstr>
      <vt:lpstr>总体架构</vt:lpstr>
      <vt:lpstr>功能模块</vt:lpstr>
      <vt:lpstr>功能模块</vt:lpstr>
      <vt:lpstr>接口与数据库</vt:lpstr>
      <vt:lpstr>接口与数据库</vt:lpstr>
      <vt:lpstr>接口与数据库</vt:lpstr>
      <vt:lpstr>接口与数据库</vt:lpstr>
      <vt:lpstr>Demo展示</vt:lpstr>
      <vt:lpstr>Demo展示</vt:lpstr>
      <vt:lpstr>Demo展示</vt:lpstr>
      <vt:lpstr>Demo展示</vt:lpstr>
      <vt:lpstr>Demo展示</vt:lpstr>
      <vt:lpstr>Demo展示</vt:lpstr>
      <vt:lpstr>Demo展示</vt:lpstr>
      <vt:lpstr>Demo展示</vt:lpstr>
      <vt:lpstr>Demo展示</vt:lpstr>
      <vt:lpstr>Demo展示</vt:lpstr>
      <vt:lpstr>Demo展示</vt:lpstr>
      <vt:lpstr>Demo展示</vt:lpstr>
      <vt:lpstr>总结与下一步计划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Mikasa Ackerman</dc:creator>
  <cp:lastModifiedBy>Mikasa Ackerman</cp:lastModifiedBy>
  <cp:revision>10</cp:revision>
  <dcterms:created xsi:type="dcterms:W3CDTF">2022-04-20T02:45:00Z</dcterms:created>
  <dcterms:modified xsi:type="dcterms:W3CDTF">2026-04-14T15:42:02Z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011D725C3BD54AD098784F7470BBF9CD_12</vt:lpwstr>
  </property>
  <property fmtid="{D5CDD505-2E9C-101B-9397-08002B2CF9AE}" pid="3" name="KSOProductBuildVer">
    <vt:lpwstr>2052-12.1.0.16417</vt:lpwstr>
  </property>
</Properties>
</file>