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318" r:id="rId6"/>
    <p:sldId id="380" r:id="rId7"/>
    <p:sldId id="373" r:id="rId8"/>
    <p:sldId id="393" r:id="rId9"/>
    <p:sldId id="394" r:id="rId10"/>
    <p:sldId id="315" r:id="rId11"/>
    <p:sldId id="395" r:id="rId12"/>
    <p:sldId id="400" r:id="rId13"/>
    <p:sldId id="379" r:id="rId14"/>
    <p:sldId id="323" r:id="rId15"/>
    <p:sldId id="322" r:id="rId16"/>
    <p:sldId id="320" r:id="rId17"/>
    <p:sldId id="319" r:id="rId18"/>
    <p:sldId id="338" r:id="rId19"/>
    <p:sldId id="396" r:id="rId20"/>
    <p:sldId id="397" r:id="rId21"/>
    <p:sldId id="398" r:id="rId22"/>
    <p:sldId id="399" r:id="rId23"/>
    <p:sldId id="280" r:id="rId24"/>
  </p:sldIdLst>
  <p:sldSz cx="1080135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4" userDrawn="1">
          <p15:clr>
            <a:srgbClr val="A4A3A4"/>
          </p15:clr>
        </p15:guide>
        <p15:guide id="2" pos="34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A7D1"/>
    <a:srgbClr val="C2C3C2"/>
    <a:srgbClr val="A9ABAA"/>
    <a:srgbClr val="0D3179"/>
    <a:srgbClr val="506429"/>
    <a:srgbClr val="4F81BD"/>
    <a:srgbClr val="489BC2"/>
    <a:srgbClr val="457CAB"/>
    <a:srgbClr val="CBD5DD"/>
    <a:srgbClr val="EDF2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01" autoAdjust="0"/>
    <p:restoredTop sz="94706" autoAdjust="0"/>
  </p:normalViewPr>
  <p:slideViewPr>
    <p:cSldViewPr showGuides="1">
      <p:cViewPr varScale="1">
        <p:scale>
          <a:sx n="124" d="100"/>
          <a:sy n="124" d="100"/>
        </p:scale>
        <p:origin x="296" y="176"/>
      </p:cViewPr>
      <p:guideLst>
        <p:guide orient="horz" pos="2174"/>
        <p:guide pos="34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4C08A1E-1673-4027-8998-EF5C00E37941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28663" y="685800"/>
            <a:ext cx="54006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8D84322-76A5-4C2E-8E5E-D0551BC3AB60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27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9E680DEA-77C8-4950-BC57-C71504240A23}" type="slidenum">
              <a:rPr lang="zh-CN" altLang="en-US" smtClean="0">
                <a:latin typeface="Calibri" panose="020F0502020204030204" pitchFamily="34" charset="0"/>
              </a:rPr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E0D90C86-27DD-44DF-8939-C78AFA661618}" type="slidenum">
              <a:rPr lang="zh-CN" altLang="en-US" smtClean="0">
                <a:latin typeface="Calibri" panose="020F0502020204030204" pitchFamily="34" charset="0"/>
              </a:rPr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E0D90C86-27DD-44DF-8939-C78AFA661618}" type="slidenum">
              <a:rPr lang="zh-CN" altLang="en-US" smtClean="0">
                <a:latin typeface="Calibri" panose="020F0502020204030204" pitchFamily="34" charset="0"/>
              </a:rPr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E0D90C86-27DD-44DF-8939-C78AFA661618}" type="slidenum">
              <a:rPr lang="zh-CN" altLang="en-US" smtClean="0">
                <a:latin typeface="Calibri" panose="020F0502020204030204" pitchFamily="34" charset="0"/>
              </a:rPr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E0D90C86-27DD-44DF-8939-C78AFA661618}" type="slidenum">
              <a:rPr lang="zh-CN" altLang="en-US" smtClean="0">
                <a:latin typeface="Calibri" panose="020F0502020204030204" pitchFamily="34" charset="0"/>
              </a:rPr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E0D90C86-27DD-44DF-8939-C78AFA661618}" type="slidenum">
              <a:rPr lang="zh-CN" altLang="en-US" smtClean="0">
                <a:latin typeface="Calibri" panose="020F0502020204030204" pitchFamily="34" charset="0"/>
              </a:rPr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482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A1ED021C-1085-4C18-9F61-1E5AD7BA78F4}" type="slidenum">
              <a:rPr lang="zh-CN" altLang="en-US" smtClean="0">
                <a:latin typeface="Calibri" panose="020F0502020204030204" pitchFamily="34" charset="0"/>
              </a:rPr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10101" y="2130428"/>
            <a:ext cx="9181148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20204" y="3886200"/>
            <a:ext cx="7560945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1B6D7D-8654-4659-B157-FCDEE122AF0A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0386D9-F0DA-4E5B-BFE3-2B56354CCFC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上箭头 4"/>
          <p:cNvSpPr/>
          <p:nvPr userDrawn="1"/>
        </p:nvSpPr>
        <p:spPr>
          <a:xfrm flipH="1">
            <a:off x="900113" y="6157913"/>
            <a:ext cx="173037" cy="414337"/>
          </a:xfrm>
          <a:prstGeom prst="upArrow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上箭头 5"/>
          <p:cNvSpPr/>
          <p:nvPr userDrawn="1"/>
        </p:nvSpPr>
        <p:spPr>
          <a:xfrm flipH="1">
            <a:off x="614363" y="5980113"/>
            <a:ext cx="247650" cy="592137"/>
          </a:xfrm>
          <a:prstGeom prst="upArrow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" name="上箭头 6"/>
          <p:cNvSpPr/>
          <p:nvPr userDrawn="1"/>
        </p:nvSpPr>
        <p:spPr>
          <a:xfrm flipH="1">
            <a:off x="307975" y="5857875"/>
            <a:ext cx="300038" cy="714375"/>
          </a:xfrm>
          <a:prstGeom prst="upArrow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1185863" y="6429375"/>
            <a:ext cx="8429625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417AA4-6B5B-450D-B1EE-B534DC79CBEE}" type="datetimeFigureOut">
              <a:rPr lang="zh-CN" altLang="en-US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7829D8-83D4-4F5B-AFEE-8456D199F666}" type="slidenum">
              <a:rPr lang="zh-CN" altLang="en-US"/>
            </a:fld>
            <a:endParaRPr lang="zh-CN" altLang="en-US"/>
          </a:p>
        </p:txBody>
      </p:sp>
      <p:pic>
        <p:nvPicPr>
          <p:cNvPr id="12" name="图片 11" descr="图片包含 游戏机, 画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1035" y="116632"/>
            <a:ext cx="1977116" cy="5040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53232" y="4406903"/>
            <a:ext cx="918114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53232" y="2906713"/>
            <a:ext cx="918114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F2E389-7AA7-436E-9DC5-9B8D7B48862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6A1F7B-BEB4-4A3D-BDAB-BB58B0DB2FA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40069" y="1600203"/>
            <a:ext cx="47705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90686" y="1600203"/>
            <a:ext cx="47705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7B58BF-7892-4595-8D4A-DF0B9418EB60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D3F33A-F849-4AA5-942B-AF50A96076F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0068" y="1535113"/>
            <a:ext cx="477247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0068" y="2174875"/>
            <a:ext cx="477247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486937" y="1535113"/>
            <a:ext cx="477434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486937" y="2174875"/>
            <a:ext cx="477434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A7F1BD-E205-4D48-A733-E9EBAD886CEF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C407C0-FD73-4767-A569-35329A9CEBC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727CB3-B2A4-4A0F-87E6-7BEF2183579A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73F86-85C1-4979-AC96-8874B156692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3DD86F-562A-4CF5-8F99-673624407CC3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AD828A-8FBC-4143-A434-84E2DC43A9B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0068" y="273050"/>
            <a:ext cx="355357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23028" y="273052"/>
            <a:ext cx="603825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40068" y="1435102"/>
            <a:ext cx="355357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84266D-F75E-4495-B322-5AF836AF0CE3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E8600D-9CE7-4F36-A1EB-F21E5AC1B84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7141" y="4800600"/>
            <a:ext cx="648081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117141" y="612775"/>
            <a:ext cx="648081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117141" y="5367338"/>
            <a:ext cx="648081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4EA822-AC54-4B08-BBE9-759C5C357D66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204C26-5375-4697-AEA1-69B0B26FCB6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30FCD8-4BBA-401A-85AE-55B21934FCC6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4D95B1-00F3-4546-8677-0428A5C4CCD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830978" y="274639"/>
            <a:ext cx="2430305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40067" y="274639"/>
            <a:ext cx="7110889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2D01A5-A243-478B-A90A-76182D6FB242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694076-67E7-4087-8B7D-602E1A5FC35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10101" y="2130428"/>
            <a:ext cx="9181148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20204" y="3886200"/>
            <a:ext cx="7560945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1B6D7D-8654-4659-B157-FCDEE122AF0A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0386D9-F0DA-4E5B-BFE3-2B56354CCFC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上箭头 4"/>
          <p:cNvSpPr/>
          <p:nvPr userDrawn="1"/>
        </p:nvSpPr>
        <p:spPr>
          <a:xfrm flipH="1">
            <a:off x="900113" y="6157913"/>
            <a:ext cx="173037" cy="414337"/>
          </a:xfrm>
          <a:prstGeom prst="upArrow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sp>
        <p:nvSpPr>
          <p:cNvPr id="6" name="上箭头 5"/>
          <p:cNvSpPr/>
          <p:nvPr userDrawn="1"/>
        </p:nvSpPr>
        <p:spPr>
          <a:xfrm flipH="1">
            <a:off x="614363" y="5980113"/>
            <a:ext cx="247650" cy="592137"/>
          </a:xfrm>
          <a:prstGeom prst="upArrow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sp>
        <p:nvSpPr>
          <p:cNvPr id="7" name="上箭头 6"/>
          <p:cNvSpPr/>
          <p:nvPr userDrawn="1"/>
        </p:nvSpPr>
        <p:spPr>
          <a:xfrm flipH="1">
            <a:off x="307975" y="5857875"/>
            <a:ext cx="300038" cy="714375"/>
          </a:xfrm>
          <a:prstGeom prst="upArrow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1185863" y="6429375"/>
            <a:ext cx="8429625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417AA4-6B5B-450D-B1EE-B534DC79CBEE}" type="datetimeFigureOut">
              <a:rPr lang="zh-CN" altLang="en-US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7829D8-83D4-4F5B-AFEE-8456D199F666}" type="slidenum">
              <a:rPr lang="zh-CN" altLang="en-US"/>
            </a:fld>
            <a:endParaRPr lang="zh-CN" altLang="en-US"/>
          </a:p>
        </p:txBody>
      </p:sp>
      <p:pic>
        <p:nvPicPr>
          <p:cNvPr id="12" name="图片 11" descr="图片包含 游戏机, 画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1035" y="116632"/>
            <a:ext cx="1977116" cy="5040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53232" y="4406903"/>
            <a:ext cx="918114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53232" y="2906713"/>
            <a:ext cx="918114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F2E389-7AA7-436E-9DC5-9B8D7B48862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6A1F7B-BEB4-4A3D-BDAB-BB58B0DB2FA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40069" y="1600203"/>
            <a:ext cx="47705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90686" y="1600203"/>
            <a:ext cx="47705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7B58BF-7892-4595-8D4A-DF0B9418EB60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D3F33A-F849-4AA5-942B-AF50A96076F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0068" y="1535113"/>
            <a:ext cx="477247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0068" y="2174875"/>
            <a:ext cx="477247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486937" y="1535113"/>
            <a:ext cx="477434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486937" y="2174875"/>
            <a:ext cx="477434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A7F1BD-E205-4D48-A733-E9EBAD886CEF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C407C0-FD73-4767-A569-35329A9CEBC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727CB3-B2A4-4A0F-87E6-7BEF2183579A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73F86-85C1-4979-AC96-8874B156692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3DD86F-562A-4CF5-8F99-673624407CC3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AD828A-8FBC-4143-A434-84E2DC43A9B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0068" y="273050"/>
            <a:ext cx="355357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23028" y="273052"/>
            <a:ext cx="603825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40068" y="1435102"/>
            <a:ext cx="355357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84266D-F75E-4495-B322-5AF836AF0CE3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E8600D-9CE7-4F36-A1EB-F21E5AC1B84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7141" y="4800600"/>
            <a:ext cx="648081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117141" y="612775"/>
            <a:ext cx="648081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117141" y="5367338"/>
            <a:ext cx="648081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4EA822-AC54-4B08-BBE9-759C5C357D66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204C26-5375-4697-AEA1-69B0B26FCB6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30FCD8-4BBA-401A-85AE-55B21934FCC6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4D95B1-00F3-4546-8677-0428A5C4CCD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830978" y="274639"/>
            <a:ext cx="2430305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40067" y="274639"/>
            <a:ext cx="7110889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2D01A5-A243-478B-A90A-76182D6FB242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694076-67E7-4087-8B7D-602E1A5FC35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39750" y="274638"/>
            <a:ext cx="97218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39750" y="1600200"/>
            <a:ext cx="972185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39750" y="6356350"/>
            <a:ext cx="25209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5A67422E-C770-4AFF-AC13-51597A9492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938" y="6356350"/>
            <a:ext cx="34194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650" y="6356350"/>
            <a:ext cx="25209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822EE86-9FC4-49EE-A58C-600EC422155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39750" y="274638"/>
            <a:ext cx="97218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39750" y="1600200"/>
            <a:ext cx="972185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39750" y="6356350"/>
            <a:ext cx="25209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5A67422E-C770-4AFF-AC13-51597A9492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938" y="6356350"/>
            <a:ext cx="34194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650" y="6356350"/>
            <a:ext cx="25209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822EE86-9FC4-49EE-A58C-600EC422155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6.xml"/><Relationship Id="rId7" Type="http://schemas.openxmlformats.org/officeDocument/2006/relationships/image" Target="../media/image5.png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image" Target="../media/image8.png"/><Relationship Id="rId12" Type="http://schemas.openxmlformats.org/officeDocument/2006/relationships/tags" Target="../tags/tag8.xml"/><Relationship Id="rId11" Type="http://schemas.openxmlformats.org/officeDocument/2006/relationships/image" Target="../media/image7.png"/><Relationship Id="rId10" Type="http://schemas.openxmlformats.org/officeDocument/2006/relationships/tags" Target="../tags/tag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29.xml"/><Relationship Id="rId17" Type="http://schemas.openxmlformats.org/officeDocument/2006/relationships/tags" Target="../tags/tag28.xml"/><Relationship Id="rId16" Type="http://schemas.openxmlformats.org/officeDocument/2006/relationships/tags" Target="../tags/tag27.xml"/><Relationship Id="rId15" Type="http://schemas.openxmlformats.org/officeDocument/2006/relationships/tags" Target="../tags/tag26.xml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9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44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" descr="C:\Documents and Settings\Administrator\桌面\0000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429"/>
          <a:stretch>
            <a:fillRect/>
          </a:stretch>
        </p:blipFill>
        <p:spPr bwMode="auto">
          <a:xfrm>
            <a:off x="752475" y="1988185"/>
            <a:ext cx="1047750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1800225" y="1988820"/>
            <a:ext cx="8364220" cy="156781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728470" y="1917065"/>
            <a:ext cx="8402320" cy="1600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 algn="ctr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AutoGrader</a:t>
            </a:r>
            <a:r>
              <a:rPr lang="zh-CN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作业代码自动</a:t>
            </a:r>
            <a:endParaRPr lang="zh-CN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ctr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评分系统项目实施方案</a:t>
            </a:r>
            <a:endParaRPr lang="zh-CN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580005" y="4199255"/>
            <a:ext cx="5551170" cy="445770"/>
            <a:chOff x="2633583" y="2819862"/>
            <a:chExt cx="3783263" cy="283747"/>
          </a:xfrm>
        </p:grpSpPr>
        <p:sp>
          <p:nvSpPr>
            <p:cNvPr id="20" name="矩形 19"/>
            <p:cNvSpPr/>
            <p:nvPr/>
          </p:nvSpPr>
          <p:spPr>
            <a:xfrm>
              <a:off x="2928298" y="2829563"/>
              <a:ext cx="1647983" cy="274046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项目编号：</a:t>
              </a:r>
              <a:r>
                <a:rPr lang="en-US" altLang="zh-CN" sz="24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Beta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2633583" y="2819862"/>
              <a:ext cx="283747" cy="28374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2556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4989142" y="2829563"/>
              <a:ext cx="1427704" cy="227159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组别：第</a:t>
              </a:r>
              <a:r>
                <a:rPr lang="en-US" altLang="zh-CN" sz="24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12</a:t>
              </a:r>
              <a:r>
                <a:rPr lang="zh-CN" altLang="en-US" sz="24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组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grpSp>
          <p:nvGrpSpPr>
            <p:cNvPr id="5" name="Group 4"/>
            <p:cNvGrpSpPr>
              <a:grpSpLocks noChangeAspect="1"/>
            </p:cNvGrpSpPr>
            <p:nvPr/>
          </p:nvGrpSpPr>
          <p:grpSpPr bwMode="auto">
            <a:xfrm>
              <a:off x="2693693" y="2890163"/>
              <a:ext cx="169831" cy="166488"/>
              <a:chOff x="2498" y="1246"/>
              <a:chExt cx="762" cy="747"/>
            </a:xfrm>
            <a:solidFill>
              <a:schemeClr val="bg1"/>
            </a:solidFill>
          </p:grpSpPr>
          <p:sp>
            <p:nvSpPr>
              <p:cNvPr id="6" name="Freeform 5"/>
              <p:cNvSpPr/>
              <p:nvPr/>
            </p:nvSpPr>
            <p:spPr bwMode="auto">
              <a:xfrm>
                <a:off x="2834" y="1251"/>
                <a:ext cx="426" cy="440"/>
              </a:xfrm>
              <a:custGeom>
                <a:avLst/>
                <a:gdLst>
                  <a:gd name="T0" fmla="*/ 297 w 349"/>
                  <a:gd name="T1" fmla="*/ 0 h 362"/>
                  <a:gd name="T2" fmla="*/ 19 w 349"/>
                  <a:gd name="T3" fmla="*/ 0 h 362"/>
                  <a:gd name="T4" fmla="*/ 0 w 349"/>
                  <a:gd name="T5" fmla="*/ 20 h 362"/>
                  <a:gd name="T6" fmla="*/ 19 w 349"/>
                  <a:gd name="T7" fmla="*/ 39 h 362"/>
                  <a:gd name="T8" fmla="*/ 297 w 349"/>
                  <a:gd name="T9" fmla="*/ 39 h 362"/>
                  <a:gd name="T10" fmla="*/ 310 w 349"/>
                  <a:gd name="T11" fmla="*/ 52 h 362"/>
                  <a:gd name="T12" fmla="*/ 310 w 349"/>
                  <a:gd name="T13" fmla="*/ 310 h 362"/>
                  <a:gd name="T14" fmla="*/ 297 w 349"/>
                  <a:gd name="T15" fmla="*/ 322 h 362"/>
                  <a:gd name="T16" fmla="*/ 19 w 349"/>
                  <a:gd name="T17" fmla="*/ 322 h 362"/>
                  <a:gd name="T18" fmla="*/ 0 w 349"/>
                  <a:gd name="T19" fmla="*/ 342 h 362"/>
                  <a:gd name="T20" fmla="*/ 19 w 349"/>
                  <a:gd name="T21" fmla="*/ 362 h 362"/>
                  <a:gd name="T22" fmla="*/ 297 w 349"/>
                  <a:gd name="T23" fmla="*/ 362 h 362"/>
                  <a:gd name="T24" fmla="*/ 349 w 349"/>
                  <a:gd name="T25" fmla="*/ 310 h 362"/>
                  <a:gd name="T26" fmla="*/ 349 w 349"/>
                  <a:gd name="T27" fmla="*/ 52 h 362"/>
                  <a:gd name="T28" fmla="*/ 297 w 349"/>
                  <a:gd name="T29" fmla="*/ 0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49" h="362">
                    <a:moveTo>
                      <a:pt x="297" y="0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9" y="0"/>
                      <a:pt x="0" y="9"/>
                      <a:pt x="0" y="20"/>
                    </a:cubicBezTo>
                    <a:cubicBezTo>
                      <a:pt x="0" y="31"/>
                      <a:pt x="9" y="39"/>
                      <a:pt x="19" y="39"/>
                    </a:cubicBezTo>
                    <a:cubicBezTo>
                      <a:pt x="297" y="39"/>
                      <a:pt x="297" y="39"/>
                      <a:pt x="297" y="39"/>
                    </a:cubicBezTo>
                    <a:cubicBezTo>
                      <a:pt x="304" y="39"/>
                      <a:pt x="310" y="45"/>
                      <a:pt x="310" y="52"/>
                    </a:cubicBezTo>
                    <a:cubicBezTo>
                      <a:pt x="310" y="310"/>
                      <a:pt x="310" y="310"/>
                      <a:pt x="310" y="310"/>
                    </a:cubicBezTo>
                    <a:cubicBezTo>
                      <a:pt x="310" y="317"/>
                      <a:pt x="304" y="322"/>
                      <a:pt x="297" y="322"/>
                    </a:cubicBezTo>
                    <a:cubicBezTo>
                      <a:pt x="19" y="322"/>
                      <a:pt x="19" y="322"/>
                      <a:pt x="19" y="322"/>
                    </a:cubicBezTo>
                    <a:cubicBezTo>
                      <a:pt x="9" y="322"/>
                      <a:pt x="0" y="331"/>
                      <a:pt x="0" y="342"/>
                    </a:cubicBezTo>
                    <a:cubicBezTo>
                      <a:pt x="0" y="353"/>
                      <a:pt x="9" y="362"/>
                      <a:pt x="19" y="362"/>
                    </a:cubicBezTo>
                    <a:cubicBezTo>
                      <a:pt x="297" y="362"/>
                      <a:pt x="297" y="362"/>
                      <a:pt x="297" y="362"/>
                    </a:cubicBezTo>
                    <a:cubicBezTo>
                      <a:pt x="326" y="362"/>
                      <a:pt x="349" y="338"/>
                      <a:pt x="349" y="310"/>
                    </a:cubicBezTo>
                    <a:cubicBezTo>
                      <a:pt x="349" y="52"/>
                      <a:pt x="349" y="52"/>
                      <a:pt x="349" y="52"/>
                    </a:cubicBezTo>
                    <a:cubicBezTo>
                      <a:pt x="349" y="24"/>
                      <a:pt x="326" y="0"/>
                      <a:pt x="29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42556C"/>
                  </a:solidFill>
                  <a:effectLst/>
                  <a:uLnTx/>
                  <a:uFillTx/>
                  <a:latin typeface="Calibri Light" panose="020F030202020403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" name="Freeform 6"/>
              <p:cNvSpPr>
                <a:spLocks noEditPoints="1"/>
              </p:cNvSpPr>
              <p:nvPr/>
            </p:nvSpPr>
            <p:spPr bwMode="auto">
              <a:xfrm>
                <a:off x="2498" y="1246"/>
                <a:ext cx="673" cy="747"/>
              </a:xfrm>
              <a:custGeom>
                <a:avLst/>
                <a:gdLst>
                  <a:gd name="T0" fmla="*/ 423 w 551"/>
                  <a:gd name="T1" fmla="*/ 309 h 614"/>
                  <a:gd name="T2" fmla="*/ 456 w 551"/>
                  <a:gd name="T3" fmla="*/ 222 h 614"/>
                  <a:gd name="T4" fmla="*/ 507 w 551"/>
                  <a:gd name="T5" fmla="*/ 256 h 614"/>
                  <a:gd name="T6" fmla="*/ 549 w 551"/>
                  <a:gd name="T7" fmla="*/ 93 h 614"/>
                  <a:gd name="T8" fmla="*/ 510 w 551"/>
                  <a:gd name="T9" fmla="*/ 86 h 614"/>
                  <a:gd name="T10" fmla="*/ 459 w 551"/>
                  <a:gd name="T11" fmla="*/ 171 h 614"/>
                  <a:gd name="T12" fmla="*/ 427 w 551"/>
                  <a:gd name="T13" fmla="*/ 180 h 614"/>
                  <a:gd name="T14" fmla="*/ 399 w 551"/>
                  <a:gd name="T15" fmla="*/ 237 h 614"/>
                  <a:gd name="T16" fmla="*/ 369 w 551"/>
                  <a:gd name="T17" fmla="*/ 263 h 614"/>
                  <a:gd name="T18" fmla="*/ 419 w 551"/>
                  <a:gd name="T19" fmla="*/ 310 h 614"/>
                  <a:gd name="T20" fmla="*/ 218 w 551"/>
                  <a:gd name="T21" fmla="*/ 85 h 614"/>
                  <a:gd name="T22" fmla="*/ 48 w 551"/>
                  <a:gd name="T23" fmla="*/ 85 h 614"/>
                  <a:gd name="T24" fmla="*/ 133 w 551"/>
                  <a:gd name="T25" fmla="*/ 39 h 614"/>
                  <a:gd name="T26" fmla="*/ 133 w 551"/>
                  <a:gd name="T27" fmla="*/ 132 h 614"/>
                  <a:gd name="T28" fmla="*/ 133 w 551"/>
                  <a:gd name="T29" fmla="*/ 39 h 614"/>
                  <a:gd name="T30" fmla="*/ 296 w 551"/>
                  <a:gd name="T31" fmla="*/ 183 h 614"/>
                  <a:gd name="T32" fmla="*/ 12 w 551"/>
                  <a:gd name="T33" fmla="*/ 196 h 614"/>
                  <a:gd name="T34" fmla="*/ 6 w 551"/>
                  <a:gd name="T35" fmla="*/ 381 h 614"/>
                  <a:gd name="T36" fmla="*/ 47 w 551"/>
                  <a:gd name="T37" fmla="*/ 430 h 614"/>
                  <a:gd name="T38" fmla="*/ 60 w 551"/>
                  <a:gd name="T39" fmla="*/ 562 h 614"/>
                  <a:gd name="T40" fmla="*/ 117 w 551"/>
                  <a:gd name="T41" fmla="*/ 614 h 614"/>
                  <a:gd name="T42" fmla="*/ 206 w 551"/>
                  <a:gd name="T43" fmla="*/ 562 h 614"/>
                  <a:gd name="T44" fmla="*/ 235 w 551"/>
                  <a:gd name="T45" fmla="*/ 298 h 614"/>
                  <a:gd name="T46" fmla="*/ 343 w 551"/>
                  <a:gd name="T47" fmla="*/ 230 h 614"/>
                  <a:gd name="T48" fmla="*/ 224 w 551"/>
                  <a:gd name="T49" fmla="*/ 261 h 614"/>
                  <a:gd name="T50" fmla="*/ 167 w 551"/>
                  <a:gd name="T51" fmla="*/ 559 h 614"/>
                  <a:gd name="T52" fmla="*/ 117 w 551"/>
                  <a:gd name="T53" fmla="*/ 575 h 614"/>
                  <a:gd name="T54" fmla="*/ 88 w 551"/>
                  <a:gd name="T55" fmla="*/ 429 h 614"/>
                  <a:gd name="T56" fmla="*/ 46 w 551"/>
                  <a:gd name="T57" fmla="*/ 382 h 614"/>
                  <a:gd name="T58" fmla="*/ 40 w 551"/>
                  <a:gd name="T59" fmla="*/ 226 h 614"/>
                  <a:gd name="T60" fmla="*/ 43 w 551"/>
                  <a:gd name="T61" fmla="*/ 222 h 614"/>
                  <a:gd name="T62" fmla="*/ 304 w 551"/>
                  <a:gd name="T63" fmla="*/ 230 h 6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51" h="614">
                    <a:moveTo>
                      <a:pt x="419" y="310"/>
                    </a:moveTo>
                    <a:cubicBezTo>
                      <a:pt x="420" y="310"/>
                      <a:pt x="422" y="310"/>
                      <a:pt x="423" y="309"/>
                    </a:cubicBezTo>
                    <a:cubicBezTo>
                      <a:pt x="430" y="308"/>
                      <a:pt x="436" y="302"/>
                      <a:pt x="438" y="295"/>
                    </a:cubicBezTo>
                    <a:cubicBezTo>
                      <a:pt x="456" y="222"/>
                      <a:pt x="456" y="222"/>
                      <a:pt x="456" y="222"/>
                    </a:cubicBezTo>
                    <a:cubicBezTo>
                      <a:pt x="488" y="252"/>
                      <a:pt x="488" y="252"/>
                      <a:pt x="488" y="252"/>
                    </a:cubicBezTo>
                    <a:cubicBezTo>
                      <a:pt x="493" y="257"/>
                      <a:pt x="501" y="258"/>
                      <a:pt x="507" y="256"/>
                    </a:cubicBezTo>
                    <a:cubicBezTo>
                      <a:pt x="514" y="254"/>
                      <a:pt x="519" y="248"/>
                      <a:pt x="521" y="241"/>
                    </a:cubicBezTo>
                    <a:cubicBezTo>
                      <a:pt x="549" y="93"/>
                      <a:pt x="549" y="93"/>
                      <a:pt x="549" y="93"/>
                    </a:cubicBezTo>
                    <a:cubicBezTo>
                      <a:pt x="551" y="82"/>
                      <a:pt x="544" y="72"/>
                      <a:pt x="533" y="70"/>
                    </a:cubicBezTo>
                    <a:cubicBezTo>
                      <a:pt x="523" y="68"/>
                      <a:pt x="512" y="75"/>
                      <a:pt x="510" y="86"/>
                    </a:cubicBezTo>
                    <a:cubicBezTo>
                      <a:pt x="489" y="199"/>
                      <a:pt x="489" y="199"/>
                      <a:pt x="489" y="199"/>
                    </a:cubicBezTo>
                    <a:cubicBezTo>
                      <a:pt x="459" y="171"/>
                      <a:pt x="459" y="171"/>
                      <a:pt x="459" y="171"/>
                    </a:cubicBezTo>
                    <a:cubicBezTo>
                      <a:pt x="454" y="166"/>
                      <a:pt x="447" y="164"/>
                      <a:pt x="441" y="166"/>
                    </a:cubicBezTo>
                    <a:cubicBezTo>
                      <a:pt x="434" y="168"/>
                      <a:pt x="429" y="173"/>
                      <a:pt x="427" y="180"/>
                    </a:cubicBezTo>
                    <a:cubicBezTo>
                      <a:pt x="409" y="249"/>
                      <a:pt x="409" y="249"/>
                      <a:pt x="409" y="249"/>
                    </a:cubicBezTo>
                    <a:cubicBezTo>
                      <a:pt x="399" y="237"/>
                      <a:pt x="399" y="237"/>
                      <a:pt x="399" y="237"/>
                    </a:cubicBezTo>
                    <a:cubicBezTo>
                      <a:pt x="392" y="229"/>
                      <a:pt x="379" y="228"/>
                      <a:pt x="371" y="235"/>
                    </a:cubicBezTo>
                    <a:cubicBezTo>
                      <a:pt x="363" y="242"/>
                      <a:pt x="362" y="254"/>
                      <a:pt x="369" y="263"/>
                    </a:cubicBezTo>
                    <a:cubicBezTo>
                      <a:pt x="404" y="303"/>
                      <a:pt x="404" y="303"/>
                      <a:pt x="404" y="303"/>
                    </a:cubicBezTo>
                    <a:cubicBezTo>
                      <a:pt x="408" y="307"/>
                      <a:pt x="413" y="310"/>
                      <a:pt x="419" y="310"/>
                    </a:cubicBezTo>
                    <a:close/>
                    <a:moveTo>
                      <a:pt x="133" y="171"/>
                    </a:moveTo>
                    <a:cubicBezTo>
                      <a:pt x="180" y="171"/>
                      <a:pt x="218" y="132"/>
                      <a:pt x="218" y="85"/>
                    </a:cubicBezTo>
                    <a:cubicBezTo>
                      <a:pt x="218" y="38"/>
                      <a:pt x="180" y="0"/>
                      <a:pt x="133" y="0"/>
                    </a:cubicBezTo>
                    <a:cubicBezTo>
                      <a:pt x="86" y="0"/>
                      <a:pt x="48" y="38"/>
                      <a:pt x="48" y="85"/>
                    </a:cubicBezTo>
                    <a:cubicBezTo>
                      <a:pt x="48" y="132"/>
                      <a:pt x="86" y="171"/>
                      <a:pt x="133" y="171"/>
                    </a:cubicBezTo>
                    <a:close/>
                    <a:moveTo>
                      <a:pt x="133" y="39"/>
                    </a:moveTo>
                    <a:cubicBezTo>
                      <a:pt x="158" y="39"/>
                      <a:pt x="179" y="60"/>
                      <a:pt x="179" y="85"/>
                    </a:cubicBezTo>
                    <a:cubicBezTo>
                      <a:pt x="179" y="111"/>
                      <a:pt x="159" y="132"/>
                      <a:pt x="133" y="132"/>
                    </a:cubicBezTo>
                    <a:cubicBezTo>
                      <a:pt x="107" y="132"/>
                      <a:pt x="87" y="111"/>
                      <a:pt x="87" y="85"/>
                    </a:cubicBezTo>
                    <a:cubicBezTo>
                      <a:pt x="87" y="60"/>
                      <a:pt x="108" y="39"/>
                      <a:pt x="133" y="39"/>
                    </a:cubicBezTo>
                    <a:close/>
                    <a:moveTo>
                      <a:pt x="343" y="230"/>
                    </a:moveTo>
                    <a:cubicBezTo>
                      <a:pt x="343" y="204"/>
                      <a:pt x="322" y="183"/>
                      <a:pt x="296" y="183"/>
                    </a:cubicBezTo>
                    <a:cubicBezTo>
                      <a:pt x="43" y="183"/>
                      <a:pt x="43" y="183"/>
                      <a:pt x="43" y="183"/>
                    </a:cubicBezTo>
                    <a:cubicBezTo>
                      <a:pt x="31" y="183"/>
                      <a:pt x="21" y="188"/>
                      <a:pt x="12" y="196"/>
                    </a:cubicBezTo>
                    <a:cubicBezTo>
                      <a:pt x="4" y="204"/>
                      <a:pt x="0" y="215"/>
                      <a:pt x="1" y="227"/>
                    </a:cubicBezTo>
                    <a:cubicBezTo>
                      <a:pt x="6" y="381"/>
                      <a:pt x="6" y="381"/>
                      <a:pt x="6" y="381"/>
                    </a:cubicBezTo>
                    <a:cubicBezTo>
                      <a:pt x="7" y="394"/>
                      <a:pt x="13" y="407"/>
                      <a:pt x="24" y="414"/>
                    </a:cubicBezTo>
                    <a:cubicBezTo>
                      <a:pt x="47" y="430"/>
                      <a:pt x="47" y="430"/>
                      <a:pt x="47" y="430"/>
                    </a:cubicBezTo>
                    <a:cubicBezTo>
                      <a:pt x="48" y="430"/>
                      <a:pt x="49" y="431"/>
                      <a:pt x="49" y="432"/>
                    </a:cubicBezTo>
                    <a:cubicBezTo>
                      <a:pt x="60" y="562"/>
                      <a:pt x="60" y="562"/>
                      <a:pt x="60" y="562"/>
                    </a:cubicBezTo>
                    <a:cubicBezTo>
                      <a:pt x="61" y="576"/>
                      <a:pt x="68" y="589"/>
                      <a:pt x="78" y="599"/>
                    </a:cubicBezTo>
                    <a:cubicBezTo>
                      <a:pt x="89" y="609"/>
                      <a:pt x="103" y="614"/>
                      <a:pt x="117" y="614"/>
                    </a:cubicBezTo>
                    <a:cubicBezTo>
                      <a:pt x="149" y="614"/>
                      <a:pt x="149" y="614"/>
                      <a:pt x="149" y="614"/>
                    </a:cubicBezTo>
                    <a:cubicBezTo>
                      <a:pt x="178" y="614"/>
                      <a:pt x="203" y="592"/>
                      <a:pt x="206" y="562"/>
                    </a:cubicBezTo>
                    <a:cubicBezTo>
                      <a:pt x="233" y="301"/>
                      <a:pt x="233" y="301"/>
                      <a:pt x="233" y="301"/>
                    </a:cubicBezTo>
                    <a:cubicBezTo>
                      <a:pt x="233" y="299"/>
                      <a:pt x="234" y="298"/>
                      <a:pt x="235" y="298"/>
                    </a:cubicBezTo>
                    <a:cubicBezTo>
                      <a:pt x="310" y="275"/>
                      <a:pt x="310" y="275"/>
                      <a:pt x="310" y="275"/>
                    </a:cubicBezTo>
                    <a:cubicBezTo>
                      <a:pt x="330" y="269"/>
                      <a:pt x="343" y="251"/>
                      <a:pt x="343" y="230"/>
                    </a:cubicBezTo>
                    <a:close/>
                    <a:moveTo>
                      <a:pt x="299" y="238"/>
                    </a:moveTo>
                    <a:cubicBezTo>
                      <a:pt x="224" y="261"/>
                      <a:pt x="224" y="261"/>
                      <a:pt x="224" y="261"/>
                    </a:cubicBezTo>
                    <a:cubicBezTo>
                      <a:pt x="207" y="266"/>
                      <a:pt x="196" y="280"/>
                      <a:pt x="194" y="297"/>
                    </a:cubicBezTo>
                    <a:cubicBezTo>
                      <a:pt x="167" y="559"/>
                      <a:pt x="167" y="559"/>
                      <a:pt x="167" y="559"/>
                    </a:cubicBezTo>
                    <a:cubicBezTo>
                      <a:pt x="166" y="568"/>
                      <a:pt x="158" y="575"/>
                      <a:pt x="149" y="575"/>
                    </a:cubicBezTo>
                    <a:cubicBezTo>
                      <a:pt x="117" y="575"/>
                      <a:pt x="117" y="575"/>
                      <a:pt x="117" y="575"/>
                    </a:cubicBezTo>
                    <a:cubicBezTo>
                      <a:pt x="107" y="575"/>
                      <a:pt x="100" y="568"/>
                      <a:pt x="99" y="558"/>
                    </a:cubicBezTo>
                    <a:cubicBezTo>
                      <a:pt x="88" y="429"/>
                      <a:pt x="88" y="429"/>
                      <a:pt x="88" y="429"/>
                    </a:cubicBezTo>
                    <a:cubicBezTo>
                      <a:pt x="87" y="416"/>
                      <a:pt x="80" y="405"/>
                      <a:pt x="69" y="398"/>
                    </a:cubicBezTo>
                    <a:cubicBezTo>
                      <a:pt x="46" y="382"/>
                      <a:pt x="46" y="382"/>
                      <a:pt x="46" y="382"/>
                    </a:cubicBezTo>
                    <a:cubicBezTo>
                      <a:pt x="46" y="382"/>
                      <a:pt x="45" y="381"/>
                      <a:pt x="45" y="380"/>
                    </a:cubicBezTo>
                    <a:cubicBezTo>
                      <a:pt x="40" y="226"/>
                      <a:pt x="40" y="226"/>
                      <a:pt x="40" y="226"/>
                    </a:cubicBezTo>
                    <a:cubicBezTo>
                      <a:pt x="40" y="225"/>
                      <a:pt x="40" y="224"/>
                      <a:pt x="41" y="223"/>
                    </a:cubicBezTo>
                    <a:cubicBezTo>
                      <a:pt x="41" y="223"/>
                      <a:pt x="42" y="222"/>
                      <a:pt x="43" y="222"/>
                    </a:cubicBezTo>
                    <a:cubicBezTo>
                      <a:pt x="296" y="222"/>
                      <a:pt x="296" y="222"/>
                      <a:pt x="296" y="222"/>
                    </a:cubicBezTo>
                    <a:cubicBezTo>
                      <a:pt x="301" y="222"/>
                      <a:pt x="304" y="226"/>
                      <a:pt x="304" y="230"/>
                    </a:cubicBezTo>
                    <a:cubicBezTo>
                      <a:pt x="304" y="234"/>
                      <a:pt x="302" y="237"/>
                      <a:pt x="299" y="2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42556C"/>
                  </a:solidFill>
                  <a:effectLst/>
                  <a:uLnTx/>
                  <a:uFillTx/>
                  <a:latin typeface="Calibri Light" panose="020F0302020204030204"/>
                  <a:ea typeface="微软雅黑 Light" panose="020B0502040204020203" charset="-122"/>
                  <a:cs typeface="+mn-cs"/>
                </a:endParaRPr>
              </a:p>
            </p:txBody>
          </p:sp>
        </p:grpSp>
        <p:sp>
          <p:nvSpPr>
            <p:cNvPr id="35" name="椭圆 34"/>
            <p:cNvSpPr/>
            <p:nvPr/>
          </p:nvSpPr>
          <p:spPr>
            <a:xfrm>
              <a:off x="4620205" y="2819862"/>
              <a:ext cx="283747" cy="28374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2556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Freeform 10"/>
            <p:cNvSpPr>
              <a:spLocks noEditPoints="1"/>
            </p:cNvSpPr>
            <p:nvPr/>
          </p:nvSpPr>
          <p:spPr bwMode="auto">
            <a:xfrm>
              <a:off x="4687016" y="2874411"/>
              <a:ext cx="150124" cy="174648"/>
            </a:xfrm>
            <a:custGeom>
              <a:avLst/>
              <a:gdLst>
                <a:gd name="T0" fmla="*/ 688 w 701"/>
                <a:gd name="T1" fmla="*/ 820 h 820"/>
                <a:gd name="T2" fmla="*/ 21 w 701"/>
                <a:gd name="T3" fmla="*/ 820 h 820"/>
                <a:gd name="T4" fmla="*/ 0 w 701"/>
                <a:gd name="T5" fmla="*/ 800 h 820"/>
                <a:gd name="T6" fmla="*/ 99 w 701"/>
                <a:gd name="T7" fmla="*/ 512 h 820"/>
                <a:gd name="T8" fmla="*/ 113 w 701"/>
                <a:gd name="T9" fmla="*/ 507 h 820"/>
                <a:gd name="T10" fmla="*/ 204 w 701"/>
                <a:gd name="T11" fmla="*/ 549 h 820"/>
                <a:gd name="T12" fmla="*/ 58 w 701"/>
                <a:gd name="T13" fmla="*/ 665 h 820"/>
                <a:gd name="T14" fmla="*/ 655 w 701"/>
                <a:gd name="T15" fmla="*/ 779 h 820"/>
                <a:gd name="T16" fmla="*/ 573 w 701"/>
                <a:gd name="T17" fmla="*/ 548 h 820"/>
                <a:gd name="T18" fmla="*/ 477 w 701"/>
                <a:gd name="T19" fmla="*/ 507 h 820"/>
                <a:gd name="T20" fmla="*/ 595 w 701"/>
                <a:gd name="T21" fmla="*/ 509 h 820"/>
                <a:gd name="T22" fmla="*/ 696 w 701"/>
                <a:gd name="T23" fmla="*/ 807 h 820"/>
                <a:gd name="T24" fmla="*/ 300 w 701"/>
                <a:gd name="T25" fmla="*/ 711 h 820"/>
                <a:gd name="T26" fmla="*/ 322 w 701"/>
                <a:gd name="T27" fmla="*/ 547 h 820"/>
                <a:gd name="T28" fmla="*/ 381 w 701"/>
                <a:gd name="T29" fmla="*/ 525 h 820"/>
                <a:gd name="T30" fmla="*/ 369 w 701"/>
                <a:gd name="T31" fmla="*/ 569 h 820"/>
                <a:gd name="T32" fmla="*/ 354 w 701"/>
                <a:gd name="T33" fmla="*/ 752 h 820"/>
                <a:gd name="T34" fmla="*/ 454 w 701"/>
                <a:gd name="T35" fmla="*/ 452 h 820"/>
                <a:gd name="T36" fmla="*/ 345 w 701"/>
                <a:gd name="T37" fmla="*/ 508 h 820"/>
                <a:gd name="T38" fmla="*/ 239 w 701"/>
                <a:gd name="T39" fmla="*/ 455 h 820"/>
                <a:gd name="T40" fmla="*/ 149 w 701"/>
                <a:gd name="T41" fmla="*/ 309 h 820"/>
                <a:gd name="T42" fmla="*/ 139 w 701"/>
                <a:gd name="T43" fmla="*/ 236 h 820"/>
                <a:gd name="T44" fmla="*/ 156 w 701"/>
                <a:gd name="T45" fmla="*/ 226 h 820"/>
                <a:gd name="T46" fmla="*/ 353 w 701"/>
                <a:gd name="T47" fmla="*/ 25 h 820"/>
                <a:gd name="T48" fmla="*/ 540 w 701"/>
                <a:gd name="T49" fmla="*/ 231 h 820"/>
                <a:gd name="T50" fmla="*/ 548 w 701"/>
                <a:gd name="T51" fmla="*/ 246 h 820"/>
                <a:gd name="T52" fmla="*/ 512 w 701"/>
                <a:gd name="T53" fmla="*/ 341 h 820"/>
                <a:gd name="T54" fmla="*/ 490 w 701"/>
                <a:gd name="T55" fmla="*/ 256 h 820"/>
                <a:gd name="T56" fmla="*/ 481 w 701"/>
                <a:gd name="T57" fmla="*/ 240 h 820"/>
                <a:gd name="T58" fmla="*/ 424 w 701"/>
                <a:gd name="T59" fmla="*/ 136 h 820"/>
                <a:gd name="T60" fmla="*/ 405 w 701"/>
                <a:gd name="T61" fmla="*/ 158 h 820"/>
                <a:gd name="T62" fmla="*/ 394 w 701"/>
                <a:gd name="T63" fmla="*/ 164 h 820"/>
                <a:gd name="T64" fmla="*/ 393 w 701"/>
                <a:gd name="T65" fmla="*/ 132 h 820"/>
                <a:gd name="T66" fmla="*/ 214 w 701"/>
                <a:gd name="T67" fmla="*/ 162 h 820"/>
                <a:gd name="T68" fmla="*/ 205 w 701"/>
                <a:gd name="T69" fmla="*/ 257 h 820"/>
                <a:gd name="T70" fmla="*/ 202 w 701"/>
                <a:gd name="T71" fmla="*/ 263 h 820"/>
                <a:gd name="T72" fmla="*/ 184 w 701"/>
                <a:gd name="T73" fmla="*/ 295 h 820"/>
                <a:gd name="T74" fmla="*/ 208 w 701"/>
                <a:gd name="T75" fmla="*/ 313 h 820"/>
                <a:gd name="T76" fmla="*/ 266 w 701"/>
                <a:gd name="T77" fmla="*/ 429 h 820"/>
                <a:gd name="T78" fmla="*/ 426 w 701"/>
                <a:gd name="T79" fmla="*/ 426 h 820"/>
                <a:gd name="T80" fmla="*/ 480 w 701"/>
                <a:gd name="T81" fmla="*/ 313 h 820"/>
                <a:gd name="T82" fmla="*/ 504 w 701"/>
                <a:gd name="T83" fmla="*/ 294 h 820"/>
                <a:gd name="T84" fmla="*/ 492 w 701"/>
                <a:gd name="T85" fmla="*/ 265 h 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01" h="820">
                  <a:moveTo>
                    <a:pt x="696" y="807"/>
                  </a:moveTo>
                  <a:cubicBezTo>
                    <a:pt x="688" y="820"/>
                    <a:pt x="688" y="820"/>
                    <a:pt x="688" y="820"/>
                  </a:cubicBezTo>
                  <a:cubicBezTo>
                    <a:pt x="670" y="820"/>
                    <a:pt x="670" y="820"/>
                    <a:pt x="670" y="820"/>
                  </a:cubicBezTo>
                  <a:cubicBezTo>
                    <a:pt x="21" y="820"/>
                    <a:pt x="21" y="820"/>
                    <a:pt x="21" y="820"/>
                  </a:cubicBezTo>
                  <a:cubicBezTo>
                    <a:pt x="0" y="820"/>
                    <a:pt x="0" y="820"/>
                    <a:pt x="0" y="820"/>
                  </a:cubicBezTo>
                  <a:cubicBezTo>
                    <a:pt x="0" y="800"/>
                    <a:pt x="0" y="800"/>
                    <a:pt x="0" y="800"/>
                  </a:cubicBezTo>
                  <a:cubicBezTo>
                    <a:pt x="1" y="760"/>
                    <a:pt x="5" y="707"/>
                    <a:pt x="19" y="655"/>
                  </a:cubicBezTo>
                  <a:cubicBezTo>
                    <a:pt x="33" y="601"/>
                    <a:pt x="57" y="549"/>
                    <a:pt x="99" y="512"/>
                  </a:cubicBezTo>
                  <a:cubicBezTo>
                    <a:pt x="105" y="507"/>
                    <a:pt x="105" y="507"/>
                    <a:pt x="105" y="507"/>
                  </a:cubicBezTo>
                  <a:cubicBezTo>
                    <a:pt x="113" y="507"/>
                    <a:pt x="113" y="507"/>
                    <a:pt x="113" y="507"/>
                  </a:cubicBezTo>
                  <a:cubicBezTo>
                    <a:pt x="204" y="507"/>
                    <a:pt x="204" y="507"/>
                    <a:pt x="204" y="507"/>
                  </a:cubicBezTo>
                  <a:cubicBezTo>
                    <a:pt x="204" y="549"/>
                    <a:pt x="204" y="549"/>
                    <a:pt x="204" y="549"/>
                  </a:cubicBezTo>
                  <a:cubicBezTo>
                    <a:pt x="121" y="548"/>
                    <a:pt x="121" y="548"/>
                    <a:pt x="121" y="548"/>
                  </a:cubicBezTo>
                  <a:cubicBezTo>
                    <a:pt x="89" y="578"/>
                    <a:pt x="70" y="621"/>
                    <a:pt x="58" y="665"/>
                  </a:cubicBezTo>
                  <a:cubicBezTo>
                    <a:pt x="48" y="705"/>
                    <a:pt x="43" y="746"/>
                    <a:pt x="42" y="780"/>
                  </a:cubicBezTo>
                  <a:cubicBezTo>
                    <a:pt x="655" y="779"/>
                    <a:pt x="655" y="779"/>
                    <a:pt x="655" y="779"/>
                  </a:cubicBezTo>
                  <a:cubicBezTo>
                    <a:pt x="656" y="741"/>
                    <a:pt x="644" y="695"/>
                    <a:pt x="631" y="653"/>
                  </a:cubicBezTo>
                  <a:cubicBezTo>
                    <a:pt x="617" y="610"/>
                    <a:pt x="597" y="573"/>
                    <a:pt x="573" y="548"/>
                  </a:cubicBezTo>
                  <a:cubicBezTo>
                    <a:pt x="477" y="548"/>
                    <a:pt x="477" y="548"/>
                    <a:pt x="477" y="548"/>
                  </a:cubicBezTo>
                  <a:cubicBezTo>
                    <a:pt x="477" y="507"/>
                    <a:pt x="477" y="507"/>
                    <a:pt x="477" y="507"/>
                  </a:cubicBezTo>
                  <a:cubicBezTo>
                    <a:pt x="586" y="507"/>
                    <a:pt x="586" y="507"/>
                    <a:pt x="586" y="507"/>
                  </a:cubicBezTo>
                  <a:cubicBezTo>
                    <a:pt x="595" y="509"/>
                    <a:pt x="595" y="509"/>
                    <a:pt x="595" y="509"/>
                  </a:cubicBezTo>
                  <a:cubicBezTo>
                    <a:pt x="627" y="539"/>
                    <a:pt x="653" y="588"/>
                    <a:pt x="670" y="640"/>
                  </a:cubicBezTo>
                  <a:cubicBezTo>
                    <a:pt x="687" y="695"/>
                    <a:pt x="701" y="759"/>
                    <a:pt x="696" y="807"/>
                  </a:cubicBezTo>
                  <a:close/>
                  <a:moveTo>
                    <a:pt x="354" y="752"/>
                  </a:moveTo>
                  <a:cubicBezTo>
                    <a:pt x="300" y="711"/>
                    <a:pt x="300" y="711"/>
                    <a:pt x="300" y="711"/>
                  </a:cubicBezTo>
                  <a:cubicBezTo>
                    <a:pt x="335" y="569"/>
                    <a:pt x="335" y="569"/>
                    <a:pt x="335" y="569"/>
                  </a:cubicBezTo>
                  <a:cubicBezTo>
                    <a:pt x="322" y="547"/>
                    <a:pt x="322" y="547"/>
                    <a:pt x="322" y="547"/>
                  </a:cubicBezTo>
                  <a:cubicBezTo>
                    <a:pt x="323" y="525"/>
                    <a:pt x="323" y="525"/>
                    <a:pt x="323" y="525"/>
                  </a:cubicBezTo>
                  <a:cubicBezTo>
                    <a:pt x="348" y="524"/>
                    <a:pt x="356" y="524"/>
                    <a:pt x="381" y="525"/>
                  </a:cubicBezTo>
                  <a:cubicBezTo>
                    <a:pt x="382" y="547"/>
                    <a:pt x="382" y="547"/>
                    <a:pt x="382" y="547"/>
                  </a:cubicBezTo>
                  <a:cubicBezTo>
                    <a:pt x="369" y="569"/>
                    <a:pt x="369" y="569"/>
                    <a:pt x="369" y="569"/>
                  </a:cubicBezTo>
                  <a:cubicBezTo>
                    <a:pt x="409" y="711"/>
                    <a:pt x="409" y="711"/>
                    <a:pt x="409" y="711"/>
                  </a:cubicBezTo>
                  <a:cubicBezTo>
                    <a:pt x="354" y="752"/>
                    <a:pt x="354" y="752"/>
                    <a:pt x="354" y="752"/>
                  </a:cubicBezTo>
                  <a:close/>
                  <a:moveTo>
                    <a:pt x="512" y="341"/>
                  </a:moveTo>
                  <a:cubicBezTo>
                    <a:pt x="498" y="389"/>
                    <a:pt x="479" y="425"/>
                    <a:pt x="454" y="452"/>
                  </a:cubicBezTo>
                  <a:cubicBezTo>
                    <a:pt x="426" y="481"/>
                    <a:pt x="392" y="498"/>
                    <a:pt x="348" y="507"/>
                  </a:cubicBezTo>
                  <a:cubicBezTo>
                    <a:pt x="345" y="508"/>
                    <a:pt x="345" y="508"/>
                    <a:pt x="345" y="508"/>
                  </a:cubicBezTo>
                  <a:cubicBezTo>
                    <a:pt x="341" y="508"/>
                    <a:pt x="341" y="508"/>
                    <a:pt x="341" y="508"/>
                  </a:cubicBezTo>
                  <a:cubicBezTo>
                    <a:pt x="302" y="501"/>
                    <a:pt x="268" y="484"/>
                    <a:pt x="239" y="455"/>
                  </a:cubicBezTo>
                  <a:cubicBezTo>
                    <a:pt x="212" y="428"/>
                    <a:pt x="191" y="391"/>
                    <a:pt x="177" y="342"/>
                  </a:cubicBezTo>
                  <a:cubicBezTo>
                    <a:pt x="164" y="335"/>
                    <a:pt x="155" y="324"/>
                    <a:pt x="149" y="309"/>
                  </a:cubicBezTo>
                  <a:cubicBezTo>
                    <a:pt x="142" y="293"/>
                    <a:pt x="139" y="271"/>
                    <a:pt x="139" y="246"/>
                  </a:cubicBezTo>
                  <a:cubicBezTo>
                    <a:pt x="139" y="236"/>
                    <a:pt x="139" y="236"/>
                    <a:pt x="139" y="236"/>
                  </a:cubicBezTo>
                  <a:cubicBezTo>
                    <a:pt x="148" y="231"/>
                    <a:pt x="148" y="231"/>
                    <a:pt x="148" y="231"/>
                  </a:cubicBezTo>
                  <a:cubicBezTo>
                    <a:pt x="150" y="229"/>
                    <a:pt x="153" y="227"/>
                    <a:pt x="156" y="226"/>
                  </a:cubicBezTo>
                  <a:cubicBezTo>
                    <a:pt x="143" y="150"/>
                    <a:pt x="147" y="85"/>
                    <a:pt x="193" y="42"/>
                  </a:cubicBezTo>
                  <a:cubicBezTo>
                    <a:pt x="229" y="15"/>
                    <a:pt x="294" y="34"/>
                    <a:pt x="353" y="25"/>
                  </a:cubicBezTo>
                  <a:cubicBezTo>
                    <a:pt x="521" y="0"/>
                    <a:pt x="520" y="85"/>
                    <a:pt x="537" y="229"/>
                  </a:cubicBezTo>
                  <a:cubicBezTo>
                    <a:pt x="538" y="230"/>
                    <a:pt x="539" y="230"/>
                    <a:pt x="540" y="231"/>
                  </a:cubicBezTo>
                  <a:cubicBezTo>
                    <a:pt x="548" y="236"/>
                    <a:pt x="548" y="236"/>
                    <a:pt x="548" y="236"/>
                  </a:cubicBezTo>
                  <a:cubicBezTo>
                    <a:pt x="548" y="246"/>
                    <a:pt x="548" y="246"/>
                    <a:pt x="548" y="246"/>
                  </a:cubicBezTo>
                  <a:cubicBezTo>
                    <a:pt x="549" y="271"/>
                    <a:pt x="546" y="292"/>
                    <a:pt x="539" y="308"/>
                  </a:cubicBezTo>
                  <a:cubicBezTo>
                    <a:pt x="533" y="323"/>
                    <a:pt x="524" y="334"/>
                    <a:pt x="512" y="341"/>
                  </a:cubicBezTo>
                  <a:close/>
                  <a:moveTo>
                    <a:pt x="492" y="265"/>
                  </a:moveTo>
                  <a:cubicBezTo>
                    <a:pt x="490" y="256"/>
                    <a:pt x="490" y="256"/>
                    <a:pt x="490" y="256"/>
                  </a:cubicBezTo>
                  <a:cubicBezTo>
                    <a:pt x="484" y="257"/>
                    <a:pt x="484" y="257"/>
                    <a:pt x="484" y="257"/>
                  </a:cubicBezTo>
                  <a:cubicBezTo>
                    <a:pt x="481" y="240"/>
                    <a:pt x="481" y="240"/>
                    <a:pt x="481" y="240"/>
                  </a:cubicBezTo>
                  <a:cubicBezTo>
                    <a:pt x="479" y="227"/>
                    <a:pt x="475" y="161"/>
                    <a:pt x="470" y="150"/>
                  </a:cubicBezTo>
                  <a:cubicBezTo>
                    <a:pt x="455" y="156"/>
                    <a:pt x="439" y="145"/>
                    <a:pt x="424" y="136"/>
                  </a:cubicBezTo>
                  <a:cubicBezTo>
                    <a:pt x="417" y="160"/>
                    <a:pt x="417" y="160"/>
                    <a:pt x="417" y="160"/>
                  </a:cubicBezTo>
                  <a:cubicBezTo>
                    <a:pt x="405" y="158"/>
                    <a:pt x="405" y="158"/>
                    <a:pt x="405" y="158"/>
                  </a:cubicBezTo>
                  <a:cubicBezTo>
                    <a:pt x="406" y="144"/>
                    <a:pt x="406" y="144"/>
                    <a:pt x="406" y="144"/>
                  </a:cubicBezTo>
                  <a:cubicBezTo>
                    <a:pt x="394" y="164"/>
                    <a:pt x="394" y="164"/>
                    <a:pt x="394" y="164"/>
                  </a:cubicBezTo>
                  <a:cubicBezTo>
                    <a:pt x="382" y="162"/>
                    <a:pt x="382" y="162"/>
                    <a:pt x="382" y="162"/>
                  </a:cubicBezTo>
                  <a:cubicBezTo>
                    <a:pt x="393" y="132"/>
                    <a:pt x="393" y="132"/>
                    <a:pt x="393" y="132"/>
                  </a:cubicBezTo>
                  <a:cubicBezTo>
                    <a:pt x="334" y="173"/>
                    <a:pt x="231" y="171"/>
                    <a:pt x="218" y="153"/>
                  </a:cubicBezTo>
                  <a:cubicBezTo>
                    <a:pt x="216" y="155"/>
                    <a:pt x="215" y="159"/>
                    <a:pt x="214" y="162"/>
                  </a:cubicBezTo>
                  <a:cubicBezTo>
                    <a:pt x="211" y="173"/>
                    <a:pt x="208" y="242"/>
                    <a:pt x="205" y="253"/>
                  </a:cubicBezTo>
                  <a:cubicBezTo>
                    <a:pt x="205" y="257"/>
                    <a:pt x="205" y="257"/>
                    <a:pt x="205" y="257"/>
                  </a:cubicBezTo>
                  <a:cubicBezTo>
                    <a:pt x="204" y="257"/>
                    <a:pt x="204" y="257"/>
                    <a:pt x="204" y="257"/>
                  </a:cubicBezTo>
                  <a:cubicBezTo>
                    <a:pt x="204" y="260"/>
                    <a:pt x="203" y="261"/>
                    <a:pt x="202" y="263"/>
                  </a:cubicBezTo>
                  <a:cubicBezTo>
                    <a:pt x="197" y="260"/>
                    <a:pt x="187" y="262"/>
                    <a:pt x="178" y="264"/>
                  </a:cubicBezTo>
                  <a:cubicBezTo>
                    <a:pt x="179" y="276"/>
                    <a:pt x="181" y="286"/>
                    <a:pt x="184" y="295"/>
                  </a:cubicBezTo>
                  <a:cubicBezTo>
                    <a:pt x="188" y="303"/>
                    <a:pt x="192" y="308"/>
                    <a:pt x="198" y="310"/>
                  </a:cubicBezTo>
                  <a:cubicBezTo>
                    <a:pt x="208" y="313"/>
                    <a:pt x="208" y="313"/>
                    <a:pt x="208" y="313"/>
                  </a:cubicBezTo>
                  <a:cubicBezTo>
                    <a:pt x="211" y="323"/>
                    <a:pt x="211" y="323"/>
                    <a:pt x="211" y="323"/>
                  </a:cubicBezTo>
                  <a:cubicBezTo>
                    <a:pt x="224" y="371"/>
                    <a:pt x="243" y="405"/>
                    <a:pt x="266" y="429"/>
                  </a:cubicBezTo>
                  <a:cubicBezTo>
                    <a:pt x="288" y="451"/>
                    <a:pt x="314" y="464"/>
                    <a:pt x="344" y="470"/>
                  </a:cubicBezTo>
                  <a:cubicBezTo>
                    <a:pt x="378" y="462"/>
                    <a:pt x="405" y="448"/>
                    <a:pt x="426" y="426"/>
                  </a:cubicBezTo>
                  <a:cubicBezTo>
                    <a:pt x="449" y="402"/>
                    <a:pt x="465" y="369"/>
                    <a:pt x="478" y="323"/>
                  </a:cubicBezTo>
                  <a:cubicBezTo>
                    <a:pt x="480" y="313"/>
                    <a:pt x="480" y="313"/>
                    <a:pt x="480" y="313"/>
                  </a:cubicBezTo>
                  <a:cubicBezTo>
                    <a:pt x="490" y="310"/>
                    <a:pt x="490" y="310"/>
                    <a:pt x="490" y="310"/>
                  </a:cubicBezTo>
                  <a:cubicBezTo>
                    <a:pt x="496" y="308"/>
                    <a:pt x="500" y="302"/>
                    <a:pt x="504" y="294"/>
                  </a:cubicBezTo>
                  <a:cubicBezTo>
                    <a:pt x="507" y="286"/>
                    <a:pt x="509" y="276"/>
                    <a:pt x="510" y="264"/>
                  </a:cubicBezTo>
                  <a:cubicBezTo>
                    <a:pt x="504" y="264"/>
                    <a:pt x="499" y="264"/>
                    <a:pt x="492" y="26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2556C"/>
                </a:solidFill>
                <a:effectLst/>
                <a:uLnTx/>
                <a:uFillTx/>
                <a:latin typeface="Calibri Light" panose="020F0302020204030204"/>
                <a:ea typeface="微软雅黑 Light" panose="020B0502040204020203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240435" y="2034250"/>
            <a:ext cx="41633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dirty="0">
                <a:effectLst>
                  <a:reflection blurRad="6350" stA="50000" endA="300" endPos="50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r>
              <a:rPr lang="en-US" altLang="zh-CN" sz="3200" b="1" dirty="0">
                <a:effectLst>
                  <a:reflection blurRad="6350" stA="50000" endA="300" endPos="50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3200" b="1" dirty="0">
                <a:effectLst>
                  <a:reflection blurRad="6350" stA="50000" endA="300" endPos="50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r>
              <a:rPr lang="en-US" altLang="zh-CN" sz="3200" b="1" dirty="0">
                <a:effectLst>
                  <a:reflection blurRad="6350" stA="50000" endA="300" endPos="50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3200" b="1" dirty="0">
                <a:effectLst>
                  <a:reflection blurRad="6350" stA="50000" endA="300" endPos="50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范围</a:t>
            </a:r>
            <a:endParaRPr lang="zh-CN" altLang="en-US" sz="3200" b="1" dirty="0">
              <a:effectLst>
                <a:reflection blurRad="6350" stA="50000" endA="300" endPos="50000" dist="29997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258377" y="2700172"/>
            <a:ext cx="31085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dirty="0">
                <a:effectLst>
                  <a:reflection blurRad="6350" stA="50000" endA="300" endPos="50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项目总体计划</a:t>
            </a:r>
            <a:endParaRPr lang="zh-CN" altLang="en-US" sz="3200" b="1" dirty="0">
              <a:effectLst>
                <a:reflection blurRad="6350" stA="50000" endA="300" endPos="50000" dist="29997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253568" y="3420252"/>
            <a:ext cx="51845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dirty="0">
                <a:effectLst>
                  <a:reflection blurRad="6350" stA="50000" endA="300" endPos="50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项目组织架构</a:t>
            </a:r>
            <a:endParaRPr lang="zh-CN" altLang="en-US" sz="3200" b="1" dirty="0">
              <a:effectLst>
                <a:reflection blurRad="6350" stA="50000" endA="300" endPos="50000" dist="29997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300244" y="4149080"/>
            <a:ext cx="39292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dirty="0">
                <a:effectLst>
                  <a:reflection blurRad="6350" stA="50000" endA="300" endPos="50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项目风险点和对策</a:t>
            </a:r>
            <a:endParaRPr lang="zh-CN" altLang="en-US" sz="3200" b="1" dirty="0">
              <a:effectLst>
                <a:reflection blurRad="6350" stA="50000" endA="300" endPos="50000" dist="29997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00244" y="4898123"/>
            <a:ext cx="31085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dirty="0">
                <a:effectLst>
                  <a:reflection blurRad="6350" stA="50000" endA="300" endPos="50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项目沟通机制</a:t>
            </a:r>
            <a:endParaRPr lang="zh-CN" altLang="en-US" sz="3200" b="1" dirty="0">
              <a:effectLst>
                <a:reflection blurRad="6350" stA="50000" endA="300" endPos="50000" dist="29997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/>
        </p:nvSpPr>
        <p:spPr bwMode="auto">
          <a:xfrm>
            <a:off x="4163060" y="908685"/>
            <a:ext cx="2015490" cy="76835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00" cap="none" spc="0" normalizeH="0" baseline="0" noProof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</a:t>
            </a:r>
            <a:r>
              <a:rPr kumimoji="0" lang="en-US" altLang="zh-CN" sz="4400" b="1" i="0" u="none" strike="noStrike" kern="100" cap="none" spc="0" normalizeH="0" baseline="0" noProof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4400" b="1" i="0" u="none" strike="noStrike" kern="100" cap="none" spc="0" normalizeH="0" baseline="0" noProof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录</a:t>
            </a:r>
            <a:endParaRPr kumimoji="0" lang="zh-CN" altLang="en-US" sz="4400" b="1" i="0" u="none" strike="noStrike" kern="1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2500313"/>
            <a:ext cx="2928938" cy="1000125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765616" y="2584876"/>
            <a:ext cx="52427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800" b="1" dirty="0">
                <a:effectLst>
                  <a:reflection blurRad="6350" stA="50000" endA="300" endPos="50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4800" b="1" dirty="0">
              <a:effectLst>
                <a:reflection blurRad="6350" stA="50000" endA="300" endPos="50000" dist="29997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900988" y="2500313"/>
            <a:ext cx="2928937" cy="1000125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6491"/>
          <a:stretch>
            <a:fillRect/>
          </a:stretch>
        </p:blipFill>
        <p:spPr>
          <a:xfrm>
            <a:off x="2304415" y="4005580"/>
            <a:ext cx="6620510" cy="277939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008380" y="2493010"/>
            <a:ext cx="8968740" cy="1480820"/>
          </a:xfrm>
          <a:prstGeom prst="rect">
            <a:avLst/>
          </a:prstGeom>
          <a:ln w="7620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zh-CN" altLang="en-US" sz="2400"/>
          </a:p>
        </p:txBody>
      </p:sp>
      <p:pic>
        <p:nvPicPr>
          <p:cNvPr id="6156" name="Picture 9" descr="C:\Documents and Settings\Administrator\桌面\未标题-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639"/>
          <a:stretch>
            <a:fillRect/>
          </a:stretch>
        </p:blipFill>
        <p:spPr bwMode="auto">
          <a:xfrm>
            <a:off x="1588" y="142875"/>
            <a:ext cx="4899025" cy="17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矩形 47"/>
          <p:cNvSpPr/>
          <p:nvPr/>
        </p:nvSpPr>
        <p:spPr>
          <a:xfrm>
            <a:off x="1234842" y="476672"/>
            <a:ext cx="1816100" cy="58356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+mn-lt"/>
                <a:ea typeface="+mn-ea"/>
              </a:rPr>
              <a:t>项目背景</a:t>
            </a:r>
            <a:endParaRPr lang="zh-CN" altLang="en-US" sz="3200" b="1" dirty="0">
              <a:solidFill>
                <a:schemeClr val="bg1"/>
              </a:solidFill>
              <a:effectLst>
                <a:reflection blurRad="6350" stA="55000" endA="300" endPos="45500" dir="5400000" sy="-100000" algn="bl" rotWithShape="0"/>
              </a:effectLst>
              <a:latin typeface="+mn-lt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93115" y="1335405"/>
            <a:ext cx="2810510" cy="509905"/>
          </a:xfrm>
          <a:prstGeom prst="rect">
            <a:avLst/>
          </a:prstGeom>
          <a:solidFill>
            <a:srgbClr val="B9CDE5"/>
          </a:solidFill>
          <a:ln w="76200">
            <a:solidFill>
              <a:srgbClr val="84A7D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效率低</a:t>
            </a:r>
            <a:endParaRPr lang="zh-CN" altLang="en-US" sz="2400" b="1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275195" y="1341120"/>
            <a:ext cx="2810510" cy="509905"/>
          </a:xfrm>
          <a:prstGeom prst="rect">
            <a:avLst/>
          </a:prstGeom>
          <a:solidFill>
            <a:srgbClr val="B9CDE5"/>
          </a:solidFill>
          <a:ln w="76200">
            <a:solidFill>
              <a:srgbClr val="84A7D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反馈不及时</a:t>
            </a:r>
            <a:endParaRPr lang="zh-CN" altLang="en-US" sz="2400" b="1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034155" y="1341120"/>
            <a:ext cx="2810510" cy="509905"/>
          </a:xfrm>
          <a:prstGeom prst="rect">
            <a:avLst/>
          </a:prstGeom>
          <a:solidFill>
            <a:srgbClr val="B9CDE5"/>
          </a:solidFill>
          <a:ln w="76200">
            <a:solidFill>
              <a:srgbClr val="84A7D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易出错</a:t>
            </a:r>
            <a:endParaRPr lang="zh-CN" altLang="en-US" sz="2400" b="1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96645" y="2625090"/>
            <a:ext cx="878332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AutoGrader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作业代码自动评分系统（项目编号：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Beta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）旨在实现对学生提交代码的自动化测评与管理，提升教学效率与评分准确性，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同时为学生提供更及时、更详细的反馈。</a:t>
            </a:r>
            <a:endParaRPr lang="zh-CN" altLang="en-US" sz="2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2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下箭头 8"/>
          <p:cNvSpPr/>
          <p:nvPr/>
        </p:nvSpPr>
        <p:spPr>
          <a:xfrm>
            <a:off x="5223510" y="1956435"/>
            <a:ext cx="431800" cy="43180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6" name="Picture 9" descr="C:\Documents and Settings\Administrator\桌面\未标题-1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639"/>
          <a:stretch>
            <a:fillRect/>
          </a:stretch>
        </p:blipFill>
        <p:spPr bwMode="auto">
          <a:xfrm>
            <a:off x="1588" y="214630"/>
            <a:ext cx="4899025" cy="17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矩形 47"/>
          <p:cNvSpPr/>
          <p:nvPr/>
        </p:nvSpPr>
        <p:spPr>
          <a:xfrm>
            <a:off x="1234842" y="476672"/>
            <a:ext cx="1816100" cy="58356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+mn-lt"/>
                <a:ea typeface="+mn-ea"/>
              </a:rPr>
              <a:t>项目目标</a:t>
            </a:r>
            <a:endParaRPr lang="zh-CN" altLang="en-US" sz="3200" b="1" dirty="0">
              <a:solidFill>
                <a:schemeClr val="bg1"/>
              </a:solidFill>
              <a:effectLst>
                <a:reflection blurRad="6350" stA="55000" endA="300" endPos="45500" dir="5400000" sy="-100000" algn="bl" rotWithShape="0"/>
              </a:effectLst>
              <a:latin typeface="+mn-lt"/>
              <a:ea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21690" y="1557020"/>
            <a:ext cx="8706485" cy="95313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800" b="1">
                <a:ln w="15875"/>
                <a:solidFill>
                  <a:srgbClr val="4F81BD"/>
                </a:solidFill>
                <a:effectLst/>
              </a:rPr>
              <a:t>B-1</a:t>
            </a:r>
            <a:r>
              <a:rPr lang="zh-CN" altLang="en-US" sz="2800" b="1">
                <a:ln w="15875"/>
                <a:solidFill>
                  <a:srgbClr val="4F81B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模块作为系统的前端界面模块，主要目标包括：</a:t>
            </a:r>
            <a:endParaRPr lang="zh-CN" altLang="en-US" sz="2800" b="1">
              <a:ln w="15875"/>
              <a:solidFill>
                <a:srgbClr val="4F81BD"/>
              </a:solidFill>
              <a:effectLst/>
            </a:endParaRPr>
          </a:p>
          <a:p>
            <a:endParaRPr lang="zh-CN" altLang="en-US" sz="2800" b="1">
              <a:ln w="15875"/>
              <a:solidFill>
                <a:srgbClr val="4F81BD"/>
              </a:solidFill>
              <a:effectLst/>
            </a:endParaRPr>
          </a:p>
        </p:txBody>
      </p:sp>
      <p:sp>
        <p:nvSpPr>
          <p:cNvPr id="3" name="圆角矩形 2"/>
          <p:cNvSpPr/>
          <p:nvPr>
            <p:custDataLst>
              <p:tags r:id="rId2"/>
            </p:custDataLst>
          </p:nvPr>
        </p:nvSpPr>
        <p:spPr>
          <a:xfrm>
            <a:off x="709295" y="2493010"/>
            <a:ext cx="2153920" cy="2565400"/>
          </a:xfrm>
          <a:prstGeom prst="roundRect">
            <a:avLst/>
          </a:prstGeom>
          <a:solidFill>
            <a:srgbClr val="CBD5DD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zh-CN" altLang="en-US" sz="1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lang="zh-CN" altLang="en-US" sz="1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lang="zh-CN" altLang="en-US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实现学生信息的批量导入（</a:t>
            </a:r>
            <a:r>
              <a:rPr lang="en-US" altLang="zh-CN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pdf / xlsx</a:t>
            </a:r>
            <a:r>
              <a:rPr lang="zh-CN" altLang="en-US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）、管理</a:t>
            </a:r>
            <a:r>
              <a:rPr lang="zh-CN" altLang="en-US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与编辑，操作需要权限控制；</a:t>
            </a:r>
            <a:endParaRPr lang="zh-CN" altLang="en-US" sz="1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 eaLnBrk="1" latinLnBrk="0" hangingPunct="1">
              <a:lnSpc>
                <a:spcPct val="125000"/>
              </a:lnSpc>
            </a:pPr>
            <a:endParaRPr lang="zh-CN" altLang="en-US" sz="1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>
            <p:custDataLst>
              <p:tags r:id="rId3"/>
            </p:custDataLst>
          </p:nvPr>
        </p:nvSpPr>
        <p:spPr>
          <a:xfrm>
            <a:off x="3178810" y="2493010"/>
            <a:ext cx="2084705" cy="2566035"/>
          </a:xfrm>
          <a:prstGeom prst="roundRect">
            <a:avLst/>
          </a:prstGeom>
          <a:solidFill>
            <a:srgbClr val="CBD5DD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ym typeface="+mn-ea"/>
            </a:endParaRPr>
          </a:p>
          <a:p>
            <a:pPr algn="ctr"/>
            <a:r>
              <a:rPr lang="zh-CN" altLang="en-US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实现成绩查询与展示功能，支持按班级、课程维度查看；</a:t>
            </a:r>
            <a:endParaRPr lang="zh-CN" altLang="en-US" sz="1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>
            <p:custDataLst>
              <p:tags r:id="rId4"/>
            </p:custDataLst>
          </p:nvPr>
        </p:nvSpPr>
        <p:spPr>
          <a:xfrm>
            <a:off x="5579110" y="2493010"/>
            <a:ext cx="2084705" cy="2565400"/>
          </a:xfrm>
          <a:prstGeom prst="roundRect">
            <a:avLst/>
          </a:prstGeom>
          <a:solidFill>
            <a:srgbClr val="CBD5DD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开发作业提交界面，并实现与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B2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模块的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API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对接；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>
            <p:custDataLst>
              <p:tags r:id="rId5"/>
            </p:custDataLst>
          </p:nvPr>
        </p:nvSpPr>
        <p:spPr>
          <a:xfrm>
            <a:off x="7979410" y="2493010"/>
            <a:ext cx="2084705" cy="2566035"/>
          </a:xfrm>
          <a:prstGeom prst="roundRect">
            <a:avLst/>
          </a:prstGeom>
          <a:solidFill>
            <a:srgbClr val="CBD5DD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提供友好的用户界面，支持前后端分离架构。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/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02665" y="2667000"/>
            <a:ext cx="419100" cy="408305"/>
          </a:xfrm>
          <a:prstGeom prst="rect">
            <a:avLst/>
          </a:prstGeom>
        </p:spPr>
      </p:pic>
      <p:pic>
        <p:nvPicPr>
          <p:cNvPr id="11" name="图片 10"/>
          <p:cNvPicPr/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313430" y="2708910"/>
            <a:ext cx="391160" cy="415925"/>
          </a:xfrm>
          <a:prstGeom prst="rect">
            <a:avLst/>
          </a:prstGeom>
        </p:spPr>
      </p:pic>
      <p:pic>
        <p:nvPicPr>
          <p:cNvPr id="12" name="图片 11"/>
          <p:cNvPicPr/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5714365" y="2708910"/>
            <a:ext cx="405130" cy="415925"/>
          </a:xfrm>
          <a:prstGeom prst="rect">
            <a:avLst/>
          </a:prstGeom>
        </p:spPr>
      </p:pic>
      <p:pic>
        <p:nvPicPr>
          <p:cNvPr id="13" name="图片 12"/>
          <p:cNvPicPr/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8124190" y="2661285"/>
            <a:ext cx="425450" cy="46355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4"/>
            </p:custDataLst>
          </p:nvPr>
        </p:nvSpPr>
        <p:spPr>
          <a:xfrm>
            <a:off x="1421130" y="2635250"/>
            <a:ext cx="1301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学生管理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5"/>
            </p:custDataLst>
          </p:nvPr>
        </p:nvSpPr>
        <p:spPr>
          <a:xfrm>
            <a:off x="3811905" y="2635250"/>
            <a:ext cx="1301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成绩查询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6202680" y="2637155"/>
            <a:ext cx="1301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作业提交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7"/>
            </p:custDataLst>
          </p:nvPr>
        </p:nvSpPr>
        <p:spPr>
          <a:xfrm>
            <a:off x="8622665" y="2637155"/>
            <a:ext cx="1301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用户界面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6" name="Picture 9" descr="C:\Documents and Settings\Administrator\桌面\未标题-1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639"/>
          <a:stretch>
            <a:fillRect/>
          </a:stretch>
        </p:blipFill>
        <p:spPr bwMode="auto">
          <a:xfrm>
            <a:off x="1588" y="142875"/>
            <a:ext cx="4899025" cy="17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矩形 47"/>
          <p:cNvSpPr/>
          <p:nvPr/>
        </p:nvSpPr>
        <p:spPr>
          <a:xfrm>
            <a:off x="1234842" y="476672"/>
            <a:ext cx="1816100" cy="58356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+mn-lt"/>
                <a:ea typeface="+mn-ea"/>
              </a:rPr>
              <a:t>项目范围</a:t>
            </a:r>
            <a:endParaRPr lang="zh-CN" altLang="en-US" sz="3200" b="1" dirty="0">
              <a:solidFill>
                <a:schemeClr val="bg1"/>
              </a:solidFill>
              <a:effectLst>
                <a:reflection blurRad="6350" stA="55000" endA="300" endPos="45500" dir="5400000" sy="-100000" algn="bl" rotWithShape="0"/>
              </a:effectLst>
              <a:latin typeface="+mn-lt"/>
              <a:ea typeface="+mn-e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49555" y="1196340"/>
            <a:ext cx="6107430" cy="4860925"/>
          </a:xfrm>
          <a:prstGeom prst="rect">
            <a:avLst/>
          </a:prstGeom>
          <a:solidFill>
            <a:srgbClr val="C2C3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主体业务模块</a:t>
            </a:r>
            <a:endParaRPr lang="zh-CN" altLang="en-US" sz="2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Group 8"/>
          <p:cNvGrpSpPr/>
          <p:nvPr>
            <p:custDataLst>
              <p:tags r:id="rId2"/>
            </p:custDataLst>
          </p:nvPr>
        </p:nvGrpSpPr>
        <p:grpSpPr>
          <a:xfrm>
            <a:off x="3538220" y="3904615"/>
            <a:ext cx="2703830" cy="2001520"/>
            <a:chOff x="4301981" y="1113844"/>
            <a:chExt cx="1831449" cy="1459814"/>
          </a:xfrm>
        </p:grpSpPr>
        <p:sp>
          <p:nvSpPr>
            <p:cNvPr id="10" name="Rectangle 9"/>
            <p:cNvSpPr/>
            <p:nvPr>
              <p:custDataLst>
                <p:tags r:id="rId3"/>
              </p:custDataLst>
            </p:nvPr>
          </p:nvSpPr>
          <p:spPr>
            <a:xfrm>
              <a:off x="4301981" y="1410253"/>
              <a:ext cx="1831449" cy="1163405"/>
            </a:xfrm>
            <a:prstGeom prst="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学生信息管理页面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成绩查询页面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作业提交页面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测评结果展示页面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Rectangle 10"/>
            <p:cNvSpPr/>
            <p:nvPr>
              <p:custDataLst>
                <p:tags r:id="rId4"/>
              </p:custDataLst>
            </p:nvPr>
          </p:nvSpPr>
          <p:spPr>
            <a:xfrm>
              <a:off x="4302466" y="1113844"/>
              <a:ext cx="1826595" cy="335313"/>
            </a:xfrm>
            <a:prstGeom prst="rect">
              <a:avLst/>
            </a:prstGeom>
            <a:solidFill>
              <a:srgbClr val="5064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前端页面交互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Group 11"/>
          <p:cNvGrpSpPr/>
          <p:nvPr>
            <p:custDataLst>
              <p:tags r:id="rId5"/>
            </p:custDataLst>
          </p:nvPr>
        </p:nvGrpSpPr>
        <p:grpSpPr>
          <a:xfrm>
            <a:off x="3528060" y="1718310"/>
            <a:ext cx="2716530" cy="1999615"/>
            <a:chOff x="687467" y="1087710"/>
            <a:chExt cx="1954235" cy="1562683"/>
          </a:xfrm>
        </p:grpSpPr>
        <p:sp>
          <p:nvSpPr>
            <p:cNvPr id="13" name="Rectangle 12"/>
            <p:cNvSpPr/>
            <p:nvPr>
              <p:custDataLst>
                <p:tags r:id="rId6"/>
              </p:custDataLst>
            </p:nvPr>
          </p:nvSpPr>
          <p:spPr>
            <a:xfrm>
              <a:off x="687467" y="1468828"/>
              <a:ext cx="1954235" cy="118156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按班级查询成绩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按课程查询成绩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查看个人测评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得分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测评结果展示反馈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Rectangle 13"/>
            <p:cNvSpPr/>
            <p:nvPr>
              <p:custDataLst>
                <p:tags r:id="rId7"/>
              </p:custDataLst>
            </p:nvPr>
          </p:nvSpPr>
          <p:spPr>
            <a:xfrm>
              <a:off x="693688" y="1087710"/>
              <a:ext cx="1941315" cy="38111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成绩查询与展示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Group 14"/>
          <p:cNvGrpSpPr/>
          <p:nvPr>
            <p:custDataLst>
              <p:tags r:id="rId8"/>
            </p:custDataLst>
          </p:nvPr>
        </p:nvGrpSpPr>
        <p:grpSpPr>
          <a:xfrm>
            <a:off x="440055" y="3904615"/>
            <a:ext cx="2903220" cy="2002155"/>
            <a:chOff x="-1133592" y="4342719"/>
            <a:chExt cx="1778025" cy="1357846"/>
          </a:xfrm>
        </p:grpSpPr>
        <p:sp>
          <p:nvSpPr>
            <p:cNvPr id="16" name="Rectangle 15"/>
            <p:cNvSpPr/>
            <p:nvPr>
              <p:custDataLst>
                <p:tags r:id="rId9"/>
              </p:custDataLst>
            </p:nvPr>
          </p:nvSpPr>
          <p:spPr>
            <a:xfrm>
              <a:off x="-1133592" y="4674321"/>
              <a:ext cx="1778025" cy="102624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Web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页面提交代码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与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B-2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模块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API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接口对接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返回并展示测评结果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Rectangle 16"/>
            <p:cNvSpPr/>
            <p:nvPr>
              <p:custDataLst>
                <p:tags r:id="rId10"/>
              </p:custDataLst>
            </p:nvPr>
          </p:nvSpPr>
          <p:spPr>
            <a:xfrm>
              <a:off x="-1133592" y="4342719"/>
              <a:ext cx="1778001" cy="351181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作业答案提交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9" name="Rectangle 18"/>
          <p:cNvSpPr/>
          <p:nvPr/>
        </p:nvSpPr>
        <p:spPr>
          <a:xfrm>
            <a:off x="6840220" y="1196340"/>
            <a:ext cx="3251835" cy="4859020"/>
          </a:xfrm>
          <a:prstGeom prst="rect">
            <a:avLst/>
          </a:prstGeom>
          <a:solidFill>
            <a:srgbClr val="B9C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系统功能</a:t>
            </a:r>
            <a:endParaRPr lang="en-US" sz="2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20"/>
          <p:cNvSpPr/>
          <p:nvPr>
            <p:custDataLst>
              <p:tags r:id="rId11"/>
            </p:custDataLst>
          </p:nvPr>
        </p:nvSpPr>
        <p:spPr>
          <a:xfrm>
            <a:off x="6984603" y="3870209"/>
            <a:ext cx="3009476" cy="493878"/>
          </a:xfrm>
          <a:prstGeom prst="rect">
            <a:avLst/>
          </a:prstGeom>
          <a:solidFill>
            <a:srgbClr val="99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安全控制功能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ectangle 21"/>
          <p:cNvSpPr/>
          <p:nvPr>
            <p:custDataLst>
              <p:tags r:id="rId12"/>
            </p:custDataLst>
          </p:nvPr>
        </p:nvSpPr>
        <p:spPr>
          <a:xfrm>
            <a:off x="6984603" y="1708552"/>
            <a:ext cx="3009476" cy="43204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数据交互功能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ectangle 22"/>
          <p:cNvSpPr/>
          <p:nvPr>
            <p:custDataLst>
              <p:tags r:id="rId13"/>
            </p:custDataLst>
          </p:nvPr>
        </p:nvSpPr>
        <p:spPr>
          <a:xfrm>
            <a:off x="6984365" y="2140585"/>
            <a:ext cx="3009265" cy="157670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学生名单导入与解析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成绩数据读取与展示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作业提交数据传输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测评结果接收与反馈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Rectangle 24"/>
          <p:cNvSpPr/>
          <p:nvPr>
            <p:custDataLst>
              <p:tags r:id="rId14"/>
            </p:custDataLst>
          </p:nvPr>
        </p:nvSpPr>
        <p:spPr>
          <a:xfrm>
            <a:off x="6984365" y="4327525"/>
            <a:ext cx="3009265" cy="1578610"/>
          </a:xfrm>
          <a:prstGeom prst="rect">
            <a:avLst/>
          </a:prstGeom>
          <a:solidFill>
            <a:srgbClr val="CC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用户身份识别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角色权限控制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数据访问限制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提交与查询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的安全校验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6" name="Group 25"/>
          <p:cNvGrpSpPr/>
          <p:nvPr>
            <p:custDataLst>
              <p:tags r:id="rId15"/>
            </p:custDataLst>
          </p:nvPr>
        </p:nvGrpSpPr>
        <p:grpSpPr>
          <a:xfrm>
            <a:off x="441325" y="1718310"/>
            <a:ext cx="2900680" cy="1999615"/>
            <a:chOff x="796172" y="1077102"/>
            <a:chExt cx="1818829" cy="1562600"/>
          </a:xfrm>
        </p:grpSpPr>
        <p:sp>
          <p:nvSpPr>
            <p:cNvPr id="27" name="Rectangle 26"/>
            <p:cNvSpPr/>
            <p:nvPr>
              <p:custDataLst>
                <p:tags r:id="rId16"/>
              </p:custDataLst>
            </p:nvPr>
          </p:nvSpPr>
          <p:spPr>
            <a:xfrm>
              <a:off x="796172" y="1458200"/>
              <a:ext cx="1818829" cy="1181502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学生名单导入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学生信息增删改查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基于角色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控制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操作权限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Rectangle 27"/>
            <p:cNvSpPr/>
            <p:nvPr>
              <p:custDataLst>
                <p:tags r:id="rId17"/>
              </p:custDataLst>
            </p:nvPr>
          </p:nvSpPr>
          <p:spPr>
            <a:xfrm>
              <a:off x="805395" y="1077102"/>
              <a:ext cx="1809606" cy="381098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学生信息管理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8" name="Isosceles Triangle 17"/>
          <p:cNvSpPr/>
          <p:nvPr>
            <p:custDataLst>
              <p:tags r:id="rId18"/>
            </p:custDataLst>
          </p:nvPr>
        </p:nvSpPr>
        <p:spPr>
          <a:xfrm rot="5400000">
            <a:off x="5949950" y="3472815"/>
            <a:ext cx="1164590" cy="356235"/>
          </a:xfrm>
          <a:prstGeom prst="triangle">
            <a:avLst/>
          </a:prstGeom>
          <a:solidFill>
            <a:srgbClr val="84A7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2500313"/>
            <a:ext cx="2928938" cy="1000125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394898" y="2598003"/>
            <a:ext cx="387798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800" b="1" dirty="0">
                <a:effectLst>
                  <a:reflection blurRad="6350" stA="50000" endA="300" endPos="50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项目总体计划</a:t>
            </a:r>
            <a:endParaRPr lang="zh-CN" altLang="en-US" sz="4800" b="1" dirty="0">
              <a:effectLst>
                <a:reflection blurRad="6350" stA="50000" endA="300" endPos="50000" dist="29997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900988" y="2500313"/>
            <a:ext cx="2928937" cy="1000125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:\Documents and Settings\Administrator\桌面\未标题-1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639"/>
          <a:stretch>
            <a:fillRect/>
          </a:stretch>
        </p:blipFill>
        <p:spPr bwMode="auto">
          <a:xfrm>
            <a:off x="1588" y="142875"/>
            <a:ext cx="4899025" cy="17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826535" y="476672"/>
            <a:ext cx="2632710" cy="58356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lvl="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prstClr val="white"/>
                </a:solidFill>
                <a:effectLst>
                  <a:reflection blurRad="6350" stA="55000" endA="300" endPos="45500" dir="5400000" sy="-100000" algn="bl" rotWithShape="0"/>
                </a:effectLst>
                <a:latin typeface="Calibri" panose="020F0502020204030204"/>
                <a:ea typeface="宋体" panose="02010600030101010101" pitchFamily="2" charset="-122"/>
              </a:rPr>
              <a:t>项目总体计划</a:t>
            </a:r>
            <a:endParaRPr lang="zh-CN" altLang="en-US" sz="3200" b="1" dirty="0">
              <a:solidFill>
                <a:prstClr val="white"/>
              </a:solidFill>
              <a:effectLst>
                <a:reflection blurRad="6350" stA="55000" endA="300" endPos="45500" dir="5400000" sy="-100000" algn="bl" rotWithShape="0"/>
              </a:effectLst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144145" y="1153160"/>
          <a:ext cx="10548620" cy="4726940"/>
        </p:xfrm>
        <a:graphic>
          <a:graphicData uri="http://schemas.openxmlformats.org/drawingml/2006/table">
            <a:tbl>
              <a:tblPr/>
              <a:tblGrid>
                <a:gridCol w="560705"/>
                <a:gridCol w="808990"/>
                <a:gridCol w="989965"/>
                <a:gridCol w="1057910"/>
                <a:gridCol w="1057910"/>
                <a:gridCol w="3150235"/>
                <a:gridCol w="1871345"/>
                <a:gridCol w="1051560"/>
              </a:tblGrid>
              <a:tr h="429260">
                <a:tc gridSpan="8"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项目实施进度简表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37820">
                <a:tc gridSpan="3">
                  <a:txBody>
                    <a:bodyPr/>
                    <a:p>
                      <a:pPr algn="ctr" fontAlgn="b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项目名称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AutoGrader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作业代码自动评分系统（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B1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模块）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36550">
                <a:tc gridSpan="3">
                  <a:txBody>
                    <a:bodyPr/>
                    <a:p>
                      <a:pPr algn="ctr" fontAlgn="b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项目经理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编写人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编写日期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2026.3.15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6725"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进度比例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阶段名称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预计开始时间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预计结束时间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工作内容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阶段成果物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负责人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584835"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需求分析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明确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B-1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模块功能需求、界面需求，并与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B-2/B-4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初步确认接口需求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《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需求规格说明书    （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B-1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》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侯佳妮、罗越秦、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张焱琳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7375"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界面原型与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UI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设计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设计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UI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原型，梳理页面交互流程，明确数据展示与接口调用需求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UI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设计稿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侯佳妮、罗越秦、张焱琳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4200"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70%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前端开发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实现学生信息管理、成绩查询、作业提交等核心页面与功能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B-1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模块前端代码</a:t>
                      </a:r>
                      <a:b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侯佳妮、罗越秦、张焱琳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6725"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接口联调与集成测试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B-2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B-4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模块开展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API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对接与联调测试，修正接口适配问题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接口联调报告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侯佳妮、罗越秦、张焱琳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6725"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测试修复与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对页面功能、数据交互和异常情况进行测试，并修复问题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测试报告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侯佳妮、罗越秦、张焱琳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6725"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部署与交付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部署前端服务，整理项目文档与用户手册，完成模块交付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部署文档 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用户手册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侯佳妮、罗越秦、张焱琳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:\Documents and Settings\Administrator\桌面\未标题-1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639"/>
          <a:stretch>
            <a:fillRect/>
          </a:stretch>
        </p:blipFill>
        <p:spPr bwMode="auto">
          <a:xfrm>
            <a:off x="1588" y="142875"/>
            <a:ext cx="4899025" cy="17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826535" y="476672"/>
            <a:ext cx="2632710" cy="58356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lvl="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prstClr val="white"/>
                </a:solidFill>
                <a:effectLst>
                  <a:reflection blurRad="6350" stA="55000" endA="300" endPos="45500" dir="5400000" sy="-100000" algn="bl" rotWithShape="0"/>
                </a:effectLst>
                <a:latin typeface="Calibri" panose="020F0502020204030204"/>
                <a:ea typeface="宋体" panose="02010600030101010101" pitchFamily="2" charset="-122"/>
              </a:rPr>
              <a:t>项目总体计划</a:t>
            </a:r>
            <a:endParaRPr lang="zh-CN" altLang="en-US" sz="3200" b="1" dirty="0">
              <a:solidFill>
                <a:prstClr val="white"/>
              </a:solidFill>
              <a:effectLst>
                <a:reflection blurRad="6350" stA="55000" endA="300" endPos="45500" dir="5400000" sy="-100000" algn="bl" rotWithShape="0"/>
              </a:effectLst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45" y="1124585"/>
            <a:ext cx="9766935" cy="57188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2500313"/>
            <a:ext cx="2928938" cy="1000125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240435" y="2615654"/>
            <a:ext cx="448911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400" b="1" dirty="0">
                <a:effectLst>
                  <a:reflection blurRad="6350" stA="50000" endA="300" endPos="50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项目的组织机构</a:t>
            </a:r>
            <a:endParaRPr lang="zh-CN" altLang="en-US" sz="4400" b="1" dirty="0">
              <a:effectLst>
                <a:reflection blurRad="6350" stA="50000" endA="300" endPos="50000" dist="29997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900988" y="2500313"/>
            <a:ext cx="2928937" cy="1000125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9" descr="C:\Documents and Settings\Administrator\桌面\未标题-1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639"/>
          <a:stretch>
            <a:fillRect/>
          </a:stretch>
        </p:blipFill>
        <p:spPr bwMode="auto">
          <a:xfrm>
            <a:off x="-2919" y="142875"/>
            <a:ext cx="4899025" cy="17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1234842" y="476672"/>
            <a:ext cx="1816100" cy="58356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prstClr val="white"/>
                </a:solidFill>
                <a:effectLst>
                  <a:reflection blurRad="6350" stA="55000" endA="300" endPos="45500" dir="5400000" sy="-100000" algn="bl" rotWithShape="0"/>
                </a:effectLst>
                <a:latin typeface="Calibri" panose="020F0502020204030204"/>
                <a:ea typeface="宋体" panose="02010600030101010101" pitchFamily="2" charset="-122"/>
              </a:rPr>
              <a:t>组织结构</a:t>
            </a:r>
            <a:endParaRPr lang="zh-CN" altLang="en-US" sz="3200" b="1" dirty="0">
              <a:solidFill>
                <a:prstClr val="white"/>
              </a:solidFill>
              <a:effectLst>
                <a:reflection blurRad="6350" stA="55000" endA="300" endPos="45500" dir="5400000" sy="-100000" algn="bl" rotWithShape="0"/>
              </a:effectLst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0801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Rectangle 4"/>
          <p:cNvSpPr>
            <a:spLocks noChangeAspect="1" noChangeArrowheads="1"/>
          </p:cNvSpPr>
          <p:nvPr/>
        </p:nvSpPr>
        <p:spPr bwMode="gray">
          <a:xfrm>
            <a:off x="4033132" y="2002308"/>
            <a:ext cx="2232025" cy="668337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项目经理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Rectangle 8"/>
          <p:cNvSpPr>
            <a:spLocks noChangeAspect="1" noChangeArrowheads="1"/>
          </p:cNvSpPr>
          <p:nvPr>
            <p:custDataLst>
              <p:tags r:id="rId2"/>
            </p:custDataLst>
          </p:nvPr>
        </p:nvSpPr>
        <p:spPr bwMode="gray">
          <a:xfrm>
            <a:off x="1472160" y="3343666"/>
            <a:ext cx="1514227" cy="434975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0" hangingPunct="0"/>
            <a:r>
              <a:rPr lang="zh-CN" altLang="en-US" sz="1800" b="1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前</a:t>
            </a:r>
            <a:r>
              <a:rPr lang="zh-CN" altLang="en-US" sz="1800" b="1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端开发组</a:t>
            </a:r>
            <a:endParaRPr lang="zh-CN" altLang="en-US" sz="1800" b="1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Rectangle 9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gray">
          <a:xfrm>
            <a:off x="7890310" y="3318251"/>
            <a:ext cx="1368152" cy="434975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0" hangingPunct="0"/>
            <a:r>
              <a:rPr lang="zh-CN" altLang="en-US" sz="1800" b="1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测试组</a:t>
            </a:r>
            <a:endParaRPr lang="zh-CN" altLang="en-US" sz="1800" b="1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4" name="Text Box 20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gray">
          <a:xfrm>
            <a:off x="1296035" y="3945890"/>
            <a:ext cx="2065020" cy="977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4572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228600" indent="-1143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114300" lvl="1" indent="0">
              <a:spcBef>
                <a:spcPct val="10000"/>
              </a:spcBef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前端负责人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4300" lvl="1" indent="0">
              <a:spcBef>
                <a:spcPct val="10000"/>
              </a:spcBef>
            </a:pP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UI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开发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人员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4300" lvl="1" indent="0">
              <a:spcBef>
                <a:spcPct val="10000"/>
              </a:spcBef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功能开发人员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Rectangle 8"/>
          <p:cNvSpPr>
            <a:spLocks noChangeAspect="1" noChangeArrowheads="1"/>
          </p:cNvSpPr>
          <p:nvPr>
            <p:custDataLst>
              <p:tags r:id="rId5"/>
            </p:custDataLst>
          </p:nvPr>
        </p:nvSpPr>
        <p:spPr bwMode="gray">
          <a:xfrm>
            <a:off x="3600340" y="3318251"/>
            <a:ext cx="1441475" cy="434975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0" hangingPunct="0"/>
            <a:r>
              <a:rPr lang="zh-CN" altLang="en-US" sz="1800" b="1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后端</a:t>
            </a:r>
            <a:r>
              <a:rPr lang="zh-CN" altLang="en-US" sz="1800" b="1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开发组</a:t>
            </a:r>
            <a:endParaRPr lang="zh-CN" altLang="en-US" sz="1800" b="1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7" name="Rectangle 8"/>
          <p:cNvSpPr>
            <a:spLocks noChangeAspect="1" noChangeArrowheads="1"/>
          </p:cNvSpPr>
          <p:nvPr>
            <p:custDataLst>
              <p:tags r:id="rId6"/>
            </p:custDataLst>
          </p:nvPr>
        </p:nvSpPr>
        <p:spPr bwMode="gray">
          <a:xfrm>
            <a:off x="5832588" y="3318251"/>
            <a:ext cx="1440160" cy="434975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0" hangingPunct="0"/>
            <a:r>
              <a:rPr lang="zh-CN" altLang="en-US" sz="1800" b="1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数据管理组</a:t>
            </a:r>
            <a:endParaRPr lang="zh-CN" altLang="en-US" sz="1800" b="1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9" name="Elbow Connector 8"/>
          <p:cNvCxnSpPr>
            <a:endCxn id="9" idx="0"/>
          </p:cNvCxnSpPr>
          <p:nvPr/>
        </p:nvCxnSpPr>
        <p:spPr>
          <a:xfrm rot="16200000" flipH="1">
            <a:off x="6537729" y="1281594"/>
            <a:ext cx="648072" cy="3425241"/>
          </a:xfrm>
          <a:prstGeom prst="bentConnector3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0"/>
          <p:cNvCxnSpPr>
            <a:endCxn id="8" idx="0"/>
          </p:cNvCxnSpPr>
          <p:nvPr/>
        </p:nvCxnSpPr>
        <p:spPr>
          <a:xfrm rot="5400000">
            <a:off x="3352467" y="1546987"/>
            <a:ext cx="673487" cy="2919871"/>
          </a:xfrm>
          <a:prstGeom prst="bentConnector3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10"/>
          <p:cNvCxnSpPr/>
          <p:nvPr/>
        </p:nvCxnSpPr>
        <p:spPr>
          <a:xfrm rot="5400000">
            <a:off x="4411076" y="2580182"/>
            <a:ext cx="648072" cy="828067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10"/>
          <p:cNvCxnSpPr>
            <a:endCxn id="17" idx="0"/>
          </p:cNvCxnSpPr>
          <p:nvPr/>
        </p:nvCxnSpPr>
        <p:spPr>
          <a:xfrm rot="16200000" flipH="1">
            <a:off x="5526870" y="2292453"/>
            <a:ext cx="648072" cy="1403523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9" descr="C:\Documents and Settings\Administrator\桌面\未标题-1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639"/>
          <a:stretch>
            <a:fillRect/>
          </a:stretch>
        </p:blipFill>
        <p:spPr bwMode="auto">
          <a:xfrm>
            <a:off x="1588" y="142875"/>
            <a:ext cx="4899025" cy="17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矩形 18"/>
          <p:cNvSpPr/>
          <p:nvPr/>
        </p:nvSpPr>
        <p:spPr>
          <a:xfrm>
            <a:off x="1234842" y="476672"/>
            <a:ext cx="1816100" cy="58356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prstClr val="white"/>
                </a:solidFill>
                <a:effectLst>
                  <a:reflection blurRad="6350" stA="55000" endA="300" endPos="45500" dir="5400000" sy="-100000" algn="bl" rotWithShape="0"/>
                </a:effectLst>
                <a:latin typeface="Calibri" panose="020F0502020204030204"/>
                <a:ea typeface="宋体" panose="02010600030101010101" pitchFamily="2" charset="-122"/>
              </a:rPr>
              <a:t>职责分工</a:t>
            </a:r>
            <a:endParaRPr lang="zh-CN" altLang="en-US" sz="3200" b="1" dirty="0">
              <a:solidFill>
                <a:prstClr val="white"/>
              </a:solidFill>
              <a:effectLst>
                <a:reflection blurRad="6350" stA="55000" endA="300" endPos="45500" dir="5400000" sy="-100000" algn="bl" rotWithShape="0"/>
              </a:effectLst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656080" y="1988820"/>
          <a:ext cx="7200900" cy="3515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6220"/>
                <a:gridCol w="1662430"/>
                <a:gridCol w="4032250"/>
              </a:tblGrid>
              <a:tr h="860425">
                <a:tc>
                  <a:txBody>
                    <a:bodyPr/>
                    <a:lstStyle/>
                    <a:p>
                      <a:pPr algn="ctr">
                        <a:lnSpc>
                          <a:spcPct val="180000"/>
                        </a:lnSpc>
                      </a:pP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角色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90000"/>
                        </a:lnSpc>
                      </a:pP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姓名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90000"/>
                        </a:lnSpc>
                      </a:pP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职责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86042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前端开发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组长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侯佳妮</a:t>
                      </a:r>
                      <a:endParaRPr lang="zh-CN" altLang="en-US" sz="1800" b="1"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负责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B-1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模块需求分析、总体架构设计、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开发任务分配及核心功能开发</a:t>
                      </a:r>
                      <a:endParaRPr lang="en-US" altLang="zh-CN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</a:tr>
              <a:tr h="9347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前端开发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人员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+mn-ea"/>
                      </a:endParaRPr>
                    </a:p>
                    <a:p>
                      <a:pPr algn="ctr"/>
                      <a:r>
                        <a:rPr lang="zh-CN" altLang="en-US" sz="1800" b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罗越秦</a:t>
                      </a:r>
                      <a:endParaRPr lang="zh-CN" altLang="en-US" sz="1800" b="1"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zh-CN" alt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负责界面实现、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UI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原型设计、交互优化及部分前端功能开发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86042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前端开发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人员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90000"/>
                        </a:lnSpc>
                      </a:pPr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张焱琳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负责接口对接、联调测试、部署实施及项目文档编写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2500313"/>
            <a:ext cx="2928938" cy="1000125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952403" y="2564904"/>
            <a:ext cx="48765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800" b="1" dirty="0">
                <a:effectLst>
                  <a:reflection blurRad="6350" stA="50000" endA="300" endPos="50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项目风险点</a:t>
            </a:r>
            <a:endParaRPr lang="zh-CN" altLang="en-US" sz="4800" b="1" dirty="0">
              <a:effectLst>
                <a:reflection blurRad="6350" stA="50000" endA="300" endPos="50000" dist="29997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900988" y="2500313"/>
            <a:ext cx="2928937" cy="1000125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:\Documents and Settings\Administrator\桌面\未标题-1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639"/>
          <a:stretch>
            <a:fillRect/>
          </a:stretch>
        </p:blipFill>
        <p:spPr bwMode="auto">
          <a:xfrm>
            <a:off x="1588" y="142875"/>
            <a:ext cx="4899025" cy="17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1030687" y="476672"/>
            <a:ext cx="2224405" cy="58356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lvl="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prstClr val="white"/>
                </a:solidFill>
                <a:effectLst>
                  <a:reflection blurRad="6350" stA="55000" endA="300" endPos="45500" dir="5400000" sy="-100000" algn="bl" rotWithShape="0"/>
                </a:effectLst>
                <a:latin typeface="Calibri" panose="020F0502020204030204"/>
                <a:ea typeface="宋体" panose="02010600030101010101" pitchFamily="2" charset="-122"/>
              </a:rPr>
              <a:t>项目风险点</a:t>
            </a:r>
            <a:endParaRPr lang="zh-CN" altLang="en-US" sz="3200" b="1" dirty="0">
              <a:solidFill>
                <a:prstClr val="white"/>
              </a:solidFill>
              <a:effectLst>
                <a:reflection blurRad="6350" stA="55000" endA="300" endPos="45500" dir="5400000" sy="-100000" algn="bl" rotWithShape="0"/>
              </a:effectLst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287655" y="1268730"/>
          <a:ext cx="10154285" cy="4565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0270"/>
                <a:gridCol w="2241550"/>
                <a:gridCol w="2352040"/>
                <a:gridCol w="4670425"/>
              </a:tblGrid>
              <a:tr h="5816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风险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影响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应对措施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11995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技术风险</a:t>
                      </a:r>
                      <a:endParaRPr lang="zh-CN" altLang="en-US" sz="16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indent="0">
                        <a:buFont typeface="Wingdings" panose="05000000000000000000" charset="0"/>
                        <a:buNone/>
                      </a:pPr>
                      <a:r>
                        <a:rPr lang="en-US" altLang="zh-CN" sz="16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· </a:t>
                      </a:r>
                      <a:r>
                        <a:rPr lang="zh-CN" altLang="en-US" sz="16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权限控制</a:t>
                      </a:r>
                      <a:r>
                        <a:rPr lang="zh-CN" altLang="en-US" sz="16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不准确</a:t>
                      </a:r>
                      <a:endParaRPr lang="zh-CN" altLang="en-US" sz="16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indent="0">
                        <a:buFont typeface="Wingdings" panose="05000000000000000000" charset="0"/>
                        <a:buNone/>
                      </a:pPr>
                      <a:r>
                        <a:rPr lang="en-US" altLang="zh-CN" sz="16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· </a:t>
                      </a:r>
                      <a:r>
                        <a:rPr lang="zh-CN" altLang="en-US" sz="16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技术选型不适配</a:t>
                      </a:r>
                      <a:endParaRPr lang="zh-CN" altLang="en-US" sz="16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核心功能差，影响项目推进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提前开展技术预研与多场景测试，制定技术选型的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标准，实施前后端双重校验与性能优化</a:t>
                      </a:r>
                      <a:endParaRPr lang="en-US" altLang="zh-CN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11995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进度风险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en-US" altLang="zh-CN" sz="16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· </a:t>
                      </a:r>
                      <a:r>
                        <a:rPr lang="zh-CN" altLang="en-US" sz="16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与</a:t>
                      </a:r>
                      <a:r>
                        <a:rPr lang="en-US" altLang="zh-CN" sz="16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 B2/B4 </a:t>
                      </a:r>
                      <a:r>
                        <a:rPr lang="zh-CN" altLang="en-US" sz="16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模块接口联调延迟</a:t>
                      </a:r>
                      <a:endParaRPr lang="zh-CN" altLang="en-US" sz="16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endParaRPr lang="en-US" altLang="zh-CN" sz="16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影响整体测试和交付进度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提前与相关模块团队沟通</a:t>
                      </a:r>
                      <a:r>
                        <a:rPr 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制定联调计划，预留缓冲时间，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并准备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Mock 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数据进行独立开发和测试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816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需求风险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en-US" altLang="zh-CN" sz="16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· </a:t>
                      </a:r>
                      <a:r>
                        <a:rPr lang="zh-CN" altLang="en-US" sz="16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用户需求发生变更</a:t>
                      </a:r>
                      <a:endParaRPr lang="zh-CN" altLang="en-US" sz="16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导致返工，增加开发成本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需求分析阶段充分沟通，明确需求边界；采用敏捷开发方式，灵活应对合理变更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1002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质量风险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en-US" altLang="zh-CN" sz="16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· </a:t>
                      </a:r>
                      <a:r>
                        <a:rPr lang="zh-CN" altLang="en-US" sz="16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代码质量不高，存在潜在</a:t>
                      </a:r>
                      <a:r>
                        <a:rPr lang="en-US" altLang="zh-CN" sz="16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Bug</a:t>
                      </a:r>
                      <a:endParaRPr lang="en-US" altLang="zh-CN" sz="16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影响系统稳定性和用户体验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制定代码规范，进行代码审查；编写单元测试和集成测试</a:t>
                      </a:r>
                      <a:r>
                        <a:rPr 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进行充分的测试和联调</a:t>
                      </a:r>
                      <a:endParaRPr lang="en-US" altLang="zh-CN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9" descr="C:\Documents and Settings\Administrator\桌面\未标题-1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639"/>
          <a:stretch>
            <a:fillRect/>
          </a:stretch>
        </p:blipFill>
        <p:spPr bwMode="auto">
          <a:xfrm>
            <a:off x="1588" y="142875"/>
            <a:ext cx="4899025" cy="17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/>
          <p:cNvSpPr/>
          <p:nvPr/>
        </p:nvSpPr>
        <p:spPr>
          <a:xfrm>
            <a:off x="1030688" y="476672"/>
            <a:ext cx="2224405" cy="58356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+mn-lt"/>
                <a:ea typeface="+mn-ea"/>
              </a:rPr>
              <a:t>实施关键点</a:t>
            </a:r>
            <a:endParaRPr lang="zh-CN" altLang="en-US" sz="3200" b="1" dirty="0">
              <a:solidFill>
                <a:schemeClr val="bg1"/>
              </a:solidFill>
              <a:effectLst>
                <a:reflection blurRad="6350" stA="55000" endA="300" endPos="45500" dir="5400000" sy="-100000" algn="bl" rotWithShape="0"/>
              </a:effectLst>
              <a:latin typeface="+mn-lt"/>
              <a:ea typeface="+mn-ea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67995" y="1862455"/>
          <a:ext cx="9920605" cy="3515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675"/>
                <a:gridCol w="2160270"/>
                <a:gridCol w="2266950"/>
                <a:gridCol w="4664710"/>
              </a:tblGrid>
              <a:tr h="50228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节点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时间点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任务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022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需求分析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完成《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B1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模块需求规格说明书》评审与确认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0228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原型设计确认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完成所有页面的高保真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UI 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设计稿交付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0228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前端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开发完成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完成所有功能模块的前端开发工作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0228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接口联调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B-2/B-4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模块完成对接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0228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集成测试完成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完成所有测试用例，修复所有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ug</a:t>
                      </a:r>
                      <a:endParaRPr lang="en-US" altLang="zh-CN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0228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上线交付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13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部署系统，交付所有文档和代码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2500313"/>
            <a:ext cx="2928938" cy="1000125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952403" y="2564904"/>
            <a:ext cx="48765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800" b="1" dirty="0">
                <a:effectLst>
                  <a:reflection blurRad="6350" stA="50000" endA="300" endPos="50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项目管理规范</a:t>
            </a:r>
            <a:endParaRPr lang="zh-CN" altLang="en-US" sz="4800" b="1" dirty="0">
              <a:effectLst>
                <a:reflection blurRad="6350" stA="50000" endA="300" endPos="50000" dist="29997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900988" y="2500313"/>
            <a:ext cx="2928937" cy="1000125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9" descr="C:\Documents and Settings\Administrator\桌面\未标题-1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639"/>
          <a:stretch>
            <a:fillRect/>
          </a:stretch>
        </p:blipFill>
        <p:spPr bwMode="auto">
          <a:xfrm>
            <a:off x="1588" y="142875"/>
            <a:ext cx="4899025" cy="17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/>
          <p:cNvSpPr/>
          <p:nvPr/>
        </p:nvSpPr>
        <p:spPr>
          <a:xfrm>
            <a:off x="826537" y="476672"/>
            <a:ext cx="2632710" cy="58356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+mn-lt"/>
                <a:ea typeface="+mn-ea"/>
              </a:rPr>
              <a:t>项目实施约束</a:t>
            </a:r>
            <a:endParaRPr lang="zh-CN" altLang="en-US" sz="3200" b="1" dirty="0">
              <a:solidFill>
                <a:schemeClr val="bg1"/>
              </a:solidFill>
              <a:effectLst>
                <a:reflection blurRad="6350" stA="55000" endA="300" endPos="45500" dir="5400000" sy="-100000" algn="bl" rotWithShape="0"/>
              </a:effectLst>
              <a:latin typeface="+mn-lt"/>
              <a:ea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2112010"/>
            <a:ext cx="4970145" cy="28543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544820" y="1585595"/>
            <a:ext cx="461454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、进度约束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项目需按照既定计划完成需求分析、界面设计、功能开发、接口联调、测试与交付等阶段任务。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、协作约束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B-1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模块需与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B-2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B-4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模块协同开发，其实现过程受接口规范、联调安排及其他模块开发进度影响。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、技术约束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项目需满足前后端分离架构要求，采用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Node.js 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开发，并保证接口调用和数据交互的一致性。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、质量与资源约束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项目实施受限于组内人员、开发周期和测试环境，需在有限条件下保证功能完整、页面可用、数据正确，并按要求完成测试与文档交付。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9" descr="C:\Documents and Settings\Administrator\桌面\未标题-1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639"/>
          <a:stretch>
            <a:fillRect/>
          </a:stretch>
        </p:blipFill>
        <p:spPr bwMode="auto">
          <a:xfrm>
            <a:off x="1588" y="142875"/>
            <a:ext cx="4899025" cy="17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/>
          <p:cNvSpPr/>
          <p:nvPr/>
        </p:nvSpPr>
        <p:spPr>
          <a:xfrm>
            <a:off x="826537" y="476672"/>
            <a:ext cx="2632710" cy="58356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+mn-lt"/>
                <a:ea typeface="+mn-ea"/>
              </a:rPr>
              <a:t>项目变更冻结</a:t>
            </a:r>
            <a:endParaRPr lang="zh-CN" altLang="en-US" sz="3200" b="1" dirty="0">
              <a:solidFill>
                <a:schemeClr val="bg1"/>
              </a:solidFill>
              <a:effectLst>
                <a:reflection blurRad="6350" stA="55000" endA="300" endPos="45500" dir="5400000" sy="-100000" algn="bl" rotWithShape="0"/>
              </a:effectLst>
              <a:latin typeface="+mn-lt"/>
              <a:ea typeface="+mn-ea"/>
            </a:endParaRPr>
          </a:p>
        </p:txBody>
      </p:sp>
      <p:sp>
        <p:nvSpPr>
          <p:cNvPr id="37921" name="Line 33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3744278" y="4255134"/>
            <a:ext cx="0" cy="1533525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22" name="Line 3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6696848" y="4254818"/>
            <a:ext cx="0" cy="1533525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23" name="Line 3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8352105" y="4255135"/>
            <a:ext cx="0" cy="1533525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25" name="Text Box 37"/>
          <p:cNvSpPr txBox="1">
            <a:spLocks noChangeArrowheads="1"/>
          </p:cNvSpPr>
          <p:nvPr/>
        </p:nvSpPr>
        <p:spPr bwMode="auto">
          <a:xfrm>
            <a:off x="1799590" y="4725035"/>
            <a:ext cx="193738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允许变更请求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7927" name="Text Box 39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794500" y="4255135"/>
            <a:ext cx="1572260" cy="126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冻结大部分变更请求，仅允许接口适配与缺陷修复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7931" name="Text Box 43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022725" y="4515485"/>
            <a:ext cx="2127885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冻结大的变更请求，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spcBef>
                <a:spcPct val="5000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只允许紧急变更请求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spcBef>
                <a:spcPct val="50000"/>
              </a:spcBef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7932" name="Line 44"/>
          <p:cNvSpPr>
            <a:spLocks noChangeShapeType="1"/>
          </p:cNvSpPr>
          <p:nvPr/>
        </p:nvSpPr>
        <p:spPr bwMode="auto">
          <a:xfrm>
            <a:off x="3745230" y="5869305"/>
            <a:ext cx="2976880" cy="381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38" name="Line 50"/>
          <p:cNvSpPr>
            <a:spLocks noChangeShapeType="1"/>
          </p:cNvSpPr>
          <p:nvPr/>
        </p:nvSpPr>
        <p:spPr bwMode="auto">
          <a:xfrm flipV="1">
            <a:off x="6740525" y="5870575"/>
            <a:ext cx="1549400" cy="9525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2008" name="AutoShape 40"/>
          <p:cNvSpPr>
            <a:spLocks noChangeArrowheads="1"/>
          </p:cNvSpPr>
          <p:nvPr/>
        </p:nvSpPr>
        <p:spPr bwMode="auto">
          <a:xfrm>
            <a:off x="2447290" y="3213100"/>
            <a:ext cx="1164590" cy="909955"/>
          </a:xfrm>
          <a:prstGeom prst="homePlate">
            <a:avLst>
              <a:gd name="adj" fmla="val 20242"/>
            </a:avLst>
          </a:prstGeom>
          <a:pattFill prst="pct30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w="12700" cap="rnd" algn="ctr">
            <a:solidFill>
              <a:srgbClr val="000000"/>
            </a:solidFill>
            <a:prstDash val="sysDot"/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algn="ctr">
              <a:buFont typeface="Wingdings" panose="05000000000000000000" pitchFamily="2" charset="2"/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原型设计阶段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周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52009" name="AutoShape 41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683635" y="3212465"/>
            <a:ext cx="3037840" cy="909955"/>
          </a:xfrm>
          <a:prstGeom prst="homePlate">
            <a:avLst>
              <a:gd name="adj" fmla="val 8813"/>
            </a:avLst>
          </a:prstGeom>
          <a:pattFill prst="pct30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w="12700" cap="rnd" algn="ctr">
            <a:solidFill>
              <a:srgbClr val="000000"/>
            </a:solidFill>
            <a:prstDash val="sysDot"/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algn="ctr">
              <a:buFont typeface="Wingdings" panose="05000000000000000000" pitchFamily="2" charset="2"/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前端开发阶段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周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AutoShape 41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765925" y="3213100"/>
            <a:ext cx="1605915" cy="909955"/>
          </a:xfrm>
          <a:prstGeom prst="homePlate">
            <a:avLst>
              <a:gd name="adj" fmla="val 12050"/>
            </a:avLst>
          </a:prstGeom>
          <a:pattFill prst="pct30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w="12700" cap="rnd" algn="ctr">
            <a:solidFill>
              <a:srgbClr val="000000"/>
            </a:solidFill>
            <a:prstDash val="sysDot"/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algn="ctr">
              <a:buFont typeface="Wingdings" panose="05000000000000000000" pitchFamily="2" charset="2"/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接口联调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buFont typeface="Wingdings" panose="05000000000000000000" pitchFamily="2" charset="2"/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与测试阶段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周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" name="AutoShape 4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8423910" y="3213100"/>
            <a:ext cx="1489710" cy="909955"/>
          </a:xfrm>
          <a:prstGeom prst="homePlate">
            <a:avLst>
              <a:gd name="adj" fmla="val 12050"/>
            </a:avLst>
          </a:prstGeom>
          <a:pattFill prst="pct30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w="12700" cap="rnd" algn="ctr">
            <a:solidFill>
              <a:srgbClr val="000000"/>
            </a:solidFill>
            <a:prstDash val="sysDot"/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algn="ctr">
              <a:buFont typeface="Wingdings" panose="05000000000000000000" pitchFamily="2" charset="2"/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部署交付阶段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周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AutoShape 40"/>
          <p:cNvSpPr>
            <a:spLocks noChangeArrowheads="1"/>
          </p:cNvSpPr>
          <p:nvPr/>
        </p:nvSpPr>
        <p:spPr bwMode="auto">
          <a:xfrm>
            <a:off x="909955" y="3213100"/>
            <a:ext cx="1517650" cy="909955"/>
          </a:xfrm>
          <a:prstGeom prst="homePlate">
            <a:avLst>
              <a:gd name="adj" fmla="val 20242"/>
            </a:avLst>
          </a:prstGeom>
          <a:pattFill prst="pct30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w="12700" cap="rnd" algn="ctr">
            <a:solidFill>
              <a:srgbClr val="000000"/>
            </a:solidFill>
            <a:prstDash val="sysDot"/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algn="ctr">
              <a:buFont typeface="Wingdings" panose="05000000000000000000" pitchFamily="2" charset="2"/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需求分析阶段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周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10"/>
            </p:custDataLst>
          </p:nvPr>
        </p:nvSpPr>
        <p:spPr>
          <a:xfrm>
            <a:off x="8463915" y="4437380"/>
            <a:ext cx="154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eaLnBrk="1" latinLnBrk="0" hangingPunct="1">
              <a:lnSpc>
                <a:spcPct val="125000"/>
              </a:lnSpc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冻结所有新增需求，仅允许紧急缺陷修复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08380" y="1772920"/>
            <a:ext cx="84963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eaLnBrk="1" latinLnBrk="0" hangingPunct="1">
              <a:lnSpc>
                <a:spcPct val="150000"/>
              </a:lnSpc>
            </a:pPr>
            <a:r>
              <a:rPr lang="zh-CN" altLang="en-US" sz="1800" b="1">
                <a:ln w="15875"/>
                <a:solidFill>
                  <a:srgbClr val="4F81B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制定合理的变更冻结策略，减少</a:t>
            </a:r>
            <a:r>
              <a:rPr lang="en-US" altLang="zh-CN" sz="1800" b="1">
                <a:ln w="15875"/>
                <a:solidFill>
                  <a:srgbClr val="4F81B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B-1 </a:t>
            </a:r>
            <a:r>
              <a:rPr lang="zh-CN" altLang="en-US" sz="1800" b="1">
                <a:ln w="15875"/>
                <a:solidFill>
                  <a:srgbClr val="4F81B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模块开发、联调与测试阶段的重复修改工作量，降低接口反复调整、页面返工和后期交付风险，保证模块按计划完成开发与交付。</a:t>
            </a:r>
            <a:endParaRPr lang="zh-CN" altLang="en-US" sz="1800" b="1">
              <a:ln w="15875"/>
              <a:solidFill>
                <a:srgbClr val="4F81BD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6049010" y="4765040"/>
            <a:ext cx="3816350" cy="1511935"/>
          </a:xfrm>
          <a:prstGeom prst="roundRect">
            <a:avLst/>
          </a:prstGeom>
          <a:solidFill>
            <a:srgbClr val="92D050"/>
          </a:solidFill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285750" indent="-285750" algn="l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业务沟通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algn="l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需求内容确认</a:t>
            </a:r>
            <a:endParaRPr lang="zh-CN" altLang="en-US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algn="l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数据展示确认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-285750" algn="l">
              <a:spcBef>
                <a:spcPct val="50000"/>
              </a:spcBef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1"/>
            </p:custDataLst>
          </p:nvPr>
        </p:nvSpPr>
        <p:spPr>
          <a:xfrm>
            <a:off x="6049010" y="2908935"/>
            <a:ext cx="3816350" cy="1511935"/>
          </a:xfrm>
          <a:prstGeom prst="roundRect">
            <a:avLst/>
          </a:prstGeom>
          <a:solidFill>
            <a:srgbClr val="92D050"/>
          </a:solidFill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167005" indent="-167005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项目沟通会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4205" lvl="1" indent="-167005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zh-CN" altLang="en-US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接口对接沟通</a:t>
            </a:r>
            <a:endParaRPr lang="zh-CN" altLang="en-US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4205" lvl="1" indent="-167005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zh-CN" altLang="en-US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协作问题协调</a:t>
            </a:r>
            <a:endParaRPr lang="zh-CN" altLang="en-US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>
            <p:custDataLst>
              <p:tags r:id="rId2"/>
            </p:custDataLst>
          </p:nvPr>
        </p:nvSpPr>
        <p:spPr>
          <a:xfrm>
            <a:off x="6049010" y="1052830"/>
            <a:ext cx="3816350" cy="1511935"/>
          </a:xfrm>
          <a:prstGeom prst="roundRect">
            <a:avLst/>
          </a:prstGeom>
          <a:solidFill>
            <a:srgbClr val="92D050"/>
          </a:solidFill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167005" indent="-167005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项目汇报会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4205" lvl="1" indent="-167005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阶段成果汇报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4205" lvl="1" indent="-167005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功能实现展示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>
            <p:custDataLst>
              <p:tags r:id="rId3"/>
            </p:custDataLst>
          </p:nvPr>
        </p:nvSpPr>
        <p:spPr>
          <a:xfrm>
            <a:off x="720090" y="3860800"/>
            <a:ext cx="4083050" cy="2291715"/>
          </a:xfrm>
          <a:prstGeom prst="roundRect">
            <a:avLst/>
          </a:prstGeom>
          <a:solidFill>
            <a:srgbClr val="489BC2"/>
          </a:solidFill>
          <a:ln w="762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167005" indent="-167005">
              <a:spcBef>
                <a:spcPct val="20000"/>
              </a:spcBef>
              <a:buFontTx/>
              <a:buChar char="•"/>
            </a:pP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67005" indent="-167005">
              <a:spcBef>
                <a:spcPct val="20000"/>
              </a:spcBef>
              <a:buFontTx/>
              <a:buChar char="•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周报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spcBef>
                <a:spcPct val="50000"/>
              </a:spcBef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每周三提交周报，周报内容包括：</a:t>
            </a:r>
            <a:endParaRPr lang="zh-CN" altLang="en-US" kern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>
              <a:spcBef>
                <a:spcPct val="50000"/>
              </a:spcBef>
              <a:buFontTx/>
              <a:buChar char="–"/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本周完成情况</a:t>
            </a:r>
            <a:endParaRPr lang="zh-CN" altLang="en-US" kern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742950" lvl="1" indent="-285750">
              <a:spcBef>
                <a:spcPct val="50000"/>
              </a:spcBef>
              <a:buFontTx/>
              <a:buChar char="–"/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遇到的问题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及解决方案</a:t>
            </a:r>
            <a:endParaRPr lang="zh-CN" altLang="en-US" kern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>
              <a:spcBef>
                <a:spcPct val="50000"/>
              </a:spcBef>
              <a:buFontTx/>
              <a:buChar char="–"/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下周工作计划</a:t>
            </a:r>
            <a:endParaRPr lang="zh-CN" altLang="en-US" kern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圆角矩形 1"/>
          <p:cNvSpPr/>
          <p:nvPr>
            <p:custDataLst>
              <p:tags r:id="rId4"/>
            </p:custDataLst>
          </p:nvPr>
        </p:nvSpPr>
        <p:spPr>
          <a:xfrm>
            <a:off x="720090" y="1246505"/>
            <a:ext cx="4083050" cy="2220595"/>
          </a:xfrm>
          <a:prstGeom prst="roundRect">
            <a:avLst/>
          </a:prstGeom>
          <a:solidFill>
            <a:srgbClr val="489BC2"/>
          </a:solidFill>
          <a:ln w="762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167005" indent="-167005">
              <a:lnSpc>
                <a:spcPct val="11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周会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Bef>
                <a:spcPct val="50000"/>
              </a:spcBef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每周五上午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周会内容主要包括：</a:t>
            </a:r>
            <a:endParaRPr lang="en-US" altLang="zh-CN" kern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>
              <a:lnSpc>
                <a:spcPct val="110000"/>
              </a:lnSpc>
              <a:spcBef>
                <a:spcPct val="50000"/>
              </a:spcBef>
              <a:buFontTx/>
              <a:buChar char="–"/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任务分配与进度检查</a:t>
            </a:r>
            <a:endParaRPr lang="zh-CN" altLang="en-US" kern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>
              <a:lnSpc>
                <a:spcPct val="110000"/>
              </a:lnSpc>
              <a:spcBef>
                <a:spcPct val="50000"/>
              </a:spcBef>
              <a:buFontTx/>
              <a:buChar char="–"/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问题讨论与协调</a:t>
            </a:r>
            <a:endParaRPr lang="zh-CN" altLang="en-US" kern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5" name="Picture 9" descr="C:\Documents and Settings\Administrator\桌面\未标题-1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639"/>
          <a:stretch>
            <a:fillRect/>
          </a:stretch>
        </p:blipFill>
        <p:spPr bwMode="auto">
          <a:xfrm>
            <a:off x="1905" y="142875"/>
            <a:ext cx="4902200" cy="178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/>
          <p:cNvSpPr/>
          <p:nvPr/>
        </p:nvSpPr>
        <p:spPr>
          <a:xfrm>
            <a:off x="1234842" y="476672"/>
            <a:ext cx="1816100" cy="58356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+mn-lt"/>
                <a:ea typeface="+mn-ea"/>
              </a:rPr>
              <a:t>项目沟通</a:t>
            </a:r>
            <a:endParaRPr lang="zh-CN" altLang="en-US" sz="3200" b="1" dirty="0">
              <a:solidFill>
                <a:schemeClr val="bg1"/>
              </a:solidFill>
              <a:effectLst>
                <a:reflection blurRad="6350" stA="55000" endA="300" endPos="45500" dir="5400000" sy="-100000" algn="bl" rotWithShape="0"/>
              </a:effectLst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 descr="C:\Documents and Settings\Administrator\桌面\0000.jpg"/>
          <p:cNvPicPr>
            <a:picLocks noChangeAspect="1" noChangeArrowheads="1"/>
          </p:cNvPicPr>
          <p:nvPr/>
        </p:nvPicPr>
        <p:blipFill>
          <a:blip r:embed="rId1" cstate="print"/>
          <a:srcRect r="21429"/>
          <a:stretch>
            <a:fillRect/>
          </a:stretch>
        </p:blipFill>
        <p:spPr bwMode="auto">
          <a:xfrm>
            <a:off x="3302303" y="3286124"/>
            <a:ext cx="1047757" cy="1000132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</p:pic>
      <p:sp>
        <p:nvSpPr>
          <p:cNvPr id="11" name="矩形 10"/>
          <p:cNvSpPr/>
          <p:nvPr/>
        </p:nvSpPr>
        <p:spPr>
          <a:xfrm>
            <a:off x="6707505" y="3286125"/>
            <a:ext cx="3644265" cy="1000125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492936" y="3357562"/>
            <a:ext cx="226215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5400" b="1" dirty="0">
                <a:effectLst>
                  <a:reflection blurRad="6350" stA="50000" endA="300" endPos="50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谢谢！</a:t>
            </a:r>
            <a:endParaRPr lang="zh-CN" altLang="en-US" sz="5400" b="1" dirty="0">
              <a:effectLst>
                <a:reflection blurRad="6350" stA="50000" endA="300" endPos="50000" dist="29997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04190" y="3286125"/>
            <a:ext cx="2797810" cy="1000125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02.05,&quot;left&quot;:61.3,&quot;top&quot;:196.3,&quot;width&quot;:731.15}"/>
</p:tagLst>
</file>

<file path=ppt/tags/tag2.xml><?xml version="1.0" encoding="utf-8"?>
<p:tagLst xmlns:p="http://schemas.openxmlformats.org/presentationml/2006/main">
  <p:tag name="KSO_WM_DIAGRAM_VIRTUALLY_FRAME" val="{&quot;height&quot;:202.05,&quot;left&quot;:61.3,&quot;top&quot;:196.3,&quot;width&quot;:731.15}"/>
</p:tagLst>
</file>

<file path=ppt/tags/tag3.xml><?xml version="1.0" encoding="utf-8"?>
<p:tagLst xmlns:p="http://schemas.openxmlformats.org/presentationml/2006/main">
  <p:tag name="KSO_WM_DIAGRAM_VIRTUALLY_FRAME" val="{&quot;height&quot;:202.05,&quot;left&quot;:61.3,&quot;top&quot;:196.3,&quot;width&quot;:731.15}"/>
</p:tagLst>
</file>

<file path=ppt/tags/tag4.xml><?xml version="1.0" encoding="utf-8"?>
<p:tagLst xmlns:p="http://schemas.openxmlformats.org/presentationml/2006/main">
  <p:tag name="KSO_WM_DIAGRAM_VIRTUALLY_FRAME" val="{&quot;height&quot;:202.05,&quot;left&quot;:61.3,&quot;top&quot;:196.3,&quot;width&quot;:731.15}"/>
</p:tagLst>
</file>

<file path=ppt/tags/tag5.xml><?xml version="1.0" encoding="utf-8"?>
<p:tagLst xmlns:p="http://schemas.openxmlformats.org/presentationml/2006/main">
  <p:tag name="KSO_WM_DIAGRAM_VIRTUALLY_FRAME" val="{&quot;height&quot;:202.05,&quot;left&quot;:61.3,&quot;top&quot;:196.3,&quot;width&quot;:731.15}"/>
</p:tagLst>
</file>

<file path=ppt/tags/tag6.xml><?xml version="1.0" encoding="utf-8"?>
<p:tagLst xmlns:p="http://schemas.openxmlformats.org/presentationml/2006/main">
  <p:tag name="KSO_WM_DIAGRAM_VIRTUALLY_FRAME" val="{&quot;height&quot;:202.05,&quot;left&quot;:61.3,&quot;top&quot;:196.3,&quot;width&quot;:731.15}"/>
</p:tagLst>
</file>

<file path=ppt/tags/tag7.xml><?xml version="1.0" encoding="utf-8"?>
<p:tagLst xmlns:p="http://schemas.openxmlformats.org/presentationml/2006/main">
  <p:tag name="KSO_WM_DIAGRAM_VIRTUALLY_FRAME" val="{&quot;height&quot;:202.05,&quot;left&quot;:61.3,&quot;top&quot;:196.3,&quot;width&quot;:731.15}"/>
</p:tagLst>
</file>

<file path=ppt/tags/tag8.xml><?xml version="1.0" encoding="utf-8"?>
<p:tagLst xmlns:p="http://schemas.openxmlformats.org/presentationml/2006/main">
  <p:tag name="KSO_WM_DIAGRAM_VIRTUALLY_FRAME" val="{&quot;height&quot;:202.05,&quot;left&quot;:61.3,&quot;top&quot;:196.3,&quot;width&quot;:731.15}"/>
</p:tagLst>
</file>

<file path=ppt/tags/tag9.xml><?xml version="1.0" encoding="utf-8"?>
<p:tagLst xmlns:p="http://schemas.openxmlformats.org/presentationml/2006/main">
  <p:tag name="KSO_WM_DIAGRAM_VIRTUALLY_FRAME" val="{&quot;height&quot;:202.05,&quot;left&quot;:61.3,&quot;top&quot;:196.3,&quot;width&quot;:731.15}"/>
</p:tagLst>
</file>

<file path=ppt/tags/tag10.xml><?xml version="1.0" encoding="utf-8"?>
<p:tagLst xmlns:p="http://schemas.openxmlformats.org/presentationml/2006/main">
  <p:tag name="KSO_WM_DIAGRAM_VIRTUALLY_FRAME" val="{&quot;height&quot;:202.05,&quot;left&quot;:61.3,&quot;top&quot;:196.3,&quot;width&quot;:731.15}"/>
</p:tagLst>
</file>

<file path=ppt/tags/tag11.xml><?xml version="1.0" encoding="utf-8"?>
<p:tagLst xmlns:p="http://schemas.openxmlformats.org/presentationml/2006/main">
  <p:tag name="KSO_WM_DIAGRAM_VIRTUALLY_FRAME" val="{&quot;height&quot;:202.05,&quot;left&quot;:61.3,&quot;top&quot;:196.3,&quot;width&quot;:731.15}"/>
</p:tagLst>
</file>

<file path=ppt/tags/tag12.xml><?xml version="1.0" encoding="utf-8"?>
<p:tagLst xmlns:p="http://schemas.openxmlformats.org/presentationml/2006/main">
  <p:tag name="KSO_WM_DIAGRAM_VIRTUALLY_FRAME" val="{&quot;height&quot;:202.05,&quot;left&quot;:61.3,&quot;top&quot;:196.3,&quot;width&quot;:731.15}"/>
</p:tagLst>
</file>

<file path=ppt/tags/tag13.xml><?xml version="1.0" encoding="utf-8"?>
<p:tagLst xmlns:p="http://schemas.openxmlformats.org/presentationml/2006/main">
  <p:tag name="KSO_WM_DIAGRAM_VIRTUALLY_FRAME" val="{&quot;height&quot;:331.2086614173228,&quot;left&quot;:52.85,&quot;top&quot;:133.89133858267718,&quot;width&quot;:734.0853543307087}"/>
</p:tagLst>
</file>

<file path=ppt/tags/tag14.xml><?xml version="1.0" encoding="utf-8"?>
<p:tagLst xmlns:p="http://schemas.openxmlformats.org/presentationml/2006/main">
  <p:tag name="KSO_WM_DIAGRAM_VIRTUALLY_FRAME" val="{&quot;height&quot;:331.2086614173228,&quot;left&quot;:52.85,&quot;top&quot;:133.89133858267718,&quot;width&quot;:734.0853543307087}"/>
</p:tagLst>
</file>

<file path=ppt/tags/tag15.xml><?xml version="1.0" encoding="utf-8"?>
<p:tagLst xmlns:p="http://schemas.openxmlformats.org/presentationml/2006/main">
  <p:tag name="KSO_WM_DIAGRAM_VIRTUALLY_FRAME" val="{&quot;height&quot;:331.2086614173228,&quot;left&quot;:52.85,&quot;top&quot;:133.89133858267718,&quot;width&quot;:734.0853543307087}"/>
</p:tagLst>
</file>

<file path=ppt/tags/tag16.xml><?xml version="1.0" encoding="utf-8"?>
<p:tagLst xmlns:p="http://schemas.openxmlformats.org/presentationml/2006/main">
  <p:tag name="KSO_WM_DIAGRAM_VIRTUALLY_FRAME" val="{&quot;height&quot;:331.2086614173228,&quot;left&quot;:52.85,&quot;top&quot;:133.89133858267718,&quot;width&quot;:734.0853543307087}"/>
</p:tagLst>
</file>

<file path=ppt/tags/tag17.xml><?xml version="1.0" encoding="utf-8"?>
<p:tagLst xmlns:p="http://schemas.openxmlformats.org/presentationml/2006/main">
  <p:tag name="KSO_WM_DIAGRAM_VIRTUALLY_FRAME" val="{&quot;height&quot;:331.2086614173228,&quot;left&quot;:52.85,&quot;top&quot;:133.89133858267718,&quot;width&quot;:734.0853543307087}"/>
</p:tagLst>
</file>

<file path=ppt/tags/tag18.xml><?xml version="1.0" encoding="utf-8"?>
<p:tagLst xmlns:p="http://schemas.openxmlformats.org/presentationml/2006/main">
  <p:tag name="KSO_WM_DIAGRAM_VIRTUALLY_FRAME" val="{&quot;height&quot;:331.2086614173228,&quot;left&quot;:52.85,&quot;top&quot;:133.89133858267718,&quot;width&quot;:734.0853543307087}"/>
</p:tagLst>
</file>

<file path=ppt/tags/tag19.xml><?xml version="1.0" encoding="utf-8"?>
<p:tagLst xmlns:p="http://schemas.openxmlformats.org/presentationml/2006/main">
  <p:tag name="KSO_WM_DIAGRAM_VIRTUALLY_FRAME" val="{&quot;height&quot;:331.2086614173228,&quot;left&quot;:52.85,&quot;top&quot;:133.89133858267718,&quot;width&quot;:734.0853543307087}"/>
</p:tagLst>
</file>

<file path=ppt/tags/tag20.xml><?xml version="1.0" encoding="utf-8"?>
<p:tagLst xmlns:p="http://schemas.openxmlformats.org/presentationml/2006/main">
  <p:tag name="KSO_WM_DIAGRAM_VIRTUALLY_FRAME" val="{&quot;height&quot;:331.2086614173228,&quot;left&quot;:52.85,&quot;top&quot;:133.89133858267718,&quot;width&quot;:734.0853543307087}"/>
</p:tagLst>
</file>

<file path=ppt/tags/tag21.xml><?xml version="1.0" encoding="utf-8"?>
<p:tagLst xmlns:p="http://schemas.openxmlformats.org/presentationml/2006/main">
  <p:tag name="KSO_WM_DIAGRAM_VIRTUALLY_FRAME" val="{&quot;height&quot;:331.2086614173228,&quot;left&quot;:52.85,&quot;top&quot;:133.89133858267718,&quot;width&quot;:734.0853543307087}"/>
</p:tagLst>
</file>

<file path=ppt/tags/tag22.xml><?xml version="1.0" encoding="utf-8"?>
<p:tagLst xmlns:p="http://schemas.openxmlformats.org/presentationml/2006/main">
  <p:tag name="KSO_WM_DIAGRAM_VIRTUALLY_FRAME" val="{&quot;height&quot;:331.2086614173228,&quot;left&quot;:52.85,&quot;top&quot;:133.89133858267718,&quot;width&quot;:734.0853543307087}"/>
</p:tagLst>
</file>

<file path=ppt/tags/tag23.xml><?xml version="1.0" encoding="utf-8"?>
<p:tagLst xmlns:p="http://schemas.openxmlformats.org/presentationml/2006/main">
  <p:tag name="KSO_WM_DIAGRAM_VIRTUALLY_FRAME" val="{&quot;height&quot;:331.2086614173228,&quot;left&quot;:52.85,&quot;top&quot;:133.89133858267718,&quot;width&quot;:734.0853543307087}"/>
</p:tagLst>
</file>

<file path=ppt/tags/tag24.xml><?xml version="1.0" encoding="utf-8"?>
<p:tagLst xmlns:p="http://schemas.openxmlformats.org/presentationml/2006/main">
  <p:tag name="KSO_WM_DIAGRAM_VIRTUALLY_FRAME" val="{&quot;height&quot;:331.2086614173228,&quot;left&quot;:52.85,&quot;top&quot;:133.89133858267718,&quot;width&quot;:734.0853543307087}"/>
</p:tagLst>
</file>

<file path=ppt/tags/tag25.xml><?xml version="1.0" encoding="utf-8"?>
<p:tagLst xmlns:p="http://schemas.openxmlformats.org/presentationml/2006/main">
  <p:tag name="KSO_WM_DIAGRAM_VIRTUALLY_FRAME" val="{&quot;height&quot;:331.2086614173228,&quot;left&quot;:52.85,&quot;top&quot;:133.89133858267718,&quot;width&quot;:734.0853543307087}"/>
</p:tagLst>
</file>

<file path=ppt/tags/tag26.xml><?xml version="1.0" encoding="utf-8"?>
<p:tagLst xmlns:p="http://schemas.openxmlformats.org/presentationml/2006/main">
  <p:tag name="KSO_WM_DIAGRAM_VIRTUALLY_FRAME" val="{&quot;height&quot;:331.2086614173228,&quot;left&quot;:52.85,&quot;top&quot;:133.89133858267718,&quot;width&quot;:734.0853543307087}"/>
</p:tagLst>
</file>

<file path=ppt/tags/tag27.xml><?xml version="1.0" encoding="utf-8"?>
<p:tagLst xmlns:p="http://schemas.openxmlformats.org/presentationml/2006/main">
  <p:tag name="KSO_WM_DIAGRAM_VIRTUALLY_FRAME" val="{&quot;height&quot;:331.2086614173228,&quot;left&quot;:52.85,&quot;top&quot;:133.89133858267718,&quot;width&quot;:734.0853543307087}"/>
</p:tagLst>
</file>

<file path=ppt/tags/tag28.xml><?xml version="1.0" encoding="utf-8"?>
<p:tagLst xmlns:p="http://schemas.openxmlformats.org/presentationml/2006/main">
  <p:tag name="KSO_WM_DIAGRAM_VIRTUALLY_FRAME" val="{&quot;height&quot;:331.2086614173228,&quot;left&quot;:52.85,&quot;top&quot;:133.89133858267718,&quot;width&quot;:734.0853543307087}"/>
</p:tagLst>
</file>

<file path=ppt/tags/tag29.xml><?xml version="1.0" encoding="utf-8"?>
<p:tagLst xmlns:p="http://schemas.openxmlformats.org/presentationml/2006/main">
  <p:tag name="KSO_WM_DIAGRAM_VIRTUALLY_FRAME" val="{&quot;height&quot;:331.2086614173228,&quot;left&quot;:52.85,&quot;top&quot;:133.89133858267718,&quot;width&quot;:734.0853543307087}"/>
</p:tagLst>
</file>

<file path=ppt/tags/tag30.xml><?xml version="1.0" encoding="utf-8"?>
<p:tagLst xmlns:p="http://schemas.openxmlformats.org/presentationml/2006/main">
  <p:tag name="KSO_WM_DIAGRAM_VIRTUALLY_FRAME" val="{&quot;height&quot;:221.7293700787402,&quot;left&quot;:102.05,&quot;top&quot;:237.5296062992126,&quot;width&quot;:631.6127559055118}"/>
</p:tagLst>
</file>

<file path=ppt/tags/tag31.xml><?xml version="1.0" encoding="utf-8"?>
<p:tagLst xmlns:p="http://schemas.openxmlformats.org/presentationml/2006/main">
  <p:tag name="KSO_WM_DIAGRAM_VIRTUALLY_FRAME" val="{&quot;height&quot;:221.7293700787402,&quot;left&quot;:102.05,&quot;top&quot;:237.5296062992126,&quot;width&quot;:631.6127559055118}"/>
</p:tagLst>
</file>

<file path=ppt/tags/tag32.xml><?xml version="1.0" encoding="utf-8"?>
<p:tagLst xmlns:p="http://schemas.openxmlformats.org/presentationml/2006/main">
  <p:tag name="KSO_WM_DIAGRAM_VIRTUALLY_FRAME" val="{&quot;height&quot;:221.7293700787402,&quot;left&quot;:102.05,&quot;top&quot;:237.5296062992126,&quot;width&quot;:631.6127559055118}"/>
</p:tagLst>
</file>

<file path=ppt/tags/tag33.xml><?xml version="1.0" encoding="utf-8"?>
<p:tagLst xmlns:p="http://schemas.openxmlformats.org/presentationml/2006/main">
  <p:tag name="KSO_WM_DIAGRAM_VIRTUALLY_FRAME" val="{&quot;height&quot;:221.7293700787402,&quot;left&quot;:102.05,&quot;top&quot;:237.5296062992126,&quot;width&quot;:631.6127559055118}"/>
</p:tagLst>
</file>

<file path=ppt/tags/tag34.xml><?xml version="1.0" encoding="utf-8"?>
<p:tagLst xmlns:p="http://schemas.openxmlformats.org/presentationml/2006/main">
  <p:tag name="KSO_WM_DIAGRAM_VIRTUALLY_FRAME" val="{&quot;height&quot;:221.7293700787402,&quot;left&quot;:102.05,&quot;top&quot;:237.5296062992126,&quot;width&quot;:631.6127559055118}"/>
</p:tagLst>
</file>

<file path=ppt/tags/tag35.xml><?xml version="1.0" encoding="utf-8"?>
<p:tagLst xmlns:p="http://schemas.openxmlformats.org/presentationml/2006/main">
  <p:tag name="TABLE_ENDDRAG_ORIGIN_RECT" val="799*359"/>
  <p:tag name="TABLE_ENDDRAG_RECT" val="34*99*799*359"/>
</p:tagLst>
</file>

<file path=ppt/tags/tag36.xml><?xml version="1.0" encoding="utf-8"?>
<p:tagLst xmlns:p="http://schemas.openxmlformats.org/presentationml/2006/main">
  <p:tag name="KSO_WM_DIAGRAM_VIRTUALLY_FRAME" val="{&quot;height&quot;:203.84992125984246,&quot;left&quot;:306.07503937007874,&quot;top&quot;:252.95,&quot;width&quot;:481.9749606299212}"/>
</p:tagLst>
</file>

<file path=ppt/tags/tag37.xml><?xml version="1.0" encoding="utf-8"?>
<p:tagLst xmlns:p="http://schemas.openxmlformats.org/presentationml/2006/main">
  <p:tag name="KSO_WM_DIAGRAM_VIRTUALLY_FRAME" val="{&quot;height&quot;:203.84992125984246,&quot;left&quot;:306.07503937007874,&quot;top&quot;:252.95,&quot;width&quot;:481.9749606299212}"/>
</p:tagLst>
</file>

<file path=ppt/tags/tag38.xml><?xml version="1.0" encoding="utf-8"?>
<p:tagLst xmlns:p="http://schemas.openxmlformats.org/presentationml/2006/main">
  <p:tag name="KSO_WM_DIAGRAM_VIRTUALLY_FRAME" val="{&quot;height&quot;:203.84992125984246,&quot;left&quot;:306.07503937007874,&quot;top&quot;:252.95,&quot;width&quot;:481.9749606299212}"/>
</p:tagLst>
</file>

<file path=ppt/tags/tag39.xml><?xml version="1.0" encoding="utf-8"?>
<p:tagLst xmlns:p="http://schemas.openxmlformats.org/presentationml/2006/main">
  <p:tag name="KSO_WM_DIAGRAM_VIRTUALLY_FRAME" val="{&quot;height&quot;:203.84992125984246,&quot;left&quot;:306.07503937007874,&quot;top&quot;:252.95,&quot;width&quot;:481.9749606299212}"/>
</p:tagLst>
</file>

<file path=ppt/tags/tag40.xml><?xml version="1.0" encoding="utf-8"?>
<p:tagLst xmlns:p="http://schemas.openxmlformats.org/presentationml/2006/main">
  <p:tag name="KSO_WM_DIAGRAM_VIRTUALLY_FRAME" val="{&quot;height&quot;:203.84992125984246,&quot;left&quot;:306.07503937007874,&quot;top&quot;:252.95,&quot;width&quot;:481.9749606299212}"/>
</p:tagLst>
</file>

<file path=ppt/tags/tag41.xml><?xml version="1.0" encoding="utf-8"?>
<p:tagLst xmlns:p="http://schemas.openxmlformats.org/presentationml/2006/main">
  <p:tag name="KSO_WM_DIAGRAM_VIRTUALLY_FRAME" val="{&quot;height&quot;:203.84992125984246,&quot;left&quot;:306.07503937007874,&quot;top&quot;:252.95,&quot;width&quot;:481.9749606299212}"/>
</p:tagLst>
</file>

<file path=ppt/tags/tag42.xml><?xml version="1.0" encoding="utf-8"?>
<p:tagLst xmlns:p="http://schemas.openxmlformats.org/presentationml/2006/main">
  <p:tag name="KSO_WM_DIAGRAM_VIRTUALLY_FRAME" val="{&quot;height&quot;:203.84992125984246,&quot;left&quot;:306.07503937007874,&quot;top&quot;:252.95,&quot;width&quot;:481.9749606299212}"/>
</p:tagLst>
</file>

<file path=ppt/tags/tag43.xml><?xml version="1.0" encoding="utf-8"?>
<p:tagLst xmlns:p="http://schemas.openxmlformats.org/presentationml/2006/main">
  <p:tag name="KSO_WM_DIAGRAM_VIRTUALLY_FRAME" val="{&quot;height&quot;:203.84992125984246,&quot;left&quot;:306.07503937007874,&quot;top&quot;:252.95,&quot;width&quot;:481.9749606299212}"/>
</p:tagLst>
</file>

<file path=ppt/tags/tag44.xml><?xml version="1.0" encoding="utf-8"?>
<p:tagLst xmlns:p="http://schemas.openxmlformats.org/presentationml/2006/main">
  <p:tag name="KSO_WM_DIAGRAM_VIRTUALLY_FRAME" val="{&quot;height&quot;:203.84992125984246,&quot;left&quot;:306.07503937007874,&quot;top&quot;:252.95,&quot;width&quot;:481.9749606299212}"/>
</p:tagLst>
</file>

<file path=ppt/tags/tag45.xml><?xml version="1.0" encoding="utf-8"?>
<p:tagLst xmlns:p="http://schemas.openxmlformats.org/presentationml/2006/main">
  <p:tag name="KSO_WM_DIAGRAM_VIRTUALLY_FRAME" val="{&quot;height&quot;:350.15,&quot;left&quot;:34.05,&quot;top&quot;:82.9,&quot;width&quot;:742.75}"/>
</p:tagLst>
</file>

<file path=ppt/tags/tag46.xml><?xml version="1.0" encoding="utf-8"?>
<p:tagLst xmlns:p="http://schemas.openxmlformats.org/presentationml/2006/main">
  <p:tag name="KSO_WM_DIAGRAM_VIRTUALLY_FRAME" val="{&quot;height&quot;:350.15,&quot;left&quot;:34.05,&quot;top&quot;:82.9,&quot;width&quot;:742.75}"/>
</p:tagLst>
</file>

<file path=ppt/tags/tag47.xml><?xml version="1.0" encoding="utf-8"?>
<p:tagLst xmlns:p="http://schemas.openxmlformats.org/presentationml/2006/main">
  <p:tag name="KSO_WM_DIAGRAM_VIRTUALLY_FRAME" val="{&quot;height&quot;:350.15,&quot;left&quot;:34.05,&quot;top&quot;:82.9,&quot;width&quot;:742.75}"/>
</p:tagLst>
</file>

<file path=ppt/tags/tag48.xml><?xml version="1.0" encoding="utf-8"?>
<p:tagLst xmlns:p="http://schemas.openxmlformats.org/presentationml/2006/main">
  <p:tag name="KSO_WM_DIAGRAM_VIRTUALLY_FRAME" val="{&quot;height&quot;:350.15,&quot;left&quot;:34.05,&quot;top&quot;:82.9,&quot;width&quot;:742.75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2465</Words>
  <Application>WPS 演示</Application>
  <PresentationFormat>自定义</PresentationFormat>
  <Paragraphs>501</Paragraphs>
  <Slides>20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Calibri</vt:lpstr>
      <vt:lpstr>Calibri Light</vt:lpstr>
      <vt:lpstr>微软雅黑 Light</vt:lpstr>
      <vt:lpstr>Times New Roman</vt:lpstr>
      <vt:lpstr>Calibri</vt:lpstr>
      <vt:lpstr>Arial Unicode MS</vt:lpstr>
      <vt:lpstr>Wingdings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rjq</dc:creator>
  <cp:lastModifiedBy>Monkey</cp:lastModifiedBy>
  <cp:revision>534</cp:revision>
  <dcterms:created xsi:type="dcterms:W3CDTF">2026-03-14T14:16:00Z</dcterms:created>
  <dcterms:modified xsi:type="dcterms:W3CDTF">2026-04-06T04:26:06Z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0520E47EA5224BFE946753CD877C128B_13</vt:lpwstr>
  </property>
  <property fmtid="{D5CDD505-2E9C-101B-9397-08002B2CF9AE}" pid="3" name="KSOProductBuildVer">
    <vt:lpwstr>2052-12.1.0.25225</vt:lpwstr>
  </property>
</Properties>
</file>